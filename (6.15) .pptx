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3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3E9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62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10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57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01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22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78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48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39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290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76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11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C3424-CA91-4C47-8033-C844D12EFC2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D7BCB-C733-4E3A-81F3-911B3F189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94" y="103894"/>
            <a:ext cx="10422194" cy="670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69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영화와 게임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감독과 스태프 </a:t>
            </a:r>
            <a:r>
              <a:rPr lang="en-US" altLang="ko-KR" smtClean="0"/>
              <a:t>– </a:t>
            </a:r>
            <a:r>
              <a:rPr lang="ko-KR" altLang="en-US" smtClean="0"/>
              <a:t>내러티브와 시네마틱</a:t>
            </a:r>
            <a:endParaRPr lang="en-US" altLang="ko-KR" smtClean="0"/>
          </a:p>
          <a:p>
            <a:r>
              <a:rPr lang="ko-KR" altLang="en-US" smtClean="0"/>
              <a:t>배우의 행동</a:t>
            </a:r>
            <a:r>
              <a:rPr lang="en-US" altLang="ko-KR" smtClean="0"/>
              <a:t>, </a:t>
            </a:r>
            <a:r>
              <a:rPr lang="ko-KR" altLang="en-US" smtClean="0"/>
              <a:t>음성</a:t>
            </a:r>
            <a:r>
              <a:rPr lang="en-US" altLang="ko-KR" smtClean="0"/>
              <a:t>, </a:t>
            </a:r>
            <a:r>
              <a:rPr lang="ko-KR" altLang="en-US" smtClean="0"/>
              <a:t>표정 </a:t>
            </a:r>
            <a:r>
              <a:rPr lang="en-US" altLang="ko-KR" smtClean="0"/>
              <a:t>– </a:t>
            </a:r>
            <a:r>
              <a:rPr lang="ko-KR" altLang="en-US" smtClean="0"/>
              <a:t>디지털 데이터화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“</a:t>
            </a:r>
            <a:r>
              <a:rPr lang="ko-KR" altLang="en-US" smtClean="0"/>
              <a:t>영화를 플레이하다</a:t>
            </a:r>
            <a:r>
              <a:rPr lang="en-US" altLang="ko-KR" smtClean="0"/>
              <a:t>“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2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디자인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2284" y="1415846"/>
            <a:ext cx="11287432" cy="544215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시나리오 라이터</a:t>
            </a:r>
            <a:endParaRPr lang="en-US" altLang="ko-KR" smtClean="0"/>
          </a:p>
          <a:p>
            <a:r>
              <a:rPr lang="ko-KR" altLang="en-US" smtClean="0"/>
              <a:t>스크립터</a:t>
            </a:r>
            <a:endParaRPr lang="en-US" altLang="ko-KR" smtClean="0"/>
          </a:p>
          <a:p>
            <a:r>
              <a:rPr lang="ko-KR" altLang="en-US" smtClean="0"/>
              <a:t>레벨 디자이너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가지를 혼자서 다 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Cf) MMORPG</a:t>
            </a:r>
            <a:r>
              <a:rPr lang="ko-KR" altLang="en-US" smtClean="0"/>
              <a:t>는 커뮤니티가 어긋나면 게임이 망한다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난이도</a:t>
            </a:r>
            <a:r>
              <a:rPr lang="en-US" altLang="ko-KR" smtClean="0"/>
              <a:t>/</a:t>
            </a:r>
            <a:r>
              <a:rPr lang="ko-KR" altLang="en-US" smtClean="0"/>
              <a:t>재미</a:t>
            </a:r>
            <a:r>
              <a:rPr lang="en-US" altLang="ko-KR" smtClean="0"/>
              <a:t>/</a:t>
            </a:r>
            <a:r>
              <a:rPr lang="ko-KR" altLang="en-US" smtClean="0"/>
              <a:t>이야기</a:t>
            </a:r>
            <a:r>
              <a:rPr lang="en-US" altLang="ko-KR" smtClean="0"/>
              <a:t>/</a:t>
            </a:r>
            <a:r>
              <a:rPr lang="ko-KR" altLang="en-US" smtClean="0"/>
              <a:t>학습의 곡선이 어긋나지 않게 하자</a:t>
            </a:r>
            <a:r>
              <a:rPr lang="en-US" altLang="ko-KR" smtClean="0"/>
              <a:t>!</a:t>
            </a:r>
          </a:p>
          <a:p>
            <a:r>
              <a:rPr lang="en-US" altLang="ko-KR" smtClean="0"/>
              <a:t>[</a:t>
            </a:r>
            <a:r>
              <a:rPr lang="ko-KR" altLang="en-US" smtClean="0"/>
              <a:t>블레이드 앤 소울</a:t>
            </a:r>
            <a:r>
              <a:rPr lang="en-US" altLang="ko-KR" smtClean="0"/>
              <a:t>]</a:t>
            </a:r>
            <a:r>
              <a:rPr lang="ko-KR" altLang="en-US" smtClean="0"/>
              <a:t>에서 학습의 곡선이 어긋나는 부분이 있다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이러면 커뮤니티가 어긋나게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- </a:t>
            </a:r>
            <a:r>
              <a:rPr lang="ko-KR" altLang="en-US" smtClean="0"/>
              <a:t>파티 퀘스트를 해야 하는데 어떤 사람은 벽을 타는 걸 배웠는데</a:t>
            </a:r>
            <a:r>
              <a:rPr lang="en-US" altLang="ko-KR" smtClean="0"/>
              <a:t>, </a:t>
            </a:r>
            <a:r>
              <a:rPr lang="ko-KR" altLang="en-US" smtClean="0"/>
              <a:t>어떤 사람은 못 배워서 벽을 못 탄다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- </a:t>
            </a:r>
            <a:r>
              <a:rPr lang="ko-KR" altLang="en-US" smtClean="0"/>
              <a:t>벽을 타는 걸 리드를 못해서 못 배우고 넘어가는 사람들이 발생한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08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퀘스트를 만들 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특정 레벨 혹은 구간의 퀘스트에서 </a:t>
            </a:r>
            <a:r>
              <a:rPr lang="en-US" altLang="ko-KR" smtClean="0"/>
              <a:t>(</a:t>
            </a:r>
            <a:r>
              <a:rPr lang="ko-KR" altLang="en-US" smtClean="0"/>
              <a:t>빅데이터상</a:t>
            </a:r>
            <a:r>
              <a:rPr lang="en-US" altLang="ko-KR" smtClean="0"/>
              <a:t>) </a:t>
            </a:r>
            <a:r>
              <a:rPr lang="ko-KR" altLang="en-US" smtClean="0"/>
              <a:t>유저들이 떠나는 상황이 발생한다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왜 떠나지</a:t>
            </a:r>
            <a:r>
              <a:rPr lang="en-US" altLang="ko-KR" smtClean="0"/>
              <a:t>? </a:t>
            </a:r>
            <a:r>
              <a:rPr lang="ko-KR" altLang="en-US" smtClean="0"/>
              <a:t>같은 분석이 필요하다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5</a:t>
            </a:r>
            <a:r>
              <a:rPr lang="ko-KR" altLang="en-US" smtClean="0"/>
              <a:t>분 안에 떠나면 </a:t>
            </a:r>
            <a:r>
              <a:rPr lang="en-US" altLang="ko-KR" smtClean="0"/>
              <a:t>: </a:t>
            </a:r>
            <a:r>
              <a:rPr lang="ko-KR" altLang="en-US" smtClean="0"/>
              <a:t>개발자 잘못</a:t>
            </a:r>
            <a:endParaRPr lang="en-US" altLang="ko-KR" smtClean="0"/>
          </a:p>
          <a:p>
            <a:r>
              <a:rPr lang="en-US" altLang="ko-KR" smtClean="0"/>
              <a:t>10</a:t>
            </a:r>
            <a:r>
              <a:rPr lang="ko-KR" altLang="en-US" smtClean="0"/>
              <a:t>분</a:t>
            </a:r>
            <a:r>
              <a:rPr lang="en-US" altLang="ko-KR" smtClean="0"/>
              <a:t>~1</a:t>
            </a:r>
            <a:r>
              <a:rPr lang="ko-KR" altLang="en-US" smtClean="0"/>
              <a:t>시간 안에 떠나면 </a:t>
            </a:r>
            <a:r>
              <a:rPr lang="en-US" altLang="ko-KR" smtClean="0"/>
              <a:t>: </a:t>
            </a:r>
            <a:r>
              <a:rPr lang="ko-KR" altLang="en-US" smtClean="0"/>
              <a:t>기획자 잘못</a:t>
            </a:r>
            <a:endParaRPr lang="en-US" altLang="ko-KR" smtClean="0"/>
          </a:p>
          <a:p>
            <a:r>
              <a:rPr lang="en-US" altLang="ko-KR" smtClean="0"/>
              <a:t>1</a:t>
            </a:r>
            <a:r>
              <a:rPr lang="ko-KR" altLang="en-US" smtClean="0"/>
              <a:t>시간 이후로 떠나면 </a:t>
            </a:r>
            <a:r>
              <a:rPr lang="en-US" altLang="ko-KR" smtClean="0"/>
              <a:t>: </a:t>
            </a:r>
            <a:r>
              <a:rPr lang="ko-KR" altLang="en-US" smtClean="0"/>
              <a:t>기획자 잘못이 아니다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1</a:t>
            </a:r>
            <a:r>
              <a:rPr lang="ko-KR" altLang="en-US" smtClean="0"/>
              <a:t>시간 안에 튜토리얼</a:t>
            </a:r>
            <a:r>
              <a:rPr lang="en-US" altLang="ko-KR" smtClean="0"/>
              <a:t>, </a:t>
            </a:r>
            <a:r>
              <a:rPr lang="ko-KR" altLang="en-US" smtClean="0"/>
              <a:t>시네마틱</a:t>
            </a:r>
            <a:r>
              <a:rPr lang="en-US" altLang="ko-KR" smtClean="0"/>
              <a:t>, </a:t>
            </a:r>
            <a:r>
              <a:rPr lang="ko-KR" altLang="en-US" smtClean="0"/>
              <a:t>킬링 컨텐츠로 유저들에게 재미를 보여줘야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95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선생님께서 인정하는 한국 회사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크래프톤</a:t>
            </a:r>
            <a:endParaRPr lang="en-US" altLang="ko-KR" smtClean="0"/>
          </a:p>
          <a:p>
            <a:r>
              <a:rPr lang="ko-KR" altLang="en-US" smtClean="0"/>
              <a:t>시프트업 </a:t>
            </a:r>
            <a:r>
              <a:rPr lang="en-US" altLang="ko-KR" smtClean="0"/>
              <a:t>: </a:t>
            </a:r>
            <a:r>
              <a:rPr lang="ko-KR" altLang="en-US" smtClean="0"/>
              <a:t>게임 하나 만들 때 올인 </a:t>
            </a:r>
            <a:r>
              <a:rPr lang="en-US" altLang="ko-KR" smtClean="0"/>
              <a:t>-&gt; </a:t>
            </a:r>
            <a:r>
              <a:rPr lang="ko-KR" altLang="en-US" smtClean="0"/>
              <a:t>위기는 있겠지만 좋은 게임을 만들 가능성이 높다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지금 방향성으로 가면 세계 </a:t>
            </a:r>
            <a:r>
              <a:rPr lang="en-US" altLang="ko-KR" smtClean="0"/>
              <a:t>100</a:t>
            </a:r>
            <a:r>
              <a:rPr lang="ko-KR" altLang="en-US" smtClean="0"/>
              <a:t>대 게임에 들어가는 게임이 나올 수도 있을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87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시장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북미 </a:t>
            </a:r>
            <a:r>
              <a:rPr lang="en-US" altLang="ko-KR" smtClean="0"/>
              <a:t>: </a:t>
            </a:r>
            <a:r>
              <a:rPr lang="ko-KR" altLang="en-US" smtClean="0"/>
              <a:t>월드를 만들고 세세하게</a:t>
            </a:r>
            <a:r>
              <a:rPr lang="en-US" altLang="ko-KR" smtClean="0"/>
              <a:t>(</a:t>
            </a:r>
            <a:r>
              <a:rPr lang="ko-KR" altLang="en-US" smtClean="0"/>
              <a:t>나무</a:t>
            </a:r>
            <a:r>
              <a:rPr lang="en-US" altLang="ko-KR" smtClean="0"/>
              <a:t>, </a:t>
            </a:r>
            <a:r>
              <a:rPr lang="ko-KR" altLang="en-US" smtClean="0"/>
              <a:t>길</a:t>
            </a:r>
            <a:r>
              <a:rPr lang="en-US" altLang="ko-KR" smtClean="0"/>
              <a:t>) </a:t>
            </a:r>
            <a:r>
              <a:rPr lang="ko-KR" altLang="en-US" smtClean="0"/>
              <a:t>만든다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일본 </a:t>
            </a:r>
            <a:r>
              <a:rPr lang="en-US" altLang="ko-KR" smtClean="0"/>
              <a:t>: </a:t>
            </a:r>
            <a:r>
              <a:rPr lang="ko-KR" altLang="en-US" smtClean="0"/>
              <a:t>나무를 아주 잘 만들어서</a:t>
            </a:r>
            <a:r>
              <a:rPr lang="en-US" altLang="ko-KR" smtClean="0"/>
              <a:t>, 1, 2, 3, 4, 5 … </a:t>
            </a:r>
            <a:r>
              <a:rPr lang="ko-KR" altLang="en-US" smtClean="0"/>
              <a:t>편을 만들어내면서 월드가 형성된다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한국 </a:t>
            </a:r>
            <a:r>
              <a:rPr lang="en-US" altLang="ko-KR" smtClean="0"/>
              <a:t>: </a:t>
            </a:r>
            <a:r>
              <a:rPr lang="ko-KR" altLang="en-US" smtClean="0"/>
              <a:t>월드도</a:t>
            </a:r>
            <a:r>
              <a:rPr lang="en-US" altLang="ko-KR" smtClean="0"/>
              <a:t>, </a:t>
            </a:r>
            <a:r>
              <a:rPr lang="ko-KR" altLang="en-US" smtClean="0"/>
              <a:t>나무도 제대로 못 만든다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1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이야기 </a:t>
            </a:r>
            <a:r>
              <a:rPr lang="en-US" altLang="ko-KR" smtClean="0"/>
              <a:t>/ </a:t>
            </a:r>
            <a:r>
              <a:rPr lang="ko-KR" altLang="en-US" smtClean="0"/>
              <a:t>학습 </a:t>
            </a:r>
            <a:r>
              <a:rPr lang="en-US" altLang="ko-KR" smtClean="0"/>
              <a:t>/ </a:t>
            </a:r>
            <a:r>
              <a:rPr lang="ko-KR" altLang="en-US" smtClean="0"/>
              <a:t>재미 </a:t>
            </a:r>
            <a:r>
              <a:rPr lang="en-US" altLang="ko-KR" smtClean="0"/>
              <a:t>/ </a:t>
            </a:r>
            <a:r>
              <a:rPr lang="ko-KR" altLang="en-US" smtClean="0"/>
              <a:t>난이도의 곡선에 따라 상황의 기차칸을 수정하자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518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clrChange>
              <a:clrFrom>
                <a:srgbClr val="CCCCC9"/>
              </a:clrFrom>
              <a:clrTo>
                <a:srgbClr val="CCCCC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85881" y="14937"/>
            <a:ext cx="7506119" cy="6843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214442"/>
            <a:ext cx="345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플레이어 경험 곡선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143350" y="6145491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[</a:t>
            </a:r>
            <a:r>
              <a:rPr lang="ko-KR" altLang="en-US" smtClean="0"/>
              <a:t>실루엣</a:t>
            </a:r>
            <a:r>
              <a:rPr lang="en-US" altLang="ko-KR" smtClean="0"/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 rot="1229694">
            <a:off x="7168343" y="5498122"/>
            <a:ext cx="77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1</a:t>
            </a:r>
            <a:r>
              <a:rPr lang="ko-KR" altLang="en-US" smtClean="0"/>
              <a:t>층</a:t>
            </a: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 rot="1275310">
            <a:off x="6123886" y="4979200"/>
            <a:ext cx="77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2</a:t>
            </a:r>
            <a:r>
              <a:rPr lang="ko-KR" altLang="en-US" smtClean="0"/>
              <a:t>층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 rot="1166637">
            <a:off x="4995674" y="4356923"/>
            <a:ext cx="77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3</a:t>
            </a:r>
            <a:r>
              <a:rPr lang="ko-KR" altLang="en-US" smtClean="0"/>
              <a:t>층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12894" y="5733934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1</a:t>
            </a:r>
            <a:r>
              <a:rPr lang="ko-KR" altLang="en-US" smtClean="0"/>
              <a:t>층 탐색</a:t>
            </a:r>
            <a:endParaRPr lang="en-US" altLang="ko-KR" smtClean="0"/>
          </a:p>
        </p:txBody>
      </p:sp>
      <p:sp>
        <p:nvSpPr>
          <p:cNvPr id="12" name="TextBox 11"/>
          <p:cNvSpPr txBox="1"/>
          <p:nvPr/>
        </p:nvSpPr>
        <p:spPr>
          <a:xfrm>
            <a:off x="8438940" y="1471124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환영체</a:t>
            </a:r>
            <a:endParaRPr lang="en-US" altLang="ko-KR" smtClean="0"/>
          </a:p>
        </p:txBody>
      </p:sp>
      <p:sp>
        <p:nvSpPr>
          <p:cNvPr id="13" name="TextBox 12"/>
          <p:cNvSpPr txBox="1"/>
          <p:nvPr/>
        </p:nvSpPr>
        <p:spPr>
          <a:xfrm>
            <a:off x="4313013" y="1439845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3</a:t>
            </a:r>
            <a:r>
              <a:rPr lang="ko-KR" altLang="en-US" smtClean="0"/>
              <a:t>층 탐색</a:t>
            </a:r>
            <a:endParaRPr lang="en-US" altLang="ko-KR" smtClean="0"/>
          </a:p>
        </p:txBody>
      </p:sp>
      <p:sp>
        <p:nvSpPr>
          <p:cNvPr id="14" name="TextBox 13"/>
          <p:cNvSpPr txBox="1"/>
          <p:nvPr/>
        </p:nvSpPr>
        <p:spPr>
          <a:xfrm>
            <a:off x="3820264" y="2495665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3</a:t>
            </a:r>
            <a:r>
              <a:rPr lang="ko-KR" altLang="en-US" smtClean="0"/>
              <a:t>층 퍼즐</a:t>
            </a:r>
            <a:endParaRPr lang="en-US" altLang="ko-KR" smtClean="0"/>
          </a:p>
        </p:txBody>
      </p:sp>
      <p:sp>
        <p:nvSpPr>
          <p:cNvPr id="15" name="TextBox 14"/>
          <p:cNvSpPr txBox="1"/>
          <p:nvPr/>
        </p:nvSpPr>
        <p:spPr>
          <a:xfrm>
            <a:off x="4794449" y="5313426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기억 체험</a:t>
            </a:r>
            <a:endParaRPr lang="en-US" altLang="ko-KR" smtClean="0"/>
          </a:p>
        </p:txBody>
      </p:sp>
      <p:sp>
        <p:nvSpPr>
          <p:cNvPr id="16" name="TextBox 15"/>
          <p:cNvSpPr txBox="1"/>
          <p:nvPr/>
        </p:nvSpPr>
        <p:spPr>
          <a:xfrm rot="1208819">
            <a:off x="8771538" y="6145491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강당</a:t>
            </a:r>
            <a:endParaRPr lang="en-US" altLang="ko-KR" smtClean="0"/>
          </a:p>
        </p:txBody>
      </p:sp>
      <p:sp>
        <p:nvSpPr>
          <p:cNvPr id="17" name="TextBox 16"/>
          <p:cNvSpPr txBox="1"/>
          <p:nvPr/>
        </p:nvSpPr>
        <p:spPr>
          <a:xfrm>
            <a:off x="10351658" y="1946362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보스전</a:t>
            </a:r>
            <a:endParaRPr lang="en-US" altLang="ko-KR" smtClean="0"/>
          </a:p>
        </p:txBody>
      </p:sp>
      <p:sp>
        <p:nvSpPr>
          <p:cNvPr id="18" name="TextBox 17"/>
          <p:cNvSpPr txBox="1"/>
          <p:nvPr/>
        </p:nvSpPr>
        <p:spPr>
          <a:xfrm>
            <a:off x="10351658" y="1122688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엔딩</a:t>
            </a:r>
            <a:endParaRPr lang="en-US" altLang="ko-KR" smtClean="0"/>
          </a:p>
        </p:txBody>
      </p:sp>
      <p:sp>
        <p:nvSpPr>
          <p:cNvPr id="25" name="자유형 24"/>
          <p:cNvSpPr/>
          <p:nvPr/>
        </p:nvSpPr>
        <p:spPr>
          <a:xfrm>
            <a:off x="4433433" y="914369"/>
            <a:ext cx="6705622" cy="5469806"/>
          </a:xfrm>
          <a:custGeom>
            <a:avLst/>
            <a:gdLst>
              <a:gd name="connsiteX0" fmla="*/ 2981520 w 6705622"/>
              <a:gd name="connsiteY0" fmla="*/ 5469806 h 5469806"/>
              <a:gd name="connsiteX1" fmla="*/ 2200123 w 6705622"/>
              <a:gd name="connsiteY1" fmla="*/ 5320176 h 5469806"/>
              <a:gd name="connsiteX2" fmla="*/ 2698887 w 6705622"/>
              <a:gd name="connsiteY2" fmla="*/ 4572031 h 5469806"/>
              <a:gd name="connsiteX3" fmla="*/ 3413782 w 6705622"/>
              <a:gd name="connsiteY3" fmla="*/ 3441500 h 5469806"/>
              <a:gd name="connsiteX4" fmla="*/ 4610814 w 6705622"/>
              <a:gd name="connsiteY4" fmla="*/ 1030809 h 5469806"/>
              <a:gd name="connsiteX5" fmla="*/ 4677316 w 6705622"/>
              <a:gd name="connsiteY5" fmla="*/ 349166 h 5469806"/>
              <a:gd name="connsiteX6" fmla="*/ 3496909 w 6705622"/>
              <a:gd name="connsiteY6" fmla="*/ 31 h 5469806"/>
              <a:gd name="connsiteX7" fmla="*/ 936589 w 6705622"/>
              <a:gd name="connsiteY7" fmla="*/ 365791 h 5469806"/>
              <a:gd name="connsiteX8" fmla="*/ 155192 w 6705622"/>
              <a:gd name="connsiteY8" fmla="*/ 1413195 h 5469806"/>
              <a:gd name="connsiteX9" fmla="*/ 38814 w 6705622"/>
              <a:gd name="connsiteY9" fmla="*/ 2560351 h 5469806"/>
              <a:gd name="connsiteX10" fmla="*/ 637331 w 6705622"/>
              <a:gd name="connsiteY10" fmla="*/ 4355900 h 5469806"/>
              <a:gd name="connsiteX11" fmla="*/ 1801112 w 6705622"/>
              <a:gd name="connsiteY11" fmla="*/ 4505529 h 5469806"/>
              <a:gd name="connsiteX12" fmla="*/ 3197651 w 6705622"/>
              <a:gd name="connsiteY12" fmla="*/ 1795580 h 5469806"/>
              <a:gd name="connsiteX13" fmla="*/ 5309083 w 6705622"/>
              <a:gd name="connsiteY13" fmla="*/ 2144715 h 5469806"/>
              <a:gd name="connsiteX14" fmla="*/ 6489491 w 6705622"/>
              <a:gd name="connsiteY14" fmla="*/ 1496322 h 5469806"/>
              <a:gd name="connsiteX15" fmla="*/ 6705622 w 6705622"/>
              <a:gd name="connsiteY15" fmla="*/ 415667 h 5469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05622" h="5469806">
                <a:moveTo>
                  <a:pt x="2981520" y="5469806"/>
                </a:moveTo>
                <a:cubicBezTo>
                  <a:pt x="2614374" y="5469805"/>
                  <a:pt x="2247228" y="5469805"/>
                  <a:pt x="2200123" y="5320176"/>
                </a:cubicBezTo>
                <a:cubicBezTo>
                  <a:pt x="2153017" y="5170547"/>
                  <a:pt x="2496611" y="4885143"/>
                  <a:pt x="2698887" y="4572031"/>
                </a:cubicBezTo>
                <a:cubicBezTo>
                  <a:pt x="2901163" y="4258919"/>
                  <a:pt x="3095128" y="4031704"/>
                  <a:pt x="3413782" y="3441500"/>
                </a:cubicBezTo>
                <a:cubicBezTo>
                  <a:pt x="3732437" y="2851296"/>
                  <a:pt x="4400225" y="1546198"/>
                  <a:pt x="4610814" y="1030809"/>
                </a:cubicBezTo>
                <a:cubicBezTo>
                  <a:pt x="4821403" y="515420"/>
                  <a:pt x="4862967" y="520962"/>
                  <a:pt x="4677316" y="349166"/>
                </a:cubicBezTo>
                <a:cubicBezTo>
                  <a:pt x="4491665" y="177370"/>
                  <a:pt x="4120363" y="-2740"/>
                  <a:pt x="3496909" y="31"/>
                </a:cubicBezTo>
                <a:cubicBezTo>
                  <a:pt x="2873455" y="2802"/>
                  <a:pt x="1493542" y="130264"/>
                  <a:pt x="936589" y="365791"/>
                </a:cubicBezTo>
                <a:cubicBezTo>
                  <a:pt x="379636" y="601318"/>
                  <a:pt x="304821" y="1047435"/>
                  <a:pt x="155192" y="1413195"/>
                </a:cubicBezTo>
                <a:cubicBezTo>
                  <a:pt x="5563" y="1778955"/>
                  <a:pt x="-41542" y="2069900"/>
                  <a:pt x="38814" y="2560351"/>
                </a:cubicBezTo>
                <a:cubicBezTo>
                  <a:pt x="119170" y="3050802"/>
                  <a:pt x="343615" y="4031704"/>
                  <a:pt x="637331" y="4355900"/>
                </a:cubicBezTo>
                <a:cubicBezTo>
                  <a:pt x="931047" y="4680096"/>
                  <a:pt x="1374392" y="4932249"/>
                  <a:pt x="1801112" y="4505529"/>
                </a:cubicBezTo>
                <a:cubicBezTo>
                  <a:pt x="2227832" y="4078809"/>
                  <a:pt x="2612989" y="2189049"/>
                  <a:pt x="3197651" y="1795580"/>
                </a:cubicBezTo>
                <a:cubicBezTo>
                  <a:pt x="3782313" y="1402111"/>
                  <a:pt x="4760443" y="2194591"/>
                  <a:pt x="5309083" y="2144715"/>
                </a:cubicBezTo>
                <a:cubicBezTo>
                  <a:pt x="5857723" y="2094839"/>
                  <a:pt x="6256735" y="1784496"/>
                  <a:pt x="6489491" y="1496322"/>
                </a:cubicBezTo>
                <a:cubicBezTo>
                  <a:pt x="6722247" y="1208148"/>
                  <a:pt x="6694539" y="897805"/>
                  <a:pt x="6705622" y="415667"/>
                </a:cubicBezTo>
              </a:path>
            </a:pathLst>
          </a:custGeom>
          <a:noFill/>
          <a:ln w="63500">
            <a:solidFill>
              <a:srgbClr val="3E9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29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clrChange>
              <a:clrFrom>
                <a:srgbClr val="CCCCC9"/>
              </a:clrFrom>
              <a:clrTo>
                <a:srgbClr val="CCCCC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85881" y="14937"/>
            <a:ext cx="7506119" cy="6843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214442"/>
            <a:ext cx="345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플레이어 경험 곡선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143350" y="6145491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[</a:t>
            </a:r>
            <a:r>
              <a:rPr lang="ko-KR" altLang="en-US" smtClean="0"/>
              <a:t>실루엣</a:t>
            </a:r>
            <a:r>
              <a:rPr lang="en-US" altLang="ko-KR" smtClean="0"/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 rot="1229694">
            <a:off x="7168343" y="5498122"/>
            <a:ext cx="77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1</a:t>
            </a:r>
            <a:r>
              <a:rPr lang="ko-KR" altLang="en-US" smtClean="0"/>
              <a:t>층</a:t>
            </a: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 rot="1275310">
            <a:off x="6123886" y="4979200"/>
            <a:ext cx="77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2</a:t>
            </a:r>
            <a:r>
              <a:rPr lang="ko-KR" altLang="en-US" smtClean="0"/>
              <a:t>층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 rot="1166637">
            <a:off x="4995674" y="4356923"/>
            <a:ext cx="77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3</a:t>
            </a:r>
            <a:r>
              <a:rPr lang="ko-KR" altLang="en-US" smtClean="0"/>
              <a:t>층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12894" y="5733934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1</a:t>
            </a:r>
            <a:r>
              <a:rPr lang="ko-KR" altLang="en-US" smtClean="0"/>
              <a:t>층 탐색</a:t>
            </a:r>
            <a:endParaRPr lang="en-US" altLang="ko-KR" smtClean="0"/>
          </a:p>
        </p:txBody>
      </p:sp>
      <p:sp>
        <p:nvSpPr>
          <p:cNvPr id="12" name="TextBox 11"/>
          <p:cNvSpPr txBox="1"/>
          <p:nvPr/>
        </p:nvSpPr>
        <p:spPr>
          <a:xfrm>
            <a:off x="8438940" y="1471124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환영체</a:t>
            </a:r>
            <a:endParaRPr lang="en-US" altLang="ko-KR" smtClean="0"/>
          </a:p>
        </p:txBody>
      </p:sp>
      <p:sp>
        <p:nvSpPr>
          <p:cNvPr id="13" name="TextBox 12"/>
          <p:cNvSpPr txBox="1"/>
          <p:nvPr/>
        </p:nvSpPr>
        <p:spPr>
          <a:xfrm>
            <a:off x="4313013" y="1439845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3</a:t>
            </a:r>
            <a:r>
              <a:rPr lang="ko-KR" altLang="en-US" smtClean="0"/>
              <a:t>층 탐색</a:t>
            </a:r>
            <a:endParaRPr lang="en-US" altLang="ko-KR" smtClean="0"/>
          </a:p>
        </p:txBody>
      </p:sp>
      <p:sp>
        <p:nvSpPr>
          <p:cNvPr id="14" name="TextBox 13"/>
          <p:cNvSpPr txBox="1"/>
          <p:nvPr/>
        </p:nvSpPr>
        <p:spPr>
          <a:xfrm>
            <a:off x="3820264" y="2495665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3</a:t>
            </a:r>
            <a:r>
              <a:rPr lang="ko-KR" altLang="en-US" smtClean="0"/>
              <a:t>층 퍼즐</a:t>
            </a:r>
            <a:endParaRPr lang="en-US" altLang="ko-KR" smtClean="0"/>
          </a:p>
        </p:txBody>
      </p:sp>
      <p:sp>
        <p:nvSpPr>
          <p:cNvPr id="15" name="TextBox 14"/>
          <p:cNvSpPr txBox="1"/>
          <p:nvPr/>
        </p:nvSpPr>
        <p:spPr>
          <a:xfrm>
            <a:off x="4794449" y="5313426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기억 체험</a:t>
            </a:r>
            <a:endParaRPr lang="en-US" altLang="ko-KR" smtClean="0"/>
          </a:p>
        </p:txBody>
      </p:sp>
      <p:sp>
        <p:nvSpPr>
          <p:cNvPr id="16" name="TextBox 15"/>
          <p:cNvSpPr txBox="1"/>
          <p:nvPr/>
        </p:nvSpPr>
        <p:spPr>
          <a:xfrm rot="1208819">
            <a:off x="8771538" y="6145491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강당</a:t>
            </a:r>
            <a:endParaRPr lang="en-US" altLang="ko-KR" smtClean="0"/>
          </a:p>
        </p:txBody>
      </p:sp>
      <p:sp>
        <p:nvSpPr>
          <p:cNvPr id="17" name="TextBox 16"/>
          <p:cNvSpPr txBox="1"/>
          <p:nvPr/>
        </p:nvSpPr>
        <p:spPr>
          <a:xfrm>
            <a:off x="10351658" y="1946362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보스전</a:t>
            </a:r>
            <a:endParaRPr lang="en-US" altLang="ko-KR" smtClean="0"/>
          </a:p>
        </p:txBody>
      </p:sp>
      <p:sp>
        <p:nvSpPr>
          <p:cNvPr id="18" name="TextBox 17"/>
          <p:cNvSpPr txBox="1"/>
          <p:nvPr/>
        </p:nvSpPr>
        <p:spPr>
          <a:xfrm>
            <a:off x="10351658" y="1122688"/>
            <a:ext cx="156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엔딩</a:t>
            </a:r>
            <a:endParaRPr lang="en-US" altLang="ko-KR" smtClean="0"/>
          </a:p>
        </p:txBody>
      </p:sp>
      <p:cxnSp>
        <p:nvCxnSpPr>
          <p:cNvPr id="19" name="직선 연결선 18"/>
          <p:cNvCxnSpPr/>
          <p:nvPr/>
        </p:nvCxnSpPr>
        <p:spPr>
          <a:xfrm>
            <a:off x="7986310" y="3371850"/>
            <a:ext cx="18614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H="1">
            <a:off x="7705725" y="3467100"/>
            <a:ext cx="447675" cy="1095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7696200" y="4562475"/>
            <a:ext cx="619125" cy="133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8324850" y="4562475"/>
            <a:ext cx="38100" cy="142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 flipV="1">
            <a:off x="8172450" y="4467225"/>
            <a:ext cx="142875" cy="95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8153400" y="4467225"/>
            <a:ext cx="19050" cy="95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 flipV="1">
            <a:off x="7820025" y="4467225"/>
            <a:ext cx="333375" cy="95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7848600" y="3952875"/>
            <a:ext cx="238125" cy="51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8153400" y="3943350"/>
            <a:ext cx="390525" cy="171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8543925" y="3714750"/>
            <a:ext cx="163800" cy="400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8707725" y="367665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8543925" y="3714750"/>
            <a:ext cx="163800" cy="238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H="1" flipV="1">
            <a:off x="8153400" y="3848100"/>
            <a:ext cx="390525" cy="95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8153400" y="3371850"/>
            <a:ext cx="209550" cy="485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8362950" y="3371850"/>
            <a:ext cx="344775" cy="95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 flipV="1">
            <a:off x="8707725" y="3190875"/>
            <a:ext cx="48068" cy="257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H="1" flipV="1">
            <a:off x="8707725" y="3152775"/>
            <a:ext cx="48068" cy="19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H="1">
            <a:off x="8620125" y="3190875"/>
            <a:ext cx="87600" cy="257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H="1" flipV="1">
            <a:off x="8438940" y="3371850"/>
            <a:ext cx="181185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 flipV="1">
            <a:off x="8438940" y="2600325"/>
            <a:ext cx="316853" cy="771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V="1">
            <a:off x="8755793" y="2495665"/>
            <a:ext cx="121507" cy="11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H="1">
            <a:off x="8620125" y="2495665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 flipH="1">
            <a:off x="8438940" y="2495665"/>
            <a:ext cx="181185" cy="876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8438940" y="3371850"/>
            <a:ext cx="316853" cy="95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V="1">
            <a:off x="8755793" y="3371850"/>
            <a:ext cx="92932" cy="95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H="1" flipV="1">
            <a:off x="8324850" y="3190875"/>
            <a:ext cx="523875" cy="180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 flipV="1">
            <a:off x="8315325" y="1247775"/>
            <a:ext cx="1295400" cy="1943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44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타원 131"/>
          <p:cNvSpPr/>
          <p:nvPr/>
        </p:nvSpPr>
        <p:spPr>
          <a:xfrm>
            <a:off x="11094771" y="639530"/>
            <a:ext cx="414978" cy="414978"/>
          </a:xfrm>
          <a:prstGeom prst="ellipse">
            <a:avLst/>
          </a:prstGeom>
          <a:solidFill>
            <a:srgbClr val="0070C0">
              <a:alpha val="5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/>
          <p:cNvSpPr/>
          <p:nvPr/>
        </p:nvSpPr>
        <p:spPr>
          <a:xfrm>
            <a:off x="11250720" y="485786"/>
            <a:ext cx="414978" cy="414978"/>
          </a:xfrm>
          <a:prstGeom prst="ellipse">
            <a:avLst/>
          </a:prstGeom>
          <a:solidFill>
            <a:srgbClr val="FFFF00">
              <a:alpha val="5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797" t="6124"/>
          <a:stretch/>
        </p:blipFill>
        <p:spPr>
          <a:xfrm>
            <a:off x="1812173" y="2424496"/>
            <a:ext cx="8152995" cy="2150325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997527" y="4987637"/>
            <a:ext cx="1318952" cy="73152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손전등</a:t>
            </a:r>
            <a:endParaRPr lang="en-US" altLang="ko-KR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획득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679469" y="4987637"/>
            <a:ext cx="1318952" cy="73152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실루엣</a:t>
            </a:r>
            <a:endParaRPr lang="en-US" altLang="ko-KR" smtClean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발견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361411" y="4987637"/>
            <a:ext cx="1318952" cy="73152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방송실</a:t>
            </a:r>
            <a:endParaRPr lang="en-US" altLang="ko-KR" smtClean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조사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043353" y="4987637"/>
            <a:ext cx="1318952" cy="73152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교무실</a:t>
            </a:r>
            <a:endParaRPr lang="en-US" altLang="ko-KR" smtClean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조사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7725295" y="4987637"/>
            <a:ext cx="1318952" cy="73152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보건실</a:t>
            </a:r>
            <a:endParaRPr lang="en-US" altLang="ko-KR" smtClean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조사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9407237" y="4987637"/>
            <a:ext cx="1318952" cy="73152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환영체</a:t>
            </a:r>
            <a:endParaRPr lang="en-US" altLang="ko-KR" smtClean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mtClean="0">
                <a:solidFill>
                  <a:sysClr val="windowText" lastClr="000000"/>
                </a:solidFill>
              </a:rPr>
              <a:t>조우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본관 </a:t>
            </a:r>
            <a:r>
              <a:rPr lang="en-US" altLang="ko-KR" smtClean="0"/>
              <a:t>1</a:t>
            </a:r>
            <a:r>
              <a:rPr lang="ko-KR" altLang="en-US" smtClean="0"/>
              <a:t>층 </a:t>
            </a:r>
            <a:r>
              <a:rPr lang="en-US" altLang="ko-KR" smtClean="0"/>
              <a:t>- </a:t>
            </a:r>
            <a:r>
              <a:rPr lang="ko-KR" altLang="en-US" smtClean="0"/>
              <a:t>조사</a:t>
            </a: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38200" y="1642348"/>
            <a:ext cx="513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챕터 역할 </a:t>
            </a:r>
            <a:r>
              <a:rPr lang="en-US" altLang="ko-KR" smtClean="0"/>
              <a:t>: </a:t>
            </a:r>
            <a:r>
              <a:rPr lang="ko-KR" altLang="en-US" smtClean="0"/>
              <a:t>조사 → 의문 생성 </a:t>
            </a:r>
            <a:r>
              <a:rPr lang="ko-KR" altLang="en-US" smtClean="0"/>
              <a:t>→ 위협 등장</a:t>
            </a:r>
            <a:endParaRPr lang="ko-KR" altLang="en-US"/>
          </a:p>
        </p:txBody>
      </p:sp>
      <p:cxnSp>
        <p:nvCxnSpPr>
          <p:cNvPr id="14" name="직선 화살표 연결선 13"/>
          <p:cNvCxnSpPr>
            <a:stCxn id="5" idx="3"/>
            <a:endCxn id="6" idx="1"/>
          </p:cNvCxnSpPr>
          <p:nvPr/>
        </p:nvCxnSpPr>
        <p:spPr>
          <a:xfrm>
            <a:off x="2316479" y="5353397"/>
            <a:ext cx="362990" cy="0"/>
          </a:xfrm>
          <a:prstGeom prst="straightConnector1">
            <a:avLst/>
          </a:prstGeom>
          <a:ln w="25400">
            <a:solidFill>
              <a:srgbClr val="4171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6" idx="3"/>
            <a:endCxn id="7" idx="1"/>
          </p:cNvCxnSpPr>
          <p:nvPr/>
        </p:nvCxnSpPr>
        <p:spPr>
          <a:xfrm>
            <a:off x="3998421" y="5353397"/>
            <a:ext cx="362990" cy="0"/>
          </a:xfrm>
          <a:prstGeom prst="straightConnector1">
            <a:avLst/>
          </a:prstGeom>
          <a:ln w="25400">
            <a:solidFill>
              <a:srgbClr val="4171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7" idx="3"/>
            <a:endCxn id="8" idx="1"/>
          </p:cNvCxnSpPr>
          <p:nvPr/>
        </p:nvCxnSpPr>
        <p:spPr>
          <a:xfrm>
            <a:off x="5680363" y="5353397"/>
            <a:ext cx="362990" cy="0"/>
          </a:xfrm>
          <a:prstGeom prst="straightConnector1">
            <a:avLst/>
          </a:prstGeom>
          <a:ln w="25400">
            <a:solidFill>
              <a:srgbClr val="4171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8" idx="3"/>
            <a:endCxn id="9" idx="1"/>
          </p:cNvCxnSpPr>
          <p:nvPr/>
        </p:nvCxnSpPr>
        <p:spPr>
          <a:xfrm>
            <a:off x="7362305" y="5353397"/>
            <a:ext cx="362990" cy="0"/>
          </a:xfrm>
          <a:prstGeom prst="straightConnector1">
            <a:avLst/>
          </a:prstGeom>
          <a:ln w="25400">
            <a:solidFill>
              <a:srgbClr val="4171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9" idx="3"/>
            <a:endCxn id="10" idx="1"/>
          </p:cNvCxnSpPr>
          <p:nvPr/>
        </p:nvCxnSpPr>
        <p:spPr>
          <a:xfrm>
            <a:off x="9044247" y="5353397"/>
            <a:ext cx="362990" cy="0"/>
          </a:xfrm>
          <a:prstGeom prst="straightConnector1">
            <a:avLst/>
          </a:prstGeom>
          <a:ln w="25400">
            <a:solidFill>
              <a:srgbClr val="4171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6126480" y="2051116"/>
            <a:ext cx="0" cy="78139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3860800" y="2884012"/>
            <a:ext cx="2210261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6065520" y="2823052"/>
            <a:ext cx="121920" cy="12192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/>
          <p:cNvCxnSpPr/>
          <p:nvPr/>
        </p:nvCxnSpPr>
        <p:spPr>
          <a:xfrm>
            <a:off x="3873137" y="2884012"/>
            <a:ext cx="0" cy="75907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 flipH="1">
            <a:off x="3873138" y="3638755"/>
            <a:ext cx="24801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4121150" y="3638755"/>
            <a:ext cx="0" cy="33634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H="1">
            <a:off x="4016194" y="3975100"/>
            <a:ext cx="10495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4016194" y="3975100"/>
            <a:ext cx="0" cy="3048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H="1">
            <a:off x="4020866" y="4279900"/>
            <a:ext cx="19553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4216400" y="3562350"/>
            <a:ext cx="0" cy="7302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H="1">
            <a:off x="3930650" y="3575255"/>
            <a:ext cx="28575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3937000" y="3263549"/>
            <a:ext cx="0" cy="31170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 flipH="1">
            <a:off x="3930651" y="3263549"/>
            <a:ext cx="1231899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5162550" y="3263549"/>
            <a:ext cx="0" cy="8068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H="1">
            <a:off x="5162551" y="4070350"/>
            <a:ext cx="1168399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 flipH="1">
            <a:off x="5283200" y="4019550"/>
            <a:ext cx="1047751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5295900" y="3263549"/>
            <a:ext cx="0" cy="74965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330950" y="4013200"/>
            <a:ext cx="0" cy="571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 flipH="1">
            <a:off x="5295901" y="3275898"/>
            <a:ext cx="1289049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6584950" y="3263549"/>
            <a:ext cx="0" cy="5909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H="1">
            <a:off x="6584951" y="3854450"/>
            <a:ext cx="77735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 flipH="1" flipV="1">
            <a:off x="7359333" y="3854450"/>
            <a:ext cx="241617" cy="1651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>
            <a:off x="7600950" y="4013200"/>
            <a:ext cx="0" cy="323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H="1">
            <a:off x="7600951" y="4337050"/>
            <a:ext cx="57149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>
            <a:off x="7658100" y="4013200"/>
            <a:ext cx="0" cy="323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H="1" flipV="1">
            <a:off x="7414808" y="3851275"/>
            <a:ext cx="246264" cy="16827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>
            <a:off x="7414808" y="3666949"/>
            <a:ext cx="0" cy="1968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flipH="1">
            <a:off x="6637454" y="3679649"/>
            <a:ext cx="77735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6637454" y="3275898"/>
            <a:ext cx="0" cy="40720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 flipH="1">
            <a:off x="6637455" y="3281546"/>
            <a:ext cx="185884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 flipH="1" flipV="1">
            <a:off x="8496300" y="3287195"/>
            <a:ext cx="246264" cy="16827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 flipH="1">
            <a:off x="8742565" y="3455470"/>
            <a:ext cx="66467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9407237" y="3455470"/>
            <a:ext cx="0" cy="4418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 flipH="1">
            <a:off x="8312150" y="3499658"/>
            <a:ext cx="109508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H="1" flipV="1">
            <a:off x="8065886" y="3325734"/>
            <a:ext cx="246264" cy="16827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H="1">
            <a:off x="6702829" y="3325734"/>
            <a:ext cx="1363058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6717233" y="3327768"/>
            <a:ext cx="0" cy="84735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 flipH="1">
            <a:off x="6702829" y="4175125"/>
            <a:ext cx="78971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>
            <a:off x="6774383" y="3409871"/>
            <a:ext cx="0" cy="77795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H="1">
            <a:off x="6761364" y="3422571"/>
            <a:ext cx="130452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 flipH="1" flipV="1">
            <a:off x="8052089" y="3415072"/>
            <a:ext cx="180189" cy="12312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 flipH="1">
            <a:off x="8232278" y="3538196"/>
            <a:ext cx="1375272" cy="0"/>
          </a:xfrm>
          <a:prstGeom prst="line">
            <a:avLst/>
          </a:prstGeom>
          <a:ln w="38100">
            <a:solidFill>
              <a:srgbClr val="7030A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10543262" y="226430"/>
            <a:ext cx="10329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이야기</a:t>
            </a:r>
            <a:endParaRPr lang="ko-KR" altLang="en-US" sz="1000"/>
          </a:p>
        </p:txBody>
      </p:sp>
      <p:sp>
        <p:nvSpPr>
          <p:cNvPr id="128" name="TextBox 127"/>
          <p:cNvSpPr txBox="1"/>
          <p:nvPr/>
        </p:nvSpPr>
        <p:spPr>
          <a:xfrm>
            <a:off x="11030654" y="232779"/>
            <a:ext cx="10329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학습</a:t>
            </a:r>
            <a:endParaRPr lang="ko-KR" altLang="en-US" sz="1000"/>
          </a:p>
        </p:txBody>
      </p:sp>
      <p:sp>
        <p:nvSpPr>
          <p:cNvPr id="129" name="TextBox 128"/>
          <p:cNvSpPr txBox="1"/>
          <p:nvPr/>
        </p:nvSpPr>
        <p:spPr>
          <a:xfrm>
            <a:off x="10785791" y="1085141"/>
            <a:ext cx="10329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난이도</a:t>
            </a:r>
            <a:endParaRPr lang="ko-KR" altLang="en-US" sz="1000"/>
          </a:p>
        </p:txBody>
      </p:sp>
      <p:sp>
        <p:nvSpPr>
          <p:cNvPr id="131" name="타원 130"/>
          <p:cNvSpPr/>
          <p:nvPr/>
        </p:nvSpPr>
        <p:spPr>
          <a:xfrm>
            <a:off x="10938822" y="479436"/>
            <a:ext cx="414978" cy="414978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47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3] </a:t>
            </a:r>
            <a:r>
              <a:rPr lang="ko-KR" altLang="en-US" smtClean="0"/>
              <a:t>분석하면서 보기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선생님께서 기획자</a:t>
            </a:r>
            <a:r>
              <a:rPr lang="en-US" altLang="ko-KR" smtClean="0"/>
              <a:t>/</a:t>
            </a:r>
            <a:r>
              <a:rPr lang="ko-KR" altLang="en-US" smtClean="0"/>
              <a:t>그래픽</a:t>
            </a:r>
            <a:r>
              <a:rPr lang="en-US" altLang="ko-KR" smtClean="0"/>
              <a:t>/</a:t>
            </a:r>
            <a:r>
              <a:rPr lang="ko-KR" altLang="en-US" smtClean="0"/>
              <a:t>프로그래머로 나눠서 설명해주심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588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캐주얼의 영역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원신</a:t>
            </a:r>
            <a:r>
              <a:rPr lang="en-US" altLang="ko-KR" smtClean="0"/>
              <a:t>]</a:t>
            </a:r>
            <a:r>
              <a:rPr lang="ko-KR" altLang="en-US" smtClean="0"/>
              <a:t>같은 것 뿐 아니라 참고 이미지같은 게 더 면접관들이 좋아하는 캐주얼이다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758" y="2785972"/>
            <a:ext cx="7331242" cy="407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8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프로그램 구현 사항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주시하기</a:t>
            </a:r>
            <a:r>
              <a:rPr lang="en-US" altLang="ko-KR" smtClean="0"/>
              <a:t>‘</a:t>
            </a:r>
            <a:endParaRPr lang="en-US" altLang="ko-KR" smtClean="0"/>
          </a:p>
          <a:p>
            <a:r>
              <a:rPr lang="ko-KR" altLang="en-US" smtClean="0"/>
              <a:t>플레이어 캐릭터가 어떤 오브젝트에 대한 퀘스트가 있을 경우</a:t>
            </a:r>
            <a:endParaRPr lang="en-US" altLang="ko-KR" smtClean="0"/>
          </a:p>
          <a:p>
            <a:r>
              <a:rPr lang="ko-KR" altLang="en-US" smtClean="0"/>
              <a:t>플레이어 캐릭터의 시선과 오브젝트의 포인터 사이의 가장 가까운 거리 사이의 직선을 그어서</a:t>
            </a:r>
            <a:r>
              <a:rPr lang="en-US" altLang="ko-KR" smtClean="0"/>
              <a:t>, </a:t>
            </a:r>
            <a:r>
              <a:rPr lang="ko-KR" altLang="en-US" smtClean="0"/>
              <a:t>플레이어 캐릭터가 그 오브젝트를 계속 바라보도록 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기획적으로 플레이어에게 이 오브젝트로 무언가를 해야 한다는 것을 알려주는 장치로 활용할 수 있다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en-US" altLang="ko-KR" smtClean="0"/>
              <a:t>‘</a:t>
            </a:r>
            <a:r>
              <a:rPr lang="ko-KR" altLang="en-US" smtClean="0"/>
              <a:t>락 온</a:t>
            </a:r>
            <a:r>
              <a:rPr lang="en-US" altLang="ko-KR" smtClean="0"/>
              <a:t>’ : </a:t>
            </a:r>
            <a:r>
              <a:rPr lang="ko-KR" altLang="en-US" smtClean="0"/>
              <a:t>조준점을 한 군데로 맞춰놓는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배경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캐릭터들이 보스와 몬스터들이 사는 곳에 침범한 상황</a:t>
            </a:r>
            <a:endParaRPr lang="en-US" altLang="ko-KR" smtClean="0"/>
          </a:p>
          <a:p>
            <a:r>
              <a:rPr lang="ko-KR" altLang="en-US" smtClean="0"/>
              <a:t>따라서 캐릭터들에 비해 오브젝트들의 크기가 크다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‘</a:t>
            </a:r>
            <a:r>
              <a:rPr lang="ko-KR" altLang="en-US" smtClean="0"/>
              <a:t>죽은 쥐</a:t>
            </a:r>
            <a:r>
              <a:rPr lang="en-US" altLang="ko-KR" smtClean="0"/>
              <a:t>’</a:t>
            </a:r>
            <a:r>
              <a:rPr lang="ko-KR" altLang="en-US" smtClean="0"/>
              <a:t>는 사건의 단서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배경에는 삶과 사건이 공존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032" y="3216665"/>
            <a:ext cx="6464968" cy="364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48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기획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NPC</a:t>
            </a:r>
            <a:r>
              <a:rPr lang="ko-KR" altLang="en-US" smtClean="0"/>
              <a:t>와의 파티 플레이</a:t>
            </a:r>
            <a:endParaRPr lang="en-US" altLang="ko-KR" smtClean="0"/>
          </a:p>
          <a:p>
            <a:r>
              <a:rPr lang="ko-KR" altLang="en-US" smtClean="0"/>
              <a:t>한 캐릭터는 원거리</a:t>
            </a:r>
            <a:r>
              <a:rPr lang="en-US" altLang="ko-KR" smtClean="0"/>
              <a:t>, </a:t>
            </a:r>
            <a:r>
              <a:rPr lang="ko-KR" altLang="en-US" smtClean="0"/>
              <a:t>한 캐릭터는 근거리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944" y="5286156"/>
            <a:ext cx="2010056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823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구현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이벤트 구현</a:t>
            </a:r>
            <a:endParaRPr lang="en-US" altLang="ko-KR" smtClean="0"/>
          </a:p>
          <a:p>
            <a:r>
              <a:rPr lang="ko-KR" altLang="en-US" smtClean="0"/>
              <a:t>이게 왜 재밌는 지에 대한 내용을 적으면 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414" y="2828363"/>
            <a:ext cx="4734586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19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서사 구조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</a:t>
            </a:r>
            <a:r>
              <a:rPr lang="en-US" altLang="ko-KR" smtClean="0"/>
              <a:t>]</a:t>
            </a:r>
            <a:r>
              <a:rPr lang="ko-KR" altLang="en-US" smtClean="0"/>
              <a:t>의 스토리텔링 서사 구조</a:t>
            </a:r>
            <a:endParaRPr lang="en-US" altLang="ko-KR" smtClean="0"/>
          </a:p>
          <a:p>
            <a:r>
              <a:rPr lang="ko-KR" altLang="en-US" smtClean="0"/>
              <a:t>플레이어 캐릭터가 배고픔을 느끼고</a:t>
            </a:r>
            <a:r>
              <a:rPr lang="en-US" altLang="ko-KR" smtClean="0"/>
              <a:t>, </a:t>
            </a:r>
            <a:r>
              <a:rPr lang="ko-KR" altLang="en-US" smtClean="0"/>
              <a:t>프리 컷 씬</a:t>
            </a:r>
            <a:r>
              <a:rPr lang="en-US" altLang="ko-KR" smtClean="0"/>
              <a:t>(</a:t>
            </a:r>
            <a:r>
              <a:rPr lang="ko-KR" altLang="en-US" smtClean="0"/>
              <a:t>조작 가능</a:t>
            </a:r>
            <a:r>
              <a:rPr lang="en-US" altLang="ko-KR" smtClean="0"/>
              <a:t>)</a:t>
            </a:r>
            <a:r>
              <a:rPr lang="ko-KR" altLang="en-US" smtClean="0"/>
              <a:t>에서 컷 씬</a:t>
            </a:r>
            <a:r>
              <a:rPr lang="en-US" altLang="ko-KR" smtClean="0"/>
              <a:t>(</a:t>
            </a:r>
            <a:r>
              <a:rPr lang="ko-KR" altLang="en-US" smtClean="0"/>
              <a:t>조작 불가능</a:t>
            </a:r>
            <a:r>
              <a:rPr lang="en-US" altLang="ko-KR" smtClean="0"/>
              <a:t>)</a:t>
            </a:r>
            <a:r>
              <a:rPr lang="ko-KR" altLang="en-US" smtClean="0"/>
              <a:t>으로 바뀐다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이를 통해 게임 플레이의 동기를 부여하고 다음 내용에 대한 궁금증을 느끼게 하는 보상을 주는 서사 구조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68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서사 구조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3]</a:t>
            </a:r>
            <a:r>
              <a:rPr lang="ko-KR" altLang="en-US" smtClean="0"/>
              <a:t>의 스토리텔링 서사 구조</a:t>
            </a:r>
            <a:endParaRPr lang="en-US" altLang="ko-KR" smtClean="0"/>
          </a:p>
          <a:p>
            <a:r>
              <a:rPr lang="ko-KR" altLang="en-US" smtClean="0"/>
              <a:t>처음에는 꿈과 현실이 비교적 명확하게 구분된다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그러나 점점 꿈이 현실인지 현실이 꿈인지 모호해진다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192" y="3465095"/>
            <a:ext cx="5213807" cy="339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98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NPC</a:t>
            </a:r>
            <a:r>
              <a:rPr lang="ko-KR" altLang="en-US" smtClean="0"/>
              <a:t>와 협력하는 게임의 스크립트 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플레이어 캐릭터가 많이 앞서나갈 때</a:t>
            </a:r>
            <a:endParaRPr lang="en-US" altLang="ko-KR" smtClean="0"/>
          </a:p>
          <a:p>
            <a:r>
              <a:rPr lang="en-US" altLang="ko-KR" smtClean="0"/>
              <a:t>NPC</a:t>
            </a:r>
            <a:r>
              <a:rPr lang="ko-KR" altLang="en-US" smtClean="0"/>
              <a:t>를 워프시켜버릴 수도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기능상에서의 서사 구조</a:t>
            </a:r>
            <a:endParaRPr lang="en-US" altLang="ko-KR" smtClean="0"/>
          </a:p>
          <a:p>
            <a:r>
              <a:rPr lang="en-US" altLang="ko-KR" smtClean="0"/>
              <a:t>NPC</a:t>
            </a:r>
            <a:r>
              <a:rPr lang="ko-KR" altLang="en-US" smtClean="0"/>
              <a:t>와 협력해야 하는 구조를 통해 한 번 끊어준다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231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557</Words>
  <Application>Microsoft Office PowerPoint</Application>
  <PresentationFormat>와이드스크린</PresentationFormat>
  <Paragraphs>118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영화와 게임</vt:lpstr>
      <vt:lpstr>퀘스트 디자인</vt:lpstr>
      <vt:lpstr>퀘스트를 만들 때</vt:lpstr>
      <vt:lpstr>선생님께서 인정하는 한국 회사</vt:lpstr>
      <vt:lpstr>게임 시장</vt:lpstr>
      <vt:lpstr>오늘 할 것</vt:lpstr>
      <vt:lpstr>PowerPoint 프레젠테이션</vt:lpstr>
      <vt:lpstr>PowerPoint 프레젠테이션</vt:lpstr>
      <vt:lpstr>본관 1층 - 조사</vt:lpstr>
      <vt:lpstr>[리틀 나이트메어 3] 분석하면서 보기</vt:lpstr>
      <vt:lpstr>캐주얼의 영역</vt:lpstr>
      <vt:lpstr>프로그램 구현 사항</vt:lpstr>
      <vt:lpstr>배경</vt:lpstr>
      <vt:lpstr>기획</vt:lpstr>
      <vt:lpstr>구현</vt:lpstr>
      <vt:lpstr>서사 구조</vt:lpstr>
      <vt:lpstr>서사 구조</vt:lpstr>
      <vt:lpstr>NPC와 협력하는 게임의 스크립트 팁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14</cp:revision>
  <dcterms:created xsi:type="dcterms:W3CDTF">2026-06-15T04:58:07Z</dcterms:created>
  <dcterms:modified xsi:type="dcterms:W3CDTF">2026-06-15T06:55:22Z</dcterms:modified>
</cp:coreProperties>
</file>