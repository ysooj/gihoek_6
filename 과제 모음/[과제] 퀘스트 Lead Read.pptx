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52207-090A-460F-A040-9D33609C6A99}" v="1" dt="2026-06-22T02:47:27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6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6-22T02:49:49.659" v="17" actId="14100"/>
      <pc:docMkLst>
        <pc:docMk/>
      </pc:docMkLst>
      <pc:sldChg chg="new del">
        <pc:chgData name="musukie52@gmail.com" userId="017bd91f96aa8751" providerId="LiveId" clId="{5B2C3894-F97E-4CAB-8812-5BB4D83AAC6A}" dt="2026-06-22T02:47:30.912" v="2" actId="47"/>
        <pc:sldMkLst>
          <pc:docMk/>
          <pc:sldMk cId="2336127610" sldId="256"/>
        </pc:sldMkLst>
      </pc:sldChg>
      <pc:sldChg chg="addSp delSp modSp add mod">
        <pc:chgData name="musukie52@gmail.com" userId="017bd91f96aa8751" providerId="LiveId" clId="{5B2C3894-F97E-4CAB-8812-5BB4D83AAC6A}" dt="2026-06-22T02:48:53.562" v="6" actId="1076"/>
        <pc:sldMkLst>
          <pc:docMk/>
          <pc:sldMk cId="0" sldId="257"/>
        </pc:sldMkLst>
        <pc:picChg chg="del">
          <ac:chgData name="musukie52@gmail.com" userId="017bd91f96aa8751" providerId="LiveId" clId="{5B2C3894-F97E-4CAB-8812-5BB4D83AAC6A}" dt="2026-06-22T02:48:50.675" v="5" actId="478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6-22T02:48:53.562" v="6" actId="1076"/>
          <ac:picMkLst>
            <pc:docMk/>
            <pc:sldMk cId="0" sldId="257"/>
            <ac:picMk id="14" creationId="{1DAAEB8B-4F24-2312-D84A-261D5C093525}"/>
          </ac:picMkLst>
        </pc:picChg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58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59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0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1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2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3"/>
        </pc:sldMkLst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4"/>
        </pc:sldMkLst>
      </pc:sldChg>
      <pc:sldChg chg="addSp delSp modSp add mod">
        <pc:chgData name="musukie52@gmail.com" userId="017bd91f96aa8751" providerId="LiveId" clId="{5B2C3894-F97E-4CAB-8812-5BB4D83AAC6A}" dt="2026-06-22T02:49:49.659" v="17" actId="14100"/>
        <pc:sldMkLst>
          <pc:docMk/>
          <pc:sldMk cId="0" sldId="265"/>
        </pc:sldMkLst>
        <pc:spChg chg="mod">
          <ac:chgData name="musukie52@gmail.com" userId="017bd91f96aa8751" providerId="LiveId" clId="{5B2C3894-F97E-4CAB-8812-5BB4D83AAC6A}" dt="2026-06-22T02:49:49.659" v="17" actId="14100"/>
          <ac:spMkLst>
            <pc:docMk/>
            <pc:sldMk cId="0" sldId="265"/>
            <ac:spMk id="6" creationId="{00000000-0000-0000-0000-000000000000}"/>
          </ac:spMkLst>
        </pc:spChg>
        <pc:picChg chg="del">
          <ac:chgData name="musukie52@gmail.com" userId="017bd91f96aa8751" providerId="LiveId" clId="{5B2C3894-F97E-4CAB-8812-5BB4D83AAC6A}" dt="2026-06-22T02:49:37.620" v="13" actId="478"/>
          <ac:picMkLst>
            <pc:docMk/>
            <pc:sldMk cId="0" sldId="265"/>
            <ac:picMk id="7" creationId="{00000000-0000-0000-0000-000000000000}"/>
          </ac:picMkLst>
        </pc:picChg>
        <pc:picChg chg="add del mod">
          <ac:chgData name="musukie52@gmail.com" userId="017bd91f96aa8751" providerId="LiveId" clId="{5B2C3894-F97E-4CAB-8812-5BB4D83AAC6A}" dt="2026-06-22T02:49:36.818" v="12" actId="21"/>
          <ac:picMkLst>
            <pc:docMk/>
            <pc:sldMk cId="0" sldId="265"/>
            <ac:picMk id="25" creationId="{F618F761-9364-54E9-86FC-0997ED31D615}"/>
          </ac:picMkLst>
        </pc:picChg>
        <pc:picChg chg="add mod">
          <ac:chgData name="musukie52@gmail.com" userId="017bd91f96aa8751" providerId="LiveId" clId="{5B2C3894-F97E-4CAB-8812-5BB4D83AAC6A}" dt="2026-06-22T02:49:41.603" v="15" actId="1076"/>
          <ac:picMkLst>
            <pc:docMk/>
            <pc:sldMk cId="0" sldId="265"/>
            <ac:picMk id="27" creationId="{0F12154B-8A4F-67BA-DDE9-75CEF8B27B45}"/>
          </ac:picMkLst>
        </pc:picChg>
      </pc:sldChg>
      <pc:sldChg chg="add">
        <pc:chgData name="musukie52@gmail.com" userId="017bd91f96aa8751" providerId="LiveId" clId="{5B2C3894-F97E-4CAB-8812-5BB4D83AAC6A}" dt="2026-06-22T02:47:27.886" v="1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E0757-CFEC-4E96-A0B1-9E5546BEE384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A344-6A1C-490A-8B05-5821C4E6B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74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15533-0D1D-BD61-278D-A9373DB0F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FE60AB-3C95-04B2-9957-DD7D5B15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1211A-358C-4325-CF66-8C3531A3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526B0-4ACE-88FE-6FB0-1429C86D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BC699-6210-D821-60E3-13B3C265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69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DDA52-4805-0F3B-FE2B-F6E2215C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55CB8-A8A9-4606-5A49-6D9D642B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E9F74-5970-88A3-5B09-7A903D68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F802F-95A4-E2A2-A075-CA4ACFE3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D449A6-B991-0696-2058-59C8E70F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7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4215B-5113-0C19-7800-81C81608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59277C-ED88-3AEF-2A77-EEA31CAD5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A688E-675A-A95D-9560-39012709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BFD6F-BAF7-31FD-B9E4-C583A41D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4F36B-05EB-72A2-2698-B8821FA6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39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D824B-EC36-7C27-0F33-1CF4664B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2E5192-1618-7537-3569-5E7DCFF32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0EDBB2-2E7F-4E0F-F799-C4C35434C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85124C-3463-6425-4978-51FA052E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02476F-7D54-2C03-CB95-9BA908DD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C22739-4267-F5C0-2D63-C2991661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6EE8E-19BC-4131-5FAD-A87725D3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31CD7C-CDCE-070B-9BC7-F48C93293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2EC0B1-6946-A571-8C0D-91DBA34A4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F62EA7-87C4-1C26-6A55-42ABEEFC6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A5EC39-226B-D074-D3A8-30B417007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D7422A-DFC1-0445-A179-4CA72CEA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56AB34-6DA3-C9C2-C2E7-8D055BB2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AA110F-7E58-FFA5-4019-521941A9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82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04419-08C4-4720-D09B-439EDF61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C98053-09AB-6E21-7CC1-B4BDE033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1FAFD2-3CD6-7215-5074-48BC12AA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F00C72-BF75-8561-EA22-1D5F20B9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2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55E309-7F65-F955-4054-9AE4C32E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ED4B0E-335D-140A-644E-A37B6ADC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857DC-BE25-436E-6733-09901591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1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D8FD1-F695-E2AD-990F-697DBE31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0B040-FC4E-668F-7ADC-CB2A13DE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356DFF-D324-C9CC-250B-1540B51A1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F4940D-BB9E-553D-C6CB-92EA1EDB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C4AC8-8B6F-B105-B49B-FF6897C1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FA983E-7BDA-955A-20CC-728F398F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78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7DCF1-42D7-41AD-559B-EADCEE30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42D4C9F-5A8F-057E-4847-7034ABFB6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F755BB-0B99-09CA-8578-0B389612F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B4706-055C-8A84-26E9-E524B299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8F0F08-80DC-33B0-C569-73F26ABF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A998D-4D91-C9E3-C26B-5EA52371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91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29E8F-7493-E16B-8DE9-E33E7F8D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9A7EF3-3B74-6497-9EF9-1B95CBB3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FCFA0-9B2B-A9DC-E537-5E8B5FD8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633BC3-4A12-CB0F-4FEB-2E9F7F76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4F047B-06F7-2556-AA56-D4D64E21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75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664C1F-E48F-99B0-DCDC-C02F31279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E8D2CE-B3E2-08BB-C667-747758CC1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04101-EB1A-9691-D37A-95E0BBCE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EA1CCF-6B20-F290-04F4-FD7A82F6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81AA8-25FB-9341-BEAA-F68ABC30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05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1ED72E-DD0D-ABE7-30C7-EAE87F338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7BA65-D58B-C276-2703-A40F335C4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5D6D1-CD30-A31F-7C86-BF68CCAFE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5CB0D-6FE8-459D-BAEE-63C8D830CFD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AC1279-D546-7490-7D9E-FE17C0665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CB163-B632-3701-42F7-8F65891C8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5CFC-7FA1-4445-99FD-9700EC5098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34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6501" y="1284210"/>
            <a:ext cx="5143500" cy="164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67" b="1" kern="0" spc="3" dirty="0">
                <a:solidFill>
                  <a:srgbClr val="A85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01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6286501" y="1735569"/>
            <a:ext cx="51435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500" b="1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동생 </a:t>
            </a:r>
            <a:r>
              <a:rPr lang="en-US" sz="2500" b="1" smtClean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심부름 : 일상적 </a:t>
            </a:r>
            <a:r>
              <a:rPr lang="en-US" sz="25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피로의 연쇄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6286501" y="2207077"/>
            <a:ext cx="4696521" cy="228460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2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사소한 요구의 누적이 플레이어의 정서적 피로로 이어지는 구조</a:t>
            </a:r>
            <a:endParaRPr lang="en-US" sz="1267" dirty="0"/>
          </a:p>
        </p:txBody>
      </p:sp>
      <p:sp>
        <p:nvSpPr>
          <p:cNvPr id="7" name="Text 3"/>
          <p:cNvSpPr/>
          <p:nvPr/>
        </p:nvSpPr>
        <p:spPr>
          <a:xfrm>
            <a:off x="6515101" y="2813357"/>
            <a:ext cx="3326607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동생의 연락</a:t>
            </a:r>
            <a:endParaRPr lang="en-US" sz="1333" dirty="0"/>
          </a:p>
        </p:txBody>
      </p:sp>
      <p:sp>
        <p:nvSpPr>
          <p:cNvPr id="8" name="Text 4"/>
          <p:cNvSpPr/>
          <p:nvPr/>
        </p:nvSpPr>
        <p:spPr>
          <a:xfrm>
            <a:off x="6515101" y="3108631"/>
            <a:ext cx="3085781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일상의 평화를 깨는 심부름 목표 생성 (과자, 치킨 등)</a:t>
            </a:r>
            <a:endParaRPr lang="en-US" sz="1067" dirty="0"/>
          </a:p>
        </p:txBody>
      </p:sp>
      <p:sp>
        <p:nvSpPr>
          <p:cNvPr id="9" name="Text 5"/>
          <p:cNvSpPr/>
          <p:nvPr/>
        </p:nvSpPr>
        <p:spPr>
          <a:xfrm>
            <a:off x="6515100" y="3679750"/>
            <a:ext cx="3871912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품절과 대기</a:t>
            </a:r>
            <a:endParaRPr lang="en-US" sz="1333" dirty="0"/>
          </a:p>
        </p:txBody>
      </p:sp>
      <p:sp>
        <p:nvSpPr>
          <p:cNvPr id="10" name="Text 6"/>
          <p:cNvSpPr/>
          <p:nvPr/>
        </p:nvSpPr>
        <p:spPr>
          <a:xfrm>
            <a:off x="6515100" y="3975024"/>
            <a:ext cx="3579506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편의점 재입고를 기다리며 발생하는 NPC 간의 미묘한 긴장감</a:t>
            </a:r>
            <a:endParaRPr lang="en-US" sz="1067" dirty="0"/>
          </a:p>
        </p:txBody>
      </p:sp>
      <p:sp>
        <p:nvSpPr>
          <p:cNvPr id="11" name="Text 7"/>
          <p:cNvSpPr/>
          <p:nvPr/>
        </p:nvSpPr>
        <p:spPr>
          <a:xfrm>
            <a:off x="6515100" y="4537001"/>
            <a:ext cx="3140869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구매 경쟁</a:t>
            </a:r>
            <a:endParaRPr lang="en-US" sz="1333" dirty="0"/>
          </a:p>
        </p:txBody>
      </p:sp>
      <p:sp>
        <p:nvSpPr>
          <p:cNvPr id="12" name="Text 8"/>
          <p:cNvSpPr/>
          <p:nvPr/>
        </p:nvSpPr>
        <p:spPr>
          <a:xfrm>
            <a:off x="6515101" y="4832275"/>
            <a:ext cx="2960747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한정된 자원을 두고 벌어지는 일상 속의 작은 투쟁</a:t>
            </a:r>
            <a:endParaRPr lang="en-US" sz="1067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DAAEB8B-4F24-2312-D84A-261D5C093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71501"/>
            <a:ext cx="10668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01 STRATEGY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06680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기획 </a:t>
            </a:r>
            <a:r>
              <a:rPr lang="en-US" sz="3267" b="1" smtClean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의도 : </a:t>
            </a:r>
            <a:r>
              <a:rPr lang="en-US" sz="3267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행동 유도와 인지 구조</a:t>
            </a:r>
            <a:endParaRPr lang="en-US" sz="3267" dirty="0"/>
          </a:p>
        </p:txBody>
      </p:sp>
      <p:sp>
        <p:nvSpPr>
          <p:cNvPr id="5" name="Shape 2"/>
          <p:cNvSpPr/>
          <p:nvPr/>
        </p:nvSpPr>
        <p:spPr>
          <a:xfrm>
            <a:off x="762000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4382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328210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1143000" y="2763980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알바 방송과 배송 트럭 등 환경 요소를 통한 자연스러운 경로 제시로 플레이어의 능동적 참여 유도</a:t>
            </a:r>
            <a:endParaRPr lang="en-US" sz="1133" dirty="0"/>
          </a:p>
        </p:txBody>
      </p:sp>
      <p:sp>
        <p:nvSpPr>
          <p:cNvPr id="9" name="Shape 6"/>
          <p:cNvSpPr/>
          <p:nvPr/>
        </p:nvSpPr>
        <p:spPr>
          <a:xfrm>
            <a:off x="6238875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31256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6619875" y="2328210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6619875" y="2763980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군중 심리 파악 및 자신의 행동이 사건을 유발한다는 인과관계 인지를 통한 전략적 플레이 유도</a:t>
            </a:r>
            <a:endParaRPr lang="en-US" sz="1133" dirty="0"/>
          </a:p>
        </p:txBody>
      </p:sp>
      <p:sp>
        <p:nvSpPr>
          <p:cNvPr id="13" name="Shape 10"/>
          <p:cNvSpPr/>
          <p:nvPr/>
        </p:nvSpPr>
        <p:spPr>
          <a:xfrm>
            <a:off x="762000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4382" y="4339176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872576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정서적 목표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1143000" y="5308345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거절하기 어려운 가족 관계를 활용하여 일상적 피로를 게임 플레이의 핵심 정서로 치환</a:t>
            </a:r>
            <a:endParaRPr lang="en-US" sz="1133" dirty="0"/>
          </a:p>
        </p:txBody>
      </p:sp>
      <p:sp>
        <p:nvSpPr>
          <p:cNvPr id="17" name="Shape 14"/>
          <p:cNvSpPr/>
          <p:nvPr/>
        </p:nvSpPr>
        <p:spPr>
          <a:xfrm>
            <a:off x="6238875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31256" y="4348701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619875" y="4882101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공간의 재해석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6619875" y="5317870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평범한 도시 공간이 사소한 계기로 인해 소비 경쟁의 장으로 변모하는 과정의 시각적 묘사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6480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4029075"/>
            <a:ext cx="111252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A85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02</a:t>
            </a:r>
            <a:endParaRPr lang="en-US" sz="933" dirty="0"/>
          </a:p>
        </p:txBody>
      </p:sp>
      <p:sp>
        <p:nvSpPr>
          <p:cNvPr id="5" name="Text 1"/>
          <p:cNvSpPr/>
          <p:nvPr/>
        </p:nvSpPr>
        <p:spPr>
          <a:xfrm>
            <a:off x="533400" y="4267200"/>
            <a:ext cx="111252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공원 </a:t>
            </a:r>
            <a:r>
              <a:rPr lang="en-US" sz="2400" b="1" smtClean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청소 : </a:t>
            </a:r>
            <a:r>
              <a:rPr lang="en-US" sz="2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선의의 소모와 첫 균열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33400" y="4731092"/>
            <a:ext cx="111252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보상 없는 노동을 통해 세계관의 부조리를 체감하는 단계</a:t>
            </a:r>
            <a:endParaRPr lang="en-US" sz="1267" dirty="0"/>
          </a:p>
        </p:txBody>
      </p:sp>
      <p:sp>
        <p:nvSpPr>
          <p:cNvPr id="7" name="Text 3"/>
          <p:cNvSpPr/>
          <p:nvPr/>
        </p:nvSpPr>
        <p:spPr>
          <a:xfrm>
            <a:off x="533401" y="5516507"/>
            <a:ext cx="3555988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A85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대량의 쓰레기</a:t>
            </a:r>
            <a:endParaRPr lang="en-US" sz="1333" dirty="0"/>
          </a:p>
        </p:txBody>
      </p:sp>
      <p:sp>
        <p:nvSpPr>
          <p:cNvPr id="8" name="Text 4"/>
          <p:cNvSpPr/>
          <p:nvPr/>
        </p:nvSpPr>
        <p:spPr>
          <a:xfrm>
            <a:off x="533401" y="5887983"/>
            <a:ext cx="3555988" cy="379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축제 뒤에 남겨진 방대한 상호작용 오브젝트 배치를 통한 압도적 피로감</a:t>
            </a:r>
            <a:endParaRPr lang="en-US" sz="1067" dirty="0"/>
          </a:p>
        </p:txBody>
      </p:sp>
      <p:sp>
        <p:nvSpPr>
          <p:cNvPr id="9" name="Text 5"/>
          <p:cNvSpPr/>
          <p:nvPr/>
        </p:nvSpPr>
        <p:spPr>
          <a:xfrm>
            <a:off x="4317989" y="5516507"/>
            <a:ext cx="3555988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A85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무한 반복 노동</a:t>
            </a:r>
            <a:endParaRPr lang="en-US" sz="1333" dirty="0"/>
          </a:p>
        </p:txBody>
      </p:sp>
      <p:sp>
        <p:nvSpPr>
          <p:cNvPr id="10" name="Text 6"/>
          <p:cNvSpPr/>
          <p:nvPr/>
        </p:nvSpPr>
        <p:spPr>
          <a:xfrm>
            <a:off x="4317989" y="5887983"/>
            <a:ext cx="3555988" cy="379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치워도 다시 버리는 NPC를 통해 플레이어의 무력감을 극대화하는 설계</a:t>
            </a:r>
            <a:endParaRPr lang="en-US" sz="1067" dirty="0"/>
          </a:p>
        </p:txBody>
      </p:sp>
      <p:sp>
        <p:nvSpPr>
          <p:cNvPr id="11" name="Text 7"/>
          <p:cNvSpPr/>
          <p:nvPr/>
        </p:nvSpPr>
        <p:spPr>
          <a:xfrm>
            <a:off x="8102576" y="5516507"/>
            <a:ext cx="35560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A85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재난의 시작</a:t>
            </a:r>
            <a:endParaRPr lang="en-US" sz="1333" dirty="0"/>
          </a:p>
        </p:txBody>
      </p:sp>
      <p:sp>
        <p:nvSpPr>
          <p:cNvPr id="12" name="Text 8"/>
          <p:cNvSpPr/>
          <p:nvPr/>
        </p:nvSpPr>
        <p:spPr>
          <a:xfrm>
            <a:off x="8102576" y="5887983"/>
            <a:ext cx="3556025" cy="37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청소가 끝나는 순간, 평화롭던 하늘이 뒤틀리며 발생하는 첫 번째 균열</a:t>
            </a:r>
            <a:endParaRPr lang="en-US" sz="10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"/>
          <p:cNvSpPr/>
          <p:nvPr/>
        </p:nvSpPr>
        <p:spPr>
          <a:xfrm>
            <a:off x="762000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6"/>
          <p:cNvSpPr/>
          <p:nvPr/>
        </p:nvSpPr>
        <p:spPr>
          <a:xfrm>
            <a:off x="6238875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10"/>
          <p:cNvSpPr/>
          <p:nvPr/>
        </p:nvSpPr>
        <p:spPr>
          <a:xfrm>
            <a:off x="762000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14"/>
          <p:cNvSpPr/>
          <p:nvPr/>
        </p:nvSpPr>
        <p:spPr>
          <a:xfrm>
            <a:off x="6238875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762000" y="571501"/>
            <a:ext cx="10668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02 STRATEGY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06680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기획 의도: 노동으로 변하는 선의</a:t>
            </a:r>
            <a:endParaRPr lang="en-US" sz="3267" dirty="0"/>
          </a:p>
        </p:txBody>
      </p:sp>
      <p:sp>
        <p:nvSpPr>
          <p:cNvPr id="29" name="Shape 3"/>
          <p:cNvSpPr/>
          <p:nvPr/>
        </p:nvSpPr>
        <p:spPr>
          <a:xfrm>
            <a:off x="754382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7"/>
          <p:cNvSpPr/>
          <p:nvPr/>
        </p:nvSpPr>
        <p:spPr>
          <a:xfrm>
            <a:off x="6231256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Shape 11"/>
          <p:cNvSpPr/>
          <p:nvPr/>
        </p:nvSpPr>
        <p:spPr>
          <a:xfrm>
            <a:off x="754382" y="4339176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15"/>
          <p:cNvSpPr/>
          <p:nvPr/>
        </p:nvSpPr>
        <p:spPr>
          <a:xfrm>
            <a:off x="6231256" y="4348701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4"/>
          <p:cNvSpPr/>
          <p:nvPr/>
        </p:nvSpPr>
        <p:spPr>
          <a:xfrm>
            <a:off x="1150618" y="2328209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</a:t>
            </a:r>
            <a:endParaRPr lang="en-US" sz="1467" dirty="0"/>
          </a:p>
        </p:txBody>
      </p:sp>
      <p:sp>
        <p:nvSpPr>
          <p:cNvPr id="34" name="Text 8"/>
          <p:cNvSpPr/>
          <p:nvPr/>
        </p:nvSpPr>
        <p:spPr>
          <a:xfrm>
            <a:off x="6619875" y="2326774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endParaRPr lang="en-US" sz="1467" dirty="0"/>
          </a:p>
        </p:txBody>
      </p:sp>
      <p:sp>
        <p:nvSpPr>
          <p:cNvPr id="35" name="Text 12"/>
          <p:cNvSpPr/>
          <p:nvPr/>
        </p:nvSpPr>
        <p:spPr>
          <a:xfrm>
            <a:off x="1150617" y="4874087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전환점</a:t>
            </a:r>
            <a:endParaRPr lang="en-US" sz="1467" dirty="0"/>
          </a:p>
        </p:txBody>
      </p:sp>
      <p:sp>
        <p:nvSpPr>
          <p:cNvPr id="36" name="Text 16"/>
          <p:cNvSpPr/>
          <p:nvPr/>
        </p:nvSpPr>
        <p:spPr>
          <a:xfrm>
            <a:off x="6619875" y="4884991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플레이어 정서</a:t>
            </a:r>
            <a:endParaRPr lang="en-US" sz="1467" dirty="0"/>
          </a:p>
        </p:txBody>
      </p:sp>
      <p:sp>
        <p:nvSpPr>
          <p:cNvPr id="37" name="Text 5"/>
          <p:cNvSpPr/>
          <p:nvPr/>
        </p:nvSpPr>
        <p:spPr>
          <a:xfrm>
            <a:off x="1143000" y="2762544"/>
            <a:ext cx="4429125" cy="399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쓰레기 밀집 배치와 분리수거 UI를 통한 명확한 목표 부여로 플레이어의 행동을 특정 지점으로 유도</a:t>
            </a:r>
            <a:endParaRPr lang="en-US" sz="1133" dirty="0"/>
          </a:p>
        </p:txBody>
      </p:sp>
      <p:sp>
        <p:nvSpPr>
          <p:cNvPr id="38" name="Text 9"/>
          <p:cNvSpPr/>
          <p:nvPr/>
        </p:nvSpPr>
        <p:spPr>
          <a:xfrm>
            <a:off x="6619875" y="2762544"/>
            <a:ext cx="4429125" cy="399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자신의 노력이 타인에 의해 무력화되는 과정을 직접 체험하며 세계관의 구조적 불합리를 스스로 인지</a:t>
            </a:r>
            <a:endParaRPr lang="en-US" sz="1133" dirty="0"/>
          </a:p>
        </p:txBody>
      </p:sp>
      <p:sp>
        <p:nvSpPr>
          <p:cNvPr id="39" name="Text 13"/>
          <p:cNvSpPr/>
          <p:nvPr/>
        </p:nvSpPr>
        <p:spPr>
          <a:xfrm>
            <a:off x="1143000" y="5328603"/>
            <a:ext cx="4429125" cy="399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환경의 급격한 변화(하늘, 사운드)를 통해 일상이 재난으로 변하는 전조를 시각적/청각적으로 인식</a:t>
            </a:r>
            <a:endParaRPr lang="en-US" sz="1133" dirty="0"/>
          </a:p>
        </p:txBody>
      </p:sp>
      <p:sp>
        <p:nvSpPr>
          <p:cNvPr id="40" name="Text 17"/>
          <p:cNvSpPr/>
          <p:nvPr/>
        </p:nvSpPr>
        <p:spPr>
          <a:xfrm>
            <a:off x="6619875" y="5338127"/>
            <a:ext cx="4429125" cy="399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선의가 소모되는 세계관에 대한 첫 번째 의구심을 유발하여 향후 전개될 서사에 대한 몰입도 강화</a:t>
            </a:r>
            <a:endParaRPr lang="en-US" sz="11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5245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00751" y="571501"/>
            <a:ext cx="55245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03 SYSTEM</a:t>
            </a:r>
            <a:endParaRPr lang="en-US" sz="933" dirty="0"/>
          </a:p>
        </p:txBody>
      </p:sp>
      <p:sp>
        <p:nvSpPr>
          <p:cNvPr id="5" name="Text 1"/>
          <p:cNvSpPr/>
          <p:nvPr/>
        </p:nvSpPr>
        <p:spPr>
          <a:xfrm>
            <a:off x="6000751" y="988665"/>
            <a:ext cx="55245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500" b="1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재난 </a:t>
            </a:r>
            <a:r>
              <a:rPr lang="en-US" sz="2500" b="1" smtClean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대응 : 시스템적 </a:t>
            </a:r>
            <a:r>
              <a:rPr lang="en-US" sz="25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통제와 사회화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6000752" y="2064991"/>
            <a:ext cx="3904915" cy="205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재난이 구경거리가 되고 선의가 수치화되는 사회적 전환점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000751" y="2688878"/>
            <a:ext cx="2647951" cy="1593420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29351" y="3088928"/>
            <a:ext cx="21907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재난의 소비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29351" y="3442922"/>
            <a:ext cx="2190751" cy="355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균열 주변에 모여든 방송국과 유튜버를 통한 재난의 미디어화 연출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877301" y="2688878"/>
            <a:ext cx="2647951" cy="1593420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05901" y="3088928"/>
            <a:ext cx="21907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괴물화의 진실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05901" y="3442922"/>
            <a:ext cx="2190751" cy="355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선의 수치 0인 인간이 균열에 흡수되어 괴물이 되는 규칙의 시각적 공개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00751" y="4670078"/>
            <a:ext cx="2647951" cy="1593420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29351" y="5070128"/>
            <a:ext cx="21907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선의의 무기화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229351" y="5424122"/>
            <a:ext cx="2190751" cy="352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물리적 공격이 아닌 '선의'로만 괴물을 처치할 수 있는 독특한 기믹 암시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877301" y="4670078"/>
            <a:ext cx="2647951" cy="1593420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05901" y="5070128"/>
            <a:ext cx="21907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시스템의 탄생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05901" y="5424122"/>
            <a:ext cx="2190751" cy="355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선의관리국 설립과 등급화로 인한 새로운 사회적 통제 메커니즘의 시작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762000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6"/>
          <p:cNvSpPr/>
          <p:nvPr/>
        </p:nvSpPr>
        <p:spPr>
          <a:xfrm>
            <a:off x="6238875" y="1794810"/>
            <a:ext cx="5191125" cy="19260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762000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38875" y="4339177"/>
            <a:ext cx="5191125" cy="193417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3"/>
          <p:cNvSpPr/>
          <p:nvPr/>
        </p:nvSpPr>
        <p:spPr>
          <a:xfrm>
            <a:off x="754382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7"/>
          <p:cNvSpPr/>
          <p:nvPr/>
        </p:nvSpPr>
        <p:spPr>
          <a:xfrm>
            <a:off x="6231256" y="1794810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11"/>
          <p:cNvSpPr/>
          <p:nvPr/>
        </p:nvSpPr>
        <p:spPr>
          <a:xfrm>
            <a:off x="754382" y="4339176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15"/>
          <p:cNvSpPr/>
          <p:nvPr/>
        </p:nvSpPr>
        <p:spPr>
          <a:xfrm>
            <a:off x="6231256" y="4348701"/>
            <a:ext cx="45719" cy="19260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0"/>
          <p:cNvSpPr/>
          <p:nvPr/>
        </p:nvSpPr>
        <p:spPr>
          <a:xfrm>
            <a:off x="762000" y="571501"/>
            <a:ext cx="10668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03 STRATEGY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06680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기획 의도: 재난의 소비와 등급화</a:t>
            </a:r>
            <a:endParaRPr lang="en-US" sz="3267" dirty="0"/>
          </a:p>
        </p:txBody>
      </p:sp>
      <p:sp>
        <p:nvSpPr>
          <p:cNvPr id="27" name="Text 3"/>
          <p:cNvSpPr/>
          <p:nvPr/>
        </p:nvSpPr>
        <p:spPr>
          <a:xfrm>
            <a:off x="1143000" y="2328210"/>
            <a:ext cx="4610100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</a:t>
            </a:r>
            <a:endParaRPr lang="en-US" sz="1467" dirty="0"/>
          </a:p>
        </p:txBody>
      </p:sp>
      <p:sp>
        <p:nvSpPr>
          <p:cNvPr id="28" name="Text 4"/>
          <p:cNvSpPr/>
          <p:nvPr/>
        </p:nvSpPr>
        <p:spPr>
          <a:xfrm>
            <a:off x="1143000" y="2725880"/>
            <a:ext cx="4610100" cy="37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통제선, 카메라, 경찰의 방심 연출을 통해 플레이어가 재난 현장의 긴장감과 시스템적 통제를 동시에 느끼도록 유도</a:t>
            </a:r>
            <a:endParaRPr lang="en-US" sz="1067" dirty="0"/>
          </a:p>
        </p:txBody>
      </p:sp>
      <p:sp>
        <p:nvSpPr>
          <p:cNvPr id="29" name="Text 6"/>
          <p:cNvSpPr/>
          <p:nvPr/>
        </p:nvSpPr>
        <p:spPr>
          <a:xfrm>
            <a:off x="6591300" y="2328210"/>
            <a:ext cx="4610100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endParaRPr lang="en-US" sz="1467" dirty="0"/>
          </a:p>
        </p:txBody>
      </p:sp>
      <p:sp>
        <p:nvSpPr>
          <p:cNvPr id="30" name="Text 7"/>
          <p:cNvSpPr/>
          <p:nvPr/>
        </p:nvSpPr>
        <p:spPr>
          <a:xfrm>
            <a:off x="6591300" y="2725880"/>
            <a:ext cx="4610100" cy="37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괴물 발생 원인을 추론하고, 개인의 '선의' 수치가 단순한 도덕이 아닌 사회적 정보로 전환됨을 인지하는 단계</a:t>
            </a:r>
            <a:endParaRPr lang="en-US" sz="1067" dirty="0"/>
          </a:p>
        </p:txBody>
      </p:sp>
      <p:sp>
        <p:nvSpPr>
          <p:cNvPr id="31" name="Text 9"/>
          <p:cNvSpPr/>
          <p:nvPr/>
        </p:nvSpPr>
        <p:spPr>
          <a:xfrm>
            <a:off x="1143000" y="4891626"/>
            <a:ext cx="4610100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사회적 강요</a:t>
            </a:r>
            <a:endParaRPr lang="en-US" sz="1467" dirty="0"/>
          </a:p>
        </p:txBody>
      </p:sp>
      <p:sp>
        <p:nvSpPr>
          <p:cNvPr id="32" name="Text 10"/>
          <p:cNvSpPr/>
          <p:nvPr/>
        </p:nvSpPr>
        <p:spPr>
          <a:xfrm>
            <a:off x="1143000" y="5289296"/>
            <a:ext cx="4610100" cy="37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주인공의 비정상적 수치가 공개되며 발생하는 영웅적 행동에 대한 대중의 압박과 시선을 게임 메커니즘으로 구현</a:t>
            </a:r>
            <a:endParaRPr lang="en-US" sz="1067" dirty="0"/>
          </a:p>
        </p:txBody>
      </p:sp>
      <p:sp>
        <p:nvSpPr>
          <p:cNvPr id="33" name="Text 12"/>
          <p:cNvSpPr/>
          <p:nvPr/>
        </p:nvSpPr>
        <p:spPr>
          <a:xfrm>
            <a:off x="6591300" y="4901151"/>
            <a:ext cx="4610100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제도적 흐름</a:t>
            </a:r>
            <a:endParaRPr lang="en-US" sz="1467" dirty="0"/>
          </a:p>
        </p:txBody>
      </p:sp>
      <p:sp>
        <p:nvSpPr>
          <p:cNvPr id="34" name="Text 13"/>
          <p:cNvSpPr/>
          <p:nvPr/>
        </p:nvSpPr>
        <p:spPr>
          <a:xfrm>
            <a:off x="6591300" y="5298820"/>
            <a:ext cx="4610100" cy="37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안내문과 측정소를 통해 세계가 도덕적 자율성에서 시스템적 통제로 변해가는 과정을 서사적으로 전달</a:t>
            </a:r>
            <a:endParaRPr lang="en-US" sz="10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122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47625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0" y="762001"/>
            <a:ext cx="6096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04</a:t>
            </a:r>
            <a:endParaRPr lang="en-US" sz="933" dirty="0"/>
          </a:p>
        </p:txBody>
      </p:sp>
      <p:sp>
        <p:nvSpPr>
          <p:cNvPr id="5" name="Text 1"/>
          <p:cNvSpPr/>
          <p:nvPr/>
        </p:nvSpPr>
        <p:spPr>
          <a:xfrm>
            <a:off x="5334000" y="1191927"/>
            <a:ext cx="6096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500" b="1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폐교 </a:t>
            </a:r>
            <a:r>
              <a:rPr lang="en-US" sz="2500" b="1" smtClean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챕터 : 트라우마의 </a:t>
            </a:r>
            <a:r>
              <a:rPr lang="en-US" sz="25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시각화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5095963" y="1667567"/>
            <a:ext cx="4961016" cy="224100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2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보스의 과거 서사를 공간과 퍼즐을 통해 직접 체험하는 서사적 단계</a:t>
            </a:r>
            <a:endParaRPr lang="en-US" sz="1267" dirty="0"/>
          </a:p>
        </p:txBody>
      </p:sp>
      <p:sp>
        <p:nvSpPr>
          <p:cNvPr id="7" name="Text 3"/>
          <p:cNvSpPr/>
          <p:nvPr/>
        </p:nvSpPr>
        <p:spPr>
          <a:xfrm>
            <a:off x="5638800" y="2923222"/>
            <a:ext cx="40386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기억의 공간</a:t>
            </a:r>
            <a:endParaRPr lang="en-US" sz="1333" dirty="0"/>
          </a:p>
        </p:txBody>
      </p:sp>
      <p:sp>
        <p:nvSpPr>
          <p:cNvPr id="8" name="Text 4"/>
          <p:cNvSpPr/>
          <p:nvPr/>
        </p:nvSpPr>
        <p:spPr>
          <a:xfrm>
            <a:off x="5638801" y="3218497"/>
            <a:ext cx="3786293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현실의 폐교와 과거의 학교를 오가며 드러나는 숨겨진 단서 수집</a:t>
            </a:r>
            <a:endParaRPr lang="en-US" sz="1067" dirty="0"/>
          </a:p>
        </p:txBody>
      </p:sp>
      <p:sp>
        <p:nvSpPr>
          <p:cNvPr id="9" name="Text 5"/>
          <p:cNvSpPr/>
          <p:nvPr/>
        </p:nvSpPr>
        <p:spPr>
          <a:xfrm>
            <a:off x="5638800" y="3827574"/>
            <a:ext cx="3957637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고립의 정서</a:t>
            </a:r>
            <a:endParaRPr lang="en-US" sz="1333" dirty="0"/>
          </a:p>
        </p:txBody>
      </p:sp>
      <p:sp>
        <p:nvSpPr>
          <p:cNvPr id="10" name="Text 6"/>
          <p:cNvSpPr/>
          <p:nvPr/>
        </p:nvSpPr>
        <p:spPr>
          <a:xfrm>
            <a:off x="5638801" y="4122849"/>
            <a:ext cx="3725379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급식소 미니게임을 통해 학교폭력과 소외감을 정서적으로 체험</a:t>
            </a:r>
            <a:endParaRPr lang="en-US" sz="1067" dirty="0"/>
          </a:p>
        </p:txBody>
      </p:sp>
      <p:sp>
        <p:nvSpPr>
          <p:cNvPr id="11" name="Text 7"/>
          <p:cNvSpPr/>
          <p:nvPr/>
        </p:nvSpPr>
        <p:spPr>
          <a:xfrm>
            <a:off x="5638801" y="4731926"/>
            <a:ext cx="3855244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회피와 은신</a:t>
            </a:r>
            <a:endParaRPr lang="en-US" sz="1333" dirty="0"/>
          </a:p>
        </p:txBody>
      </p:sp>
      <p:sp>
        <p:nvSpPr>
          <p:cNvPr id="12" name="Text 8"/>
          <p:cNvSpPr/>
          <p:nvPr/>
        </p:nvSpPr>
        <p:spPr>
          <a:xfrm>
            <a:off x="5638801" y="5027201"/>
            <a:ext cx="3642023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환영체로부터 숨는 기믹을 통해 보스의 트라우마적 공포 학습</a:t>
            </a:r>
            <a:endParaRPr lang="en-US" sz="1067" dirty="0"/>
          </a:p>
        </p:txBody>
      </p:sp>
      <p:sp>
        <p:nvSpPr>
          <p:cNvPr id="13" name="Text 9"/>
          <p:cNvSpPr/>
          <p:nvPr/>
        </p:nvSpPr>
        <p:spPr>
          <a:xfrm>
            <a:off x="5638801" y="5636278"/>
            <a:ext cx="44672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관계의 회복</a:t>
            </a:r>
            <a:endParaRPr lang="en-US" sz="1333" dirty="0"/>
          </a:p>
        </p:txBody>
      </p:sp>
      <p:sp>
        <p:nvSpPr>
          <p:cNvPr id="14" name="Text 10"/>
          <p:cNvSpPr/>
          <p:nvPr/>
        </p:nvSpPr>
        <p:spPr>
          <a:xfrm>
            <a:off x="5638801" y="5931553"/>
            <a:ext cx="4195059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우정 목걸이를 매개로 보스의 인간성을 확인하고 원형을 회복하는 연출</a:t>
            </a:r>
            <a:endParaRPr lang="en-US" sz="10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71501"/>
            <a:ext cx="10668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A85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04 STRATEGY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06680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기획 의도: 공간에 분산된 서사</a:t>
            </a:r>
            <a:endParaRPr lang="en-US" sz="3267" dirty="0"/>
          </a:p>
        </p:txBody>
      </p:sp>
      <p:sp>
        <p:nvSpPr>
          <p:cNvPr id="5" name="Shape 2"/>
          <p:cNvSpPr/>
          <p:nvPr/>
        </p:nvSpPr>
        <p:spPr>
          <a:xfrm>
            <a:off x="762000" y="1940720"/>
            <a:ext cx="5191125" cy="1807302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38875" y="1940720"/>
            <a:ext cx="5191125" cy="1807302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62000" y="4532710"/>
            <a:ext cx="5191125" cy="18147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238875" y="4532710"/>
            <a:ext cx="5191125" cy="18147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1" name="Text 3"/>
          <p:cNvSpPr/>
          <p:nvPr/>
        </p:nvSpPr>
        <p:spPr>
          <a:xfrm>
            <a:off x="1143000" y="2326774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 (안내)</a:t>
            </a:r>
            <a:endParaRPr lang="en-US" sz="1467" dirty="0"/>
          </a:p>
        </p:txBody>
      </p:sp>
      <p:sp>
        <p:nvSpPr>
          <p:cNvPr id="22" name="Text 4"/>
          <p:cNvSpPr/>
          <p:nvPr/>
        </p:nvSpPr>
        <p:spPr>
          <a:xfrm>
            <a:off x="1143000" y="2762543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 손잡이의 흔적, 숨기 UI, 시야 흔적 등 환경적 단서를 통해 플레이어의 행동과 기믹 활용 유도</a:t>
            </a:r>
            <a:endParaRPr lang="en-US" sz="1133" dirty="0"/>
          </a:p>
        </p:txBody>
      </p:sp>
      <p:sp>
        <p:nvSpPr>
          <p:cNvPr id="23" name="Text 6"/>
          <p:cNvSpPr/>
          <p:nvPr/>
        </p:nvSpPr>
        <p:spPr>
          <a:xfrm>
            <a:off x="6619875" y="2326774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 (인지)</a:t>
            </a:r>
            <a:endParaRPr lang="en-US" sz="1467" dirty="0"/>
          </a:p>
        </p:txBody>
      </p:sp>
      <p:sp>
        <p:nvSpPr>
          <p:cNvPr id="24" name="Text 7"/>
          <p:cNvSpPr/>
          <p:nvPr/>
        </p:nvSpPr>
        <p:spPr>
          <a:xfrm>
            <a:off x="6619875" y="2762543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과거의 고통스러운 기억과 현재의 괴물화 사이의 연결 고리를 공간 배치를 통해 스스로 파악하게 함</a:t>
            </a:r>
            <a:endParaRPr lang="en-US" sz="1133" dirty="0"/>
          </a:p>
        </p:txBody>
      </p:sp>
      <p:sp>
        <p:nvSpPr>
          <p:cNvPr id="25" name="Text 9"/>
          <p:cNvSpPr/>
          <p:nvPr/>
        </p:nvSpPr>
        <p:spPr>
          <a:xfrm>
            <a:off x="1143000" y="4868758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기믹 인식</a:t>
            </a:r>
            <a:endParaRPr lang="en-US" sz="1467" dirty="0"/>
          </a:p>
        </p:txBody>
      </p:sp>
      <p:sp>
        <p:nvSpPr>
          <p:cNvPr id="26" name="Text 10"/>
          <p:cNvSpPr/>
          <p:nvPr/>
        </p:nvSpPr>
        <p:spPr>
          <a:xfrm>
            <a:off x="1143000" y="5313749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우정 목걸이의 반복 노출과 상호작용을 통해 보스전의 핵심 해결 방식과 정서적 키워드 암시</a:t>
            </a:r>
            <a:endParaRPr lang="en-US" sz="1133" dirty="0"/>
          </a:p>
        </p:txBody>
      </p:sp>
      <p:sp>
        <p:nvSpPr>
          <p:cNvPr id="27" name="Text 12"/>
          <p:cNvSpPr/>
          <p:nvPr/>
        </p:nvSpPr>
        <p:spPr>
          <a:xfrm>
            <a:off x="6619875" y="4878283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서사적 체험</a:t>
            </a:r>
            <a:endParaRPr lang="en-US" sz="1467" dirty="0"/>
          </a:p>
        </p:txBody>
      </p:sp>
      <p:sp>
        <p:nvSpPr>
          <p:cNvPr id="28" name="Text 13"/>
          <p:cNvSpPr/>
          <p:nvPr/>
        </p:nvSpPr>
        <p:spPr>
          <a:xfrm>
            <a:off x="6619875" y="5323274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직접적인 텍스트 설명이 아닌, 공간의 배치와 연출을 통해 보스의 서사를 직접 '읽고' 느끼게 하는 설계</a:t>
            </a:r>
            <a:endParaRPr lang="en-US" sz="11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11430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A85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05 FINAL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1430000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균열 탐색:
자기분열과 정체성 혼란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62000" y="2100263"/>
            <a:ext cx="114300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주인공의 내면적 갈등과 선의 소진을 미로 구조로 형상화</a:t>
            </a:r>
            <a:endParaRPr lang="en-US" sz="1267" dirty="0"/>
          </a:p>
        </p:txBody>
      </p:sp>
      <p:sp>
        <p:nvSpPr>
          <p:cNvPr id="6" name="Shape 3"/>
          <p:cNvSpPr/>
          <p:nvPr/>
        </p:nvSpPr>
        <p:spPr>
          <a:xfrm>
            <a:off x="762001" y="2767012"/>
            <a:ext cx="6210300" cy="3519487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34251" y="2481263"/>
            <a:ext cx="4095751" cy="9448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7334251" y="2481263"/>
            <a:ext cx="38100" cy="9448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6"/>
          <p:cNvSpPr/>
          <p:nvPr/>
        </p:nvSpPr>
        <p:spPr>
          <a:xfrm>
            <a:off x="7505700" y="2767012"/>
            <a:ext cx="37528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거울 미로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505700" y="3052763"/>
            <a:ext cx="3752851" cy="329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현실의 감각이 뒤틀린 공간에서 마주하는 또 다른 자신(환영)과의 조우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34251" y="3540398"/>
            <a:ext cx="4095751" cy="9448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7334251" y="3540398"/>
            <a:ext cx="38100" cy="9448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0"/>
          <p:cNvSpPr/>
          <p:nvPr/>
        </p:nvSpPr>
        <p:spPr>
          <a:xfrm>
            <a:off x="7505700" y="3826148"/>
            <a:ext cx="37528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자기 압박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505700" y="4111898"/>
            <a:ext cx="3752851" cy="329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앞뒤로 조여오는 환영을 통해 주인공이 느끼는 사회적 압박의 시각화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34251" y="4599534"/>
            <a:ext cx="4095751" cy="9448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334251" y="4599534"/>
            <a:ext cx="38100" cy="9448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4"/>
          <p:cNvSpPr/>
          <p:nvPr/>
        </p:nvSpPr>
        <p:spPr>
          <a:xfrm>
            <a:off x="7505700" y="4885283"/>
            <a:ext cx="37528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왜곡의 파괴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505700" y="5171034"/>
            <a:ext cx="3752851" cy="1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전신 거울을 파괴함으로써 뒤틀린 자기 인식을 바로잡는 핵심 기믹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34251" y="5658669"/>
            <a:ext cx="4095751" cy="9448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7334251" y="5658669"/>
            <a:ext cx="38100" cy="9448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18"/>
          <p:cNvSpPr/>
          <p:nvPr/>
        </p:nvSpPr>
        <p:spPr>
          <a:xfrm>
            <a:off x="7505700" y="5944419"/>
            <a:ext cx="37528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선의의 종말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505700" y="6230169"/>
            <a:ext cx="3752851" cy="161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균열 심층에서 발견하는 '껍데기 사람들'을 통한 선의 고갈의 경고</a:t>
            </a:r>
            <a:endParaRPr lang="en-US" sz="10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F12154B-8A4F-67BA-DDE9-75CEF8B27B4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8" y="2826940"/>
            <a:ext cx="6204820" cy="3463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71501"/>
            <a:ext cx="10668000" cy="14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33" b="1" kern="0" spc="3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 05 STRATEGY</a:t>
            </a:r>
            <a:endParaRPr lang="en-US" sz="933" dirty="0"/>
          </a:p>
        </p:txBody>
      </p:sp>
      <p:sp>
        <p:nvSpPr>
          <p:cNvPr id="4" name="Text 1"/>
          <p:cNvSpPr/>
          <p:nvPr/>
        </p:nvSpPr>
        <p:spPr>
          <a:xfrm>
            <a:off x="762000" y="847725"/>
            <a:ext cx="106680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기획 의도: 내면의 붕괴와 왜곡</a:t>
            </a:r>
            <a:endParaRPr lang="en-US" sz="3267" dirty="0"/>
          </a:p>
        </p:txBody>
      </p:sp>
      <p:sp>
        <p:nvSpPr>
          <p:cNvPr id="5" name="Shape 2"/>
          <p:cNvSpPr/>
          <p:nvPr/>
        </p:nvSpPr>
        <p:spPr>
          <a:xfrm>
            <a:off x="762000" y="1940719"/>
            <a:ext cx="5191125" cy="231576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001" y="1940719"/>
            <a:ext cx="38100" cy="2296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Shape 6"/>
          <p:cNvSpPr/>
          <p:nvPr/>
        </p:nvSpPr>
        <p:spPr>
          <a:xfrm>
            <a:off x="6238875" y="1940719"/>
            <a:ext cx="5191125" cy="231576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38875" y="1940719"/>
            <a:ext cx="38100" cy="2296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Shape 10"/>
          <p:cNvSpPr/>
          <p:nvPr/>
        </p:nvSpPr>
        <p:spPr>
          <a:xfrm>
            <a:off x="762000" y="4532709"/>
            <a:ext cx="5191125" cy="232529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2001" y="4532710"/>
            <a:ext cx="38100" cy="2296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Shape 14"/>
          <p:cNvSpPr/>
          <p:nvPr/>
        </p:nvSpPr>
        <p:spPr>
          <a:xfrm>
            <a:off x="6238875" y="4532709"/>
            <a:ext cx="5191125" cy="232529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38875" y="4542235"/>
            <a:ext cx="38100" cy="2296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4"/>
          <p:cNvSpPr/>
          <p:nvPr/>
        </p:nvSpPr>
        <p:spPr>
          <a:xfrm>
            <a:off x="1143000" y="2326774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 (안내)</a:t>
            </a:r>
            <a:endParaRPr lang="en-US" sz="1467" dirty="0"/>
          </a:p>
        </p:txBody>
      </p:sp>
      <p:sp>
        <p:nvSpPr>
          <p:cNvPr id="26" name="Text 5"/>
          <p:cNvSpPr/>
          <p:nvPr/>
        </p:nvSpPr>
        <p:spPr>
          <a:xfrm>
            <a:off x="1143000" y="2762542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뒤집힌 표지판, 거울의 노이즈, 반복되는 발자국 등 환경적 모순을 통해 플레이어의 혼란과 탐색 유도</a:t>
            </a:r>
            <a:endParaRPr lang="en-US" sz="1133" dirty="0"/>
          </a:p>
        </p:txBody>
      </p:sp>
      <p:sp>
        <p:nvSpPr>
          <p:cNvPr id="27" name="Text 8"/>
          <p:cNvSpPr/>
          <p:nvPr/>
        </p:nvSpPr>
        <p:spPr>
          <a:xfrm>
            <a:off x="6619875" y="2326774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 (인지)</a:t>
            </a:r>
            <a:endParaRPr lang="en-US" sz="1467" dirty="0"/>
          </a:p>
        </p:txBody>
      </p:sp>
      <p:sp>
        <p:nvSpPr>
          <p:cNvPr id="28" name="Text 9"/>
          <p:cNvSpPr/>
          <p:nvPr/>
        </p:nvSpPr>
        <p:spPr>
          <a:xfrm>
            <a:off x="6619875" y="2762542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플레이어가 자기 자신과 대립하고 있음을 이해하고, 사회적 자아와 본래 자아 사이의 정체성 혼란을 인지</a:t>
            </a:r>
            <a:endParaRPr lang="en-US" sz="1133" dirty="0"/>
          </a:p>
        </p:txBody>
      </p:sp>
      <p:sp>
        <p:nvSpPr>
          <p:cNvPr id="29" name="Text 12"/>
          <p:cNvSpPr/>
          <p:nvPr/>
        </p:nvSpPr>
        <p:spPr>
          <a:xfrm>
            <a:off x="1143000" y="4878283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시각적 해석</a:t>
            </a:r>
            <a:endParaRPr lang="en-US" sz="1467" dirty="0"/>
          </a:p>
        </p:txBody>
      </p:sp>
      <p:sp>
        <p:nvSpPr>
          <p:cNvPr id="30" name="Text 13"/>
          <p:cNvSpPr/>
          <p:nvPr/>
        </p:nvSpPr>
        <p:spPr>
          <a:xfrm>
            <a:off x="1143000" y="5314051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바다 위 껍데기 사람들을 통해 선의 소진이 가져오는 비인간화의 결과를 직관적이고 충격적으로 전달</a:t>
            </a:r>
            <a:endParaRPr lang="en-US" sz="1133" dirty="0"/>
          </a:p>
        </p:txBody>
      </p:sp>
      <p:sp>
        <p:nvSpPr>
          <p:cNvPr id="31" name="Text 16"/>
          <p:cNvSpPr/>
          <p:nvPr/>
        </p:nvSpPr>
        <p:spPr>
          <a:xfrm>
            <a:off x="6619875" y="4868758"/>
            <a:ext cx="4429125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플레이의 결론</a:t>
            </a:r>
            <a:endParaRPr lang="en-US" sz="1467" dirty="0"/>
          </a:p>
        </p:txBody>
      </p:sp>
      <p:sp>
        <p:nvSpPr>
          <p:cNvPr id="32" name="Text 17"/>
          <p:cNvSpPr/>
          <p:nvPr/>
        </p:nvSpPr>
        <p:spPr>
          <a:xfrm>
            <a:off x="6619875" y="5304527"/>
            <a:ext cx="4429125" cy="42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3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방향 감각의 회복 과정을 통해 자신의 주체적 행동과 사회적 강요 사이의 관계를 명확히 인식하며 퀘스트 마무리</a:t>
            </a:r>
            <a:endParaRPr lang="en-US" sz="1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691</Words>
  <Application>Microsoft Office PowerPoint</Application>
  <PresentationFormat>와이드스크린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Inter</vt:lpstr>
      <vt:lpstr>Inter Bold</vt:lpstr>
      <vt:lpstr>Inter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FullName</cp:lastModifiedBy>
  <cp:revision>3</cp:revision>
  <dcterms:created xsi:type="dcterms:W3CDTF">2026-06-22T01:52:09Z</dcterms:created>
  <dcterms:modified xsi:type="dcterms:W3CDTF">2026-06-22T04:50:01Z</dcterms:modified>
</cp:coreProperties>
</file>