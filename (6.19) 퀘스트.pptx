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57" r:id="rId5"/>
    <p:sldId id="282" r:id="rId6"/>
    <p:sldId id="261" r:id="rId7"/>
    <p:sldId id="267" r:id="rId8"/>
    <p:sldId id="262" r:id="rId9"/>
    <p:sldId id="268" r:id="rId10"/>
    <p:sldId id="263" r:id="rId11"/>
    <p:sldId id="269" r:id="rId12"/>
    <p:sldId id="264" r:id="rId13"/>
    <p:sldId id="270" r:id="rId14"/>
    <p:sldId id="265" r:id="rId15"/>
    <p:sldId id="281" r:id="rId16"/>
    <p:sldId id="271" r:id="rId17"/>
    <p:sldId id="266" r:id="rId18"/>
    <p:sldId id="283" r:id="rId19"/>
    <p:sldId id="284" r:id="rId20"/>
    <p:sldId id="286" r:id="rId21"/>
    <p:sldId id="287" r:id="rId22"/>
    <p:sldId id="272" r:id="rId23"/>
    <p:sldId id="285" r:id="rId24"/>
    <p:sldId id="273" r:id="rId25"/>
    <p:sldId id="274" r:id="rId26"/>
    <p:sldId id="275" r:id="rId27"/>
    <p:sldId id="276" r:id="rId28"/>
    <p:sldId id="277" r:id="rId29"/>
    <p:sldId id="288" r:id="rId30"/>
    <p:sldId id="278" r:id="rId31"/>
    <p:sldId id="291" r:id="rId32"/>
    <p:sldId id="290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5" d="100"/>
          <a:sy n="55" d="100"/>
        </p:scale>
        <p:origin x="270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74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49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05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72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85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11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38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34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696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67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9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8DBEE-582D-4029-8A24-5D9C92B7794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B18AE-8711-492D-8370-A6F5A19C4D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00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4616"/>
            <a:ext cx="7620000" cy="63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5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88163"/>
            <a:ext cx="9296400" cy="648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9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0578"/>
            <a:ext cx="9144000" cy="641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6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1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mtClean="0"/>
              <a:t>게임이 지닌 상황을 리드 </a:t>
            </a:r>
            <a:r>
              <a:rPr lang="en-US" altLang="ko-KR" smtClean="0"/>
              <a:t>+ </a:t>
            </a:r>
            <a:r>
              <a:rPr lang="ko-KR" altLang="en-US" smtClean="0"/>
              <a:t>리딩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여기서 </a:t>
            </a:r>
            <a:r>
              <a:rPr lang="en-US" altLang="ko-KR" smtClean="0"/>
              <a:t>‘</a:t>
            </a:r>
            <a:r>
              <a:rPr lang="ko-KR" altLang="en-US" smtClean="0"/>
              <a:t>조건</a:t>
            </a:r>
            <a:r>
              <a:rPr lang="en-US" altLang="ko-KR" smtClean="0"/>
              <a:t>＇</a:t>
            </a:r>
            <a:r>
              <a:rPr lang="ko-KR" altLang="en-US" smtClean="0"/>
              <a:t>이 매우 중요</a:t>
            </a:r>
            <a:endParaRPr lang="en-US" altLang="ko-KR" smtClean="0"/>
          </a:p>
          <a:p>
            <a:r>
              <a:rPr lang="en-US" altLang="ko-KR" smtClean="0"/>
              <a:t>‘</a:t>
            </a:r>
            <a:r>
              <a:rPr lang="ko-KR" altLang="en-US" smtClean="0"/>
              <a:t>상황</a:t>
            </a:r>
            <a:r>
              <a:rPr lang="en-US" altLang="ko-KR" smtClean="0"/>
              <a:t>‘ =  </a:t>
            </a:r>
            <a:r>
              <a:rPr lang="ko-KR" altLang="en-US" smtClean="0"/>
              <a:t>등장인물 </a:t>
            </a:r>
            <a:r>
              <a:rPr lang="en-US" altLang="ko-KR" smtClean="0"/>
              <a:t>+ </a:t>
            </a:r>
            <a:r>
              <a:rPr lang="ko-KR" altLang="en-US" smtClean="0"/>
              <a:t>등장무대 </a:t>
            </a:r>
            <a:r>
              <a:rPr lang="en-US" altLang="ko-KR" smtClean="0"/>
              <a:t>+ </a:t>
            </a:r>
            <a:r>
              <a:rPr lang="ko-KR" altLang="en-US" smtClean="0"/>
              <a:t>대본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게임 디자인 이론도 퀘스트를 만들 때 필요하다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영화를 보듯이 읽어주는 게 대세</a:t>
            </a:r>
            <a:endParaRPr lang="en-US" altLang="ko-KR"/>
          </a:p>
          <a:p>
            <a:r>
              <a:rPr lang="ko-KR" altLang="en-US" smtClean="0"/>
              <a:t>따라서 연출</a:t>
            </a:r>
            <a:r>
              <a:rPr lang="en-US" altLang="ko-KR" smtClean="0"/>
              <a:t>(cinematic + narrative)</a:t>
            </a:r>
          </a:p>
          <a:p>
            <a:endParaRPr lang="en-US" altLang="ko-KR"/>
          </a:p>
          <a:p>
            <a:r>
              <a:rPr lang="ko-KR" altLang="en-US" smtClean="0"/>
              <a:t>따라서 </a:t>
            </a:r>
            <a:r>
              <a:rPr lang="en-US" altLang="ko-KR" smtClean="0"/>
              <a:t>Quest = </a:t>
            </a:r>
            <a:r>
              <a:rPr lang="ko-KR" altLang="en-US" smtClean="0"/>
              <a:t>리드 콘텐츠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168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920" y="1102129"/>
            <a:ext cx="7002160" cy="465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0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(1) </a:t>
            </a:r>
            <a:r>
              <a:rPr lang="ko-KR" altLang="en-US" smtClean="0"/>
              <a:t>시나리오</a:t>
            </a:r>
            <a:endParaRPr lang="en-US" altLang="ko-KR" smtClean="0"/>
          </a:p>
          <a:p>
            <a:r>
              <a:rPr lang="ko-KR" altLang="en-US" smtClean="0"/>
              <a:t>콘텐츠의 당위성을 부여하는 영역</a:t>
            </a:r>
            <a:endParaRPr lang="en-US" altLang="ko-KR" smtClean="0"/>
          </a:p>
          <a:p>
            <a:r>
              <a:rPr lang="ko-KR" altLang="en-US" smtClean="0"/>
              <a:t>시나리오에서 설계적인 요령</a:t>
            </a:r>
            <a:endParaRPr lang="en-US" altLang="ko-KR" smtClean="0"/>
          </a:p>
          <a:p>
            <a:pPr lvl="1"/>
            <a:r>
              <a:rPr lang="ko-KR" altLang="en-US" smtClean="0"/>
              <a:t>보스 </a:t>
            </a:r>
            <a:r>
              <a:rPr lang="en-US" altLang="ko-KR" smtClean="0"/>
              <a:t>=&gt; </a:t>
            </a:r>
            <a:r>
              <a:rPr lang="ko-KR" altLang="en-US" smtClean="0"/>
              <a:t>이야기상에서 </a:t>
            </a:r>
            <a:r>
              <a:rPr lang="en-US" altLang="ko-KR" b="1" smtClean="0">
                <a:solidFill>
                  <a:schemeClr val="accent4"/>
                </a:solidFill>
              </a:rPr>
              <a:t>‘</a:t>
            </a:r>
            <a:r>
              <a:rPr lang="ko-KR" altLang="en-US" b="1" smtClean="0">
                <a:solidFill>
                  <a:schemeClr val="accent4"/>
                </a:solidFill>
              </a:rPr>
              <a:t>과거</a:t>
            </a:r>
            <a:r>
              <a:rPr lang="en-US" altLang="ko-KR" b="1" smtClean="0">
                <a:solidFill>
                  <a:schemeClr val="accent4"/>
                </a:solidFill>
              </a:rPr>
              <a:t>’</a:t>
            </a:r>
            <a:r>
              <a:rPr lang="ko-KR" altLang="en-US" smtClean="0"/>
              <a:t>를 주로 얘기한다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 </a:t>
            </a:r>
            <a:r>
              <a:rPr lang="ko-KR" altLang="en-US" smtClean="0"/>
              <a:t>보스의 퀘스트들이 대부분 그렇다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 </a:t>
            </a:r>
            <a:r>
              <a:rPr lang="ko-KR" altLang="en-US" smtClean="0"/>
              <a:t>보스가 한 잘못이 있기 때문에 주인공에게 혼나야 하는 것</a:t>
            </a:r>
            <a:endParaRPr lang="en-US" altLang="ko-KR" smtClean="0"/>
          </a:p>
          <a:p>
            <a:pPr lvl="1"/>
            <a:r>
              <a:rPr lang="en-US" altLang="ko-KR" smtClean="0"/>
              <a:t>NPC Hero =&gt; </a:t>
            </a:r>
            <a:r>
              <a:rPr lang="ko-KR" altLang="en-US" smtClean="0"/>
              <a:t>플레이어 캐릭터가 복장</a:t>
            </a:r>
            <a:r>
              <a:rPr lang="en-US" altLang="ko-KR" smtClean="0"/>
              <a:t>/</a:t>
            </a:r>
            <a:r>
              <a:rPr lang="ko-KR" altLang="en-US" smtClean="0"/>
              <a:t>무기</a:t>
            </a:r>
            <a:r>
              <a:rPr lang="en-US" altLang="ko-KR" smtClean="0"/>
              <a:t>/</a:t>
            </a:r>
            <a:r>
              <a:rPr lang="ko-KR" altLang="en-US" smtClean="0"/>
              <a:t>아이템을 이들에게서 구해서 사용해야 하기 때문에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	</a:t>
            </a:r>
            <a:r>
              <a:rPr lang="ko-KR" altLang="en-US" smtClean="0"/>
              <a:t>이들의 퀘스트는 </a:t>
            </a:r>
            <a:r>
              <a:rPr lang="en-US" altLang="ko-KR" b="1" smtClean="0">
                <a:solidFill>
                  <a:srgbClr val="0070C0"/>
                </a:solidFill>
              </a:rPr>
              <a:t>‘</a:t>
            </a:r>
            <a:r>
              <a:rPr lang="ko-KR" altLang="en-US" b="1" smtClean="0">
                <a:solidFill>
                  <a:srgbClr val="0070C0"/>
                </a:solidFill>
              </a:rPr>
              <a:t>현재</a:t>
            </a:r>
            <a:r>
              <a:rPr lang="en-US" altLang="ko-KR" b="1" smtClean="0">
                <a:solidFill>
                  <a:srgbClr val="0070C0"/>
                </a:solidFill>
              </a:rPr>
              <a:t>’ </a:t>
            </a:r>
            <a:r>
              <a:rPr lang="ko-KR" altLang="en-US" smtClean="0"/>
              <a:t>에 관련돼있다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PC </a:t>
            </a:r>
            <a:r>
              <a:rPr lang="ko-KR" altLang="en-US" smtClean="0"/>
              <a:t>액션 </a:t>
            </a:r>
            <a:r>
              <a:rPr lang="en-US" altLang="ko-KR" smtClean="0"/>
              <a:t>=&gt; </a:t>
            </a:r>
            <a:r>
              <a:rPr lang="ko-KR" altLang="en-US" smtClean="0"/>
              <a:t>스킬</a:t>
            </a:r>
            <a:r>
              <a:rPr lang="en-US" altLang="ko-KR" smtClean="0"/>
              <a:t>, </a:t>
            </a:r>
            <a:r>
              <a:rPr lang="ko-KR" altLang="en-US" smtClean="0"/>
              <a:t>육성 등 플레이어 퀘스트는 </a:t>
            </a:r>
            <a:r>
              <a:rPr lang="en-US" altLang="ko-KR" b="1" smtClean="0">
                <a:solidFill>
                  <a:srgbClr val="7030A0"/>
                </a:solidFill>
              </a:rPr>
              <a:t>‘</a:t>
            </a:r>
            <a:r>
              <a:rPr lang="ko-KR" altLang="en-US" b="1" smtClean="0">
                <a:solidFill>
                  <a:srgbClr val="7030A0"/>
                </a:solidFill>
              </a:rPr>
              <a:t>미래</a:t>
            </a:r>
            <a:r>
              <a:rPr lang="en-US" altLang="ko-KR" b="1" smtClean="0">
                <a:solidFill>
                  <a:srgbClr val="7030A0"/>
                </a:solidFill>
              </a:rPr>
              <a:t>’</a:t>
            </a:r>
            <a:r>
              <a:rPr lang="ko-KR" altLang="en-US" smtClean="0"/>
              <a:t>를 주로 얘기한다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75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04" y="2051222"/>
            <a:ext cx="10877192" cy="275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(2) </a:t>
            </a:r>
            <a:r>
              <a:rPr lang="ko-KR" altLang="en-US" smtClean="0"/>
              <a:t>설정</a:t>
            </a:r>
            <a:endParaRPr lang="en-US" altLang="ko-KR" smtClean="0"/>
          </a:p>
          <a:p>
            <a:r>
              <a:rPr lang="en-US" altLang="ko-KR" smtClean="0"/>
              <a:t>= </a:t>
            </a:r>
            <a:r>
              <a:rPr lang="ko-KR" altLang="en-US" smtClean="0"/>
              <a:t>선정의 이유</a:t>
            </a:r>
            <a:endParaRPr lang="en-US" altLang="ko-KR" smtClean="0"/>
          </a:p>
          <a:p>
            <a:r>
              <a:rPr lang="ko-KR" altLang="en-US" smtClean="0"/>
              <a:t>설정이 독특한 배경이 있으면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퀘스트가 이를 잘 활용해야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박쥐 보스가 불에 약해</a:t>
            </a:r>
            <a:r>
              <a:rPr lang="en-US" altLang="ko-KR" smtClean="0"/>
              <a:t>. </a:t>
            </a:r>
            <a:r>
              <a:rPr lang="ko-KR" altLang="en-US" smtClean="0"/>
              <a:t>무기를 불의 특성을 가진 무기를 구하거나 불과 관련된 스킬을 연마해서 보스에게 도전해야 해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20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60" y="1599712"/>
            <a:ext cx="8682680" cy="36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25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mtClean="0"/>
              <a:t>(3) </a:t>
            </a:r>
            <a:r>
              <a:rPr lang="ko-KR" altLang="en-US" smtClean="0"/>
              <a:t>레벨</a:t>
            </a:r>
            <a:endParaRPr lang="en-US" altLang="ko-KR" smtClean="0"/>
          </a:p>
          <a:p>
            <a:r>
              <a:rPr lang="ko-KR" altLang="en-US" smtClean="0"/>
              <a:t>콘텐츠 제시의 순서</a:t>
            </a:r>
            <a:endParaRPr lang="en-US" altLang="ko-KR" smtClean="0"/>
          </a:p>
          <a:p>
            <a:r>
              <a:rPr lang="ko-KR" altLang="en-US" smtClean="0"/>
              <a:t>퀘스트는 레벨 소모를 이끌어야 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지금 플레이어 캐릭터의 현재 레벨에서 </a:t>
            </a:r>
            <a:r>
              <a:rPr lang="en-US" altLang="ko-KR" smtClean="0"/>
              <a:t>+3</a:t>
            </a:r>
            <a:r>
              <a:rPr lang="ko-KR" altLang="en-US" smtClean="0"/>
              <a:t>까지 상향된 몬스터까지 허용할 수 있을 듯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why? </a:t>
            </a:r>
            <a:r>
              <a:rPr lang="ko-KR" altLang="en-US" smtClean="0"/>
              <a:t>경험치나 아이템을 더 높은 레벨의 것을 보상으로 주니까 플레이어는 난이도가 높아도 도전하는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스토리</a:t>
            </a:r>
            <a:r>
              <a:rPr lang="en-US" altLang="ko-KR" smtClean="0"/>
              <a:t>/</a:t>
            </a:r>
            <a:r>
              <a:rPr lang="ko-KR" altLang="en-US" smtClean="0"/>
              <a:t>맵</a:t>
            </a:r>
            <a:r>
              <a:rPr lang="en-US" altLang="ko-KR" smtClean="0"/>
              <a:t>/</a:t>
            </a:r>
            <a:r>
              <a:rPr lang="ko-KR" altLang="en-US" smtClean="0"/>
              <a:t>몬스터</a:t>
            </a:r>
            <a:r>
              <a:rPr lang="en-US" altLang="ko-KR" smtClean="0"/>
              <a:t>/</a:t>
            </a:r>
            <a:r>
              <a:rPr lang="ko-KR" altLang="en-US" smtClean="0"/>
              <a:t>아이템</a:t>
            </a:r>
            <a:r>
              <a:rPr lang="en-US" altLang="ko-KR" smtClean="0"/>
              <a:t>/</a:t>
            </a:r>
            <a:r>
              <a:rPr lang="ko-KR" altLang="en-US" smtClean="0"/>
              <a:t>스킬</a:t>
            </a:r>
            <a:r>
              <a:rPr lang="en-US" altLang="ko-KR" smtClean="0"/>
              <a:t>/</a:t>
            </a:r>
            <a:r>
              <a:rPr lang="ko-KR" altLang="en-US" smtClean="0"/>
              <a:t>등등의 순서를 잘 설계해야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퀘스트의 보상은 퀘스트의 내용이 기억나게 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내용과 보상이 따로따로면 플레이어에게 기억에 남지 못한다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57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15" y="1689874"/>
            <a:ext cx="10313770" cy="347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30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(4) </a:t>
            </a:r>
            <a:r>
              <a:rPr lang="ko-KR" altLang="en-US" smtClean="0"/>
              <a:t>콘텐츠</a:t>
            </a:r>
            <a:endParaRPr lang="en-US" altLang="ko-KR" smtClean="0"/>
          </a:p>
          <a:p>
            <a:r>
              <a:rPr lang="ko-KR" altLang="en-US" smtClean="0"/>
              <a:t>소모 필요콘텐츠 </a:t>
            </a:r>
            <a:r>
              <a:rPr lang="en-US" altLang="ko-KR" smtClean="0"/>
              <a:t>=&gt; ‘</a:t>
            </a:r>
            <a:r>
              <a:rPr lang="ko-KR" altLang="en-US" smtClean="0"/>
              <a:t>성장</a:t>
            </a:r>
            <a:r>
              <a:rPr lang="en-US" altLang="ko-KR" smtClean="0"/>
              <a:t>’</a:t>
            </a:r>
            <a:r>
              <a:rPr lang="ko-KR" altLang="en-US" smtClean="0"/>
              <a:t>에 꼭 필요한 콘텐츠</a:t>
            </a:r>
            <a:endParaRPr lang="en-US" altLang="ko-KR" smtClean="0"/>
          </a:p>
          <a:p>
            <a:r>
              <a:rPr lang="ko-KR" altLang="en-US" smtClean="0"/>
              <a:t>킬러콘텐츠 </a:t>
            </a:r>
            <a:r>
              <a:rPr lang="en-US" altLang="ko-KR" smtClean="0"/>
              <a:t>=&gt; </a:t>
            </a:r>
            <a:r>
              <a:rPr lang="ko-KR" altLang="en-US" smtClean="0"/>
              <a:t>너무 빨리도</a:t>
            </a:r>
            <a:r>
              <a:rPr lang="en-US" altLang="ko-KR" smtClean="0"/>
              <a:t>/</a:t>
            </a:r>
            <a:r>
              <a:rPr lang="ko-KR" altLang="en-US" smtClean="0"/>
              <a:t>늦게 줘도 안 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		</a:t>
            </a:r>
            <a:r>
              <a:rPr lang="ko-KR" altLang="en-US" smtClean="0"/>
              <a:t>우리 게임을 유저가 떠나지 못할 정도로 재밌는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메인 퀘스트도 있고</a:t>
            </a:r>
            <a:r>
              <a:rPr lang="en-US" altLang="ko-KR" smtClean="0"/>
              <a:t>, </a:t>
            </a:r>
            <a:r>
              <a:rPr lang="ko-KR" altLang="en-US" smtClean="0"/>
              <a:t>서브 퀘스트도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메인 퀘스트는 이것만 플레이 했을 때 </a:t>
            </a:r>
            <a:r>
              <a:rPr lang="en-US" altLang="ko-KR" smtClean="0"/>
              <a:t>Max </a:t>
            </a:r>
            <a:r>
              <a:rPr lang="ko-KR" altLang="en-US" smtClean="0"/>
              <a:t>레벨까지 성장할 수 있게 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서브 퀘스트는 메인 퀘스트와 내용이 독립적이어도 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41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05" y="1952368"/>
            <a:ext cx="9469190" cy="295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30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mtClean="0"/>
              <a:t>(5) </a:t>
            </a:r>
            <a:r>
              <a:rPr lang="ko-KR" altLang="en-US" smtClean="0"/>
              <a:t>밸런스</a:t>
            </a:r>
            <a:endParaRPr lang="en-US" altLang="ko-KR" smtClean="0"/>
          </a:p>
          <a:p>
            <a:r>
              <a:rPr lang="ko-KR" altLang="en-US" smtClean="0"/>
              <a:t>라이프 사이클 </a:t>
            </a:r>
            <a:r>
              <a:rPr lang="en-US" altLang="ko-KR" smtClean="0"/>
              <a:t>(</a:t>
            </a:r>
            <a:r>
              <a:rPr lang="ko-KR" altLang="en-US" smtClean="0"/>
              <a:t>생명주기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얼마의 시간 동안</a:t>
            </a:r>
            <a:r>
              <a:rPr lang="en-US" altLang="ko-KR" smtClean="0"/>
              <a:t>, </a:t>
            </a:r>
            <a:r>
              <a:rPr lang="ko-KR" altLang="en-US" smtClean="0"/>
              <a:t>어느 정도의 난이도로 할 지 정하는 영역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토끼 몬스터와 얼마의 시간 동안</a:t>
            </a:r>
            <a:r>
              <a:rPr lang="en-US" altLang="ko-KR"/>
              <a:t> </a:t>
            </a:r>
            <a:r>
              <a:rPr lang="ko-KR" altLang="en-US" smtClean="0"/>
              <a:t>전투하는 지는 상관없다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</a:t>
            </a:r>
            <a:r>
              <a:rPr lang="ko-KR" altLang="en-US" smtClean="0"/>
              <a:t>그 시간 동안 재밌기만 하면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소모 난이도 </a:t>
            </a:r>
            <a:r>
              <a:rPr lang="en-US" altLang="ko-KR" smtClean="0"/>
              <a:t>+ </a:t>
            </a:r>
            <a:r>
              <a:rPr lang="ko-KR" altLang="en-US" smtClean="0"/>
              <a:t>재미있는 시간</a:t>
            </a:r>
            <a:endParaRPr lang="en-US" altLang="ko-KR" smtClean="0"/>
          </a:p>
          <a:p>
            <a:r>
              <a:rPr lang="ko-KR" altLang="en-US" smtClean="0"/>
              <a:t>퀘스트는 밸런스가 잘 활용되도록 설계하면 된다</a:t>
            </a:r>
            <a:r>
              <a:rPr lang="en-US" altLang="ko-KR" smtClean="0"/>
              <a:t>.</a:t>
            </a:r>
          </a:p>
          <a:p>
            <a:r>
              <a:rPr lang="ko-KR" altLang="en-US"/>
              <a:t>뉴비와 고인물의 갭을 줄이기 위해서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빠른 시간 내에 </a:t>
            </a:r>
            <a:r>
              <a:rPr lang="en-US" altLang="ko-KR" smtClean="0"/>
              <a:t>Max </a:t>
            </a:r>
            <a:r>
              <a:rPr lang="ko-KR" altLang="en-US" smtClean="0"/>
              <a:t>레벨에 도달하게 하면 </a:t>
            </a:r>
            <a:r>
              <a:rPr lang="en-US" altLang="ko-KR" smtClean="0"/>
              <a:t>=&gt; ‘</a:t>
            </a:r>
            <a:r>
              <a:rPr lang="ko-KR" altLang="en-US" smtClean="0"/>
              <a:t>좌충수</a:t>
            </a:r>
            <a:r>
              <a:rPr lang="en-US" altLang="ko-KR" smtClean="0"/>
              <a:t>’</a:t>
            </a:r>
            <a:br>
              <a:rPr lang="en-US" altLang="ko-KR" smtClean="0"/>
            </a:br>
            <a:r>
              <a:rPr lang="ko-KR" altLang="en-US" smtClean="0"/>
              <a:t>이러면 오픈 초반보다 게임은 훨씬 재미없어진다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357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(5) </a:t>
            </a:r>
            <a:r>
              <a:rPr lang="ko-KR" altLang="en-US" smtClean="0"/>
              <a:t>밸런스</a:t>
            </a:r>
            <a:endParaRPr lang="en-US" altLang="ko-KR" smtClean="0"/>
          </a:p>
          <a:p>
            <a:r>
              <a:rPr lang="ko-KR" altLang="en-US" smtClean="0"/>
              <a:t>레벨 경험치 보상</a:t>
            </a:r>
            <a:endParaRPr lang="en-US" altLang="ko-KR" smtClean="0"/>
          </a:p>
          <a:p>
            <a:pPr lvl="1"/>
            <a:r>
              <a:rPr lang="en-US" altLang="ko-KR" smtClean="0"/>
              <a:t>1~10Lv</a:t>
            </a:r>
            <a:r>
              <a:rPr lang="ko-KR" altLang="en-US" smtClean="0"/>
              <a:t>까지 도달하는 데 걸리는 시간이 밸런스가 맞게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게임 머니 보상</a:t>
            </a:r>
            <a:endParaRPr lang="en-US" altLang="ko-KR" smtClean="0"/>
          </a:p>
          <a:p>
            <a:pPr lvl="1"/>
            <a:r>
              <a:rPr lang="ko-KR" altLang="en-US" smtClean="0"/>
              <a:t>현재 레벨에서 얻을 수 있는 재화의 </a:t>
            </a:r>
            <a:r>
              <a:rPr lang="en-US" altLang="ko-KR" smtClean="0"/>
              <a:t>1.5~3</a:t>
            </a:r>
            <a:r>
              <a:rPr lang="ko-KR" altLang="en-US" smtClean="0"/>
              <a:t>배의 재화로 상점에서 아이템을 구할 수 있게 설계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사용필요</a:t>
            </a:r>
            <a:r>
              <a:rPr lang="en-US" altLang="ko-KR" smtClean="0"/>
              <a:t>(</a:t>
            </a:r>
            <a:r>
              <a:rPr lang="ko-KR" altLang="en-US" smtClean="0"/>
              <a:t>도움</a:t>
            </a:r>
            <a:r>
              <a:rPr lang="en-US" altLang="ko-KR" smtClean="0"/>
              <a:t>) </a:t>
            </a:r>
            <a:r>
              <a:rPr lang="ko-KR" altLang="en-US" smtClean="0"/>
              <a:t>아이템 보상</a:t>
            </a:r>
            <a:endParaRPr lang="en-US" altLang="ko-KR" smtClean="0"/>
          </a:p>
          <a:p>
            <a:pPr lvl="1"/>
            <a:r>
              <a:rPr lang="ko-KR" altLang="en-US" smtClean="0"/>
              <a:t>현재 레벨에서 </a:t>
            </a:r>
            <a:r>
              <a:rPr lang="en-US" altLang="ko-KR" smtClean="0"/>
              <a:t>+3 </a:t>
            </a:r>
            <a:r>
              <a:rPr lang="ko-KR" altLang="en-US" smtClean="0"/>
              <a:t>정도의 레벨의 아이템을 보상으로 준다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7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2" y="1902941"/>
            <a:ext cx="11255696" cy="305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90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r>
              <a:rPr lang="ko-KR" altLang="en-US" smtClean="0"/>
              <a:t>시스템</a:t>
            </a:r>
            <a:r>
              <a:rPr lang="en-US" altLang="ko-KR" smtClean="0"/>
              <a:t>-</a:t>
            </a:r>
            <a:r>
              <a:rPr lang="ko-KR" altLang="en-US" smtClean="0"/>
              <a:t>시스템</a:t>
            </a:r>
            <a:r>
              <a:rPr lang="en-US" altLang="ko-KR" smtClean="0"/>
              <a:t>, </a:t>
            </a:r>
            <a:r>
              <a:rPr lang="ko-KR" altLang="en-US" smtClean="0"/>
              <a:t>시스템</a:t>
            </a:r>
            <a:r>
              <a:rPr lang="en-US" altLang="ko-KR" smtClean="0"/>
              <a:t>-</a:t>
            </a:r>
            <a:r>
              <a:rPr lang="ko-KR" altLang="en-US" smtClean="0"/>
              <a:t>콘텐츠</a:t>
            </a:r>
            <a:r>
              <a:rPr lang="en-US" altLang="ko-KR" smtClean="0"/>
              <a:t>, </a:t>
            </a:r>
            <a:r>
              <a:rPr lang="ko-KR" altLang="en-US" smtClean="0"/>
              <a:t>콘텐츠</a:t>
            </a:r>
            <a:r>
              <a:rPr lang="en-US" altLang="ko-KR" smtClean="0"/>
              <a:t>-</a:t>
            </a:r>
            <a:r>
              <a:rPr lang="ko-KR" altLang="en-US" smtClean="0"/>
              <a:t>콘텐츠 간의 유기성을을 형성하는 영역</a:t>
            </a:r>
            <a:endParaRPr lang="en-US" altLang="ko-KR" smtClean="0"/>
          </a:p>
          <a:p>
            <a:r>
              <a:rPr lang="ko-KR" altLang="en-US" smtClean="0"/>
              <a:t>시스템과 콘텐츠가 서로 맞물려서 돌아갈 수 있게 </a:t>
            </a:r>
            <a:r>
              <a:rPr lang="en-US" altLang="ko-KR" smtClean="0"/>
              <a:t>‘</a:t>
            </a:r>
            <a:r>
              <a:rPr lang="ko-KR" altLang="en-US" smtClean="0"/>
              <a:t>약속을 설계</a:t>
            </a:r>
            <a:r>
              <a:rPr lang="en-US" altLang="ko-KR" smtClean="0"/>
              <a:t>＇</a:t>
            </a:r>
            <a:r>
              <a:rPr lang="ko-KR" altLang="en-US" smtClean="0"/>
              <a:t>하는 것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사용법 학습</a:t>
            </a:r>
            <a:r>
              <a:rPr lang="en-US" altLang="ko-KR" smtClean="0"/>
              <a:t>(</a:t>
            </a:r>
            <a:r>
              <a:rPr lang="ko-KR" altLang="en-US" smtClean="0"/>
              <a:t>튜토리얼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 smtClean="0"/>
              <a:t>시스템이 어떻게 돌아가는지 매뉴얼 교육을 하는 것</a:t>
            </a:r>
            <a:endParaRPr lang="en-US" altLang="ko-KR" smtClean="0"/>
          </a:p>
          <a:p>
            <a:r>
              <a:rPr lang="ko-KR" altLang="en-US" smtClean="0"/>
              <a:t>활용</a:t>
            </a:r>
            <a:endParaRPr lang="en-US" altLang="ko-KR" smtClean="0"/>
          </a:p>
          <a:p>
            <a:pPr lvl="1"/>
            <a:r>
              <a:rPr lang="ko-KR" altLang="en-US" smtClean="0"/>
              <a:t>난이도가 매우 어렵거나</a:t>
            </a:r>
            <a:r>
              <a:rPr lang="en-US" altLang="ko-KR" smtClean="0"/>
              <a:t>/</a:t>
            </a:r>
            <a:r>
              <a:rPr lang="ko-KR" altLang="en-US" smtClean="0"/>
              <a:t>과거에 없던 콘텐츠라면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그걸 어떻게 하는 지에 대한 설명도 퀘스트에서 해준다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즉</a:t>
            </a:r>
            <a:r>
              <a:rPr lang="en-US" altLang="ko-KR" smtClean="0"/>
              <a:t>, ‘</a:t>
            </a:r>
            <a:r>
              <a:rPr lang="ko-KR" altLang="en-US" smtClean="0"/>
              <a:t>약속</a:t>
            </a:r>
            <a:r>
              <a:rPr lang="en-US" altLang="ko-KR" smtClean="0"/>
              <a:t>’</a:t>
            </a:r>
            <a:r>
              <a:rPr lang="ko-KR" altLang="en-US" smtClean="0"/>
              <a:t>이 어떻게 이 세상에서 활용되는 지 설명해주는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766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(</a:t>
            </a:r>
            <a:r>
              <a:rPr lang="ko-KR" altLang="en-US" smtClean="0"/>
              <a:t>예시</a:t>
            </a:r>
            <a:r>
              <a:rPr lang="en-US" altLang="ko-KR" smtClean="0"/>
              <a:t>) </a:t>
            </a:r>
          </a:p>
          <a:p>
            <a:r>
              <a:rPr lang="en-US" altLang="ko-KR" smtClean="0"/>
              <a:t>NPC</a:t>
            </a:r>
            <a:r>
              <a:rPr lang="ko-KR" altLang="en-US" smtClean="0"/>
              <a:t>가 먼저 행동을 보여주면</a:t>
            </a:r>
            <a:r>
              <a:rPr lang="en-US" altLang="ko-KR" smtClean="0"/>
              <a:t>, </a:t>
            </a:r>
            <a:r>
              <a:rPr lang="ko-KR" altLang="en-US" smtClean="0"/>
              <a:t>플레이어가 이를 보고 행동을 학습할 수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 </a:t>
            </a:r>
            <a:r>
              <a:rPr lang="ko-KR" altLang="en-US" smtClean="0"/>
              <a:t>스킬을 배우고난 직후의 몬스터 잡는 퀘스트는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몬스터가 </a:t>
            </a:r>
            <a:r>
              <a:rPr lang="en-US" altLang="ko-KR" smtClean="0"/>
              <a:t>A </a:t>
            </a:r>
            <a:r>
              <a:rPr lang="ko-KR" altLang="en-US" smtClean="0"/>
              <a:t>스킬에 잘 맞을 수 있도록</a:t>
            </a:r>
            <a:r>
              <a:rPr lang="en-US" altLang="ko-KR" smtClean="0"/>
              <a:t>(</a:t>
            </a:r>
            <a:r>
              <a:rPr lang="ko-KR" altLang="en-US" smtClean="0"/>
              <a:t>처치되도록</a:t>
            </a:r>
            <a:r>
              <a:rPr lang="en-US" altLang="ko-KR" smtClean="0"/>
              <a:t>)</a:t>
            </a:r>
            <a:r>
              <a:rPr lang="ko-KR" altLang="en-US" smtClean="0"/>
              <a:t> 설계한다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381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8674" y="1825624"/>
            <a:ext cx="1163465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r>
              <a:rPr lang="ko-KR" altLang="en-US" smtClean="0"/>
              <a:t>유기성 디자인</a:t>
            </a:r>
            <a:endParaRPr lang="en-US" altLang="ko-KR" smtClean="0"/>
          </a:p>
          <a:p>
            <a:pPr lvl="1"/>
            <a:r>
              <a:rPr lang="ko-KR" altLang="en-US" smtClean="0"/>
              <a:t>예시</a:t>
            </a:r>
            <a:r>
              <a:rPr lang="en-US" altLang="ko-KR" smtClean="0"/>
              <a:t>) [WOW] : </a:t>
            </a:r>
            <a:r>
              <a:rPr lang="ko-KR" altLang="en-US" smtClean="0"/>
              <a:t>각각의 레벨에 맞는 지역이 </a:t>
            </a:r>
            <a:r>
              <a:rPr lang="en-US" altLang="ko-KR" smtClean="0"/>
              <a:t>‘</a:t>
            </a:r>
            <a:r>
              <a:rPr lang="ko-KR" altLang="en-US" smtClean="0"/>
              <a:t>나선형</a:t>
            </a:r>
            <a:r>
              <a:rPr lang="en-US" altLang="ko-KR" smtClean="0"/>
              <a:t>＇</a:t>
            </a:r>
            <a:r>
              <a:rPr lang="ko-KR" altLang="en-US" smtClean="0"/>
              <a:t>으로 쭉 설계돼있다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각각의 레벨군에 따라서 얻을 수 있는 아이템도 다르게 설계한다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이는 </a:t>
            </a:r>
            <a:r>
              <a:rPr lang="en-US" altLang="ko-KR" smtClean="0"/>
              <a:t>‘</a:t>
            </a:r>
            <a:r>
              <a:rPr lang="ko-KR" altLang="en-US" smtClean="0"/>
              <a:t>옷감 시스템</a:t>
            </a:r>
            <a:r>
              <a:rPr lang="en-US" altLang="ko-KR" smtClean="0"/>
              <a:t>＇</a:t>
            </a:r>
            <a:r>
              <a:rPr lang="ko-KR" altLang="en-US" smtClean="0"/>
              <a:t>을 </a:t>
            </a:r>
            <a:r>
              <a:rPr lang="en-US" altLang="ko-KR" smtClean="0"/>
              <a:t>‘</a:t>
            </a:r>
            <a:r>
              <a:rPr lang="ko-KR" altLang="en-US" smtClean="0"/>
              <a:t>드랍 아이템</a:t>
            </a:r>
            <a:r>
              <a:rPr lang="en-US" altLang="ko-KR" smtClean="0"/>
              <a:t>‘ </a:t>
            </a:r>
            <a:r>
              <a:rPr lang="ko-KR" altLang="en-US" smtClean="0"/>
              <a:t>콘텐츠에 적용한 것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pPr lvl="1"/>
            <a:r>
              <a:rPr lang="ko-KR" altLang="en-US" smtClean="0"/>
              <a:t>예시</a:t>
            </a:r>
            <a:r>
              <a:rPr lang="en-US" altLang="ko-KR" smtClean="0"/>
              <a:t>) [WOW] </a:t>
            </a:r>
            <a:r>
              <a:rPr lang="ko-KR" altLang="en-US" smtClean="0"/>
              <a:t>지역 평판 시스템</a:t>
            </a:r>
            <a:endParaRPr lang="en-US" altLang="ko-KR" smtClean="0"/>
          </a:p>
          <a:p>
            <a:pPr lvl="1"/>
            <a:r>
              <a:rPr lang="ko-KR" altLang="en-US" smtClean="0"/>
              <a:t>평판 시스템 </a:t>
            </a:r>
            <a:r>
              <a:rPr lang="en-US" altLang="ko-KR" smtClean="0"/>
              <a:t>: </a:t>
            </a:r>
            <a:r>
              <a:rPr lang="ko-KR" altLang="en-US" smtClean="0"/>
              <a:t>평판 포인트의 누적에 따라 평판 등급이 올라간다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등급 업 규정에 대한 약속 </a:t>
            </a:r>
            <a:r>
              <a:rPr lang="en-US" altLang="ko-KR" smtClean="0"/>
              <a:t>=&gt; </a:t>
            </a:r>
            <a:r>
              <a:rPr lang="ko-KR" altLang="en-US" smtClean="0"/>
              <a:t>등급이 가장 높아지면 귀한 아이템</a:t>
            </a:r>
            <a:r>
              <a:rPr lang="en-US" altLang="ko-KR" smtClean="0"/>
              <a:t>/</a:t>
            </a:r>
            <a:r>
              <a:rPr lang="ko-KR" altLang="en-US" smtClean="0"/>
              <a:t>무기</a:t>
            </a:r>
            <a:r>
              <a:rPr lang="en-US" altLang="ko-KR" smtClean="0"/>
              <a:t>/</a:t>
            </a:r>
            <a:r>
              <a:rPr lang="ko-KR" altLang="en-US" smtClean="0"/>
              <a:t>탈것 등을 얻을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각각의 지역의 평판 등급을 모두 </a:t>
            </a:r>
            <a:r>
              <a:rPr lang="en-US" altLang="ko-KR" smtClean="0"/>
              <a:t>Max</a:t>
            </a:r>
            <a:r>
              <a:rPr lang="ko-KR" altLang="en-US" smtClean="0"/>
              <a:t>를 찍으려면 매우 오랜 시간이 걸린다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88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8674" y="1825624"/>
            <a:ext cx="11634652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r>
              <a:rPr lang="ko-KR" altLang="en-US" smtClean="0"/>
              <a:t>유기성 디자인 </a:t>
            </a:r>
            <a:r>
              <a:rPr lang="en-US" altLang="ko-KR" smtClean="0"/>
              <a:t>- </a:t>
            </a:r>
            <a:r>
              <a:rPr lang="ko-KR" altLang="en-US" smtClean="0"/>
              <a:t>톱니바퀴</a:t>
            </a:r>
            <a:endParaRPr lang="en-US" altLang="ko-KR" smtClean="0"/>
          </a:p>
          <a:p>
            <a:pPr lvl="1"/>
            <a:r>
              <a:rPr lang="ko-KR" altLang="en-US" smtClean="0"/>
              <a:t>지역마다 플레이 권장 레벨이 다르고</a:t>
            </a:r>
            <a:endParaRPr lang="en-US" altLang="ko-KR" smtClean="0"/>
          </a:p>
          <a:p>
            <a:pPr lvl="1"/>
            <a:r>
              <a:rPr lang="ko-KR" altLang="en-US"/>
              <a:t>지역마다 떨어지는 옷감이 </a:t>
            </a:r>
            <a:r>
              <a:rPr lang="ko-KR" altLang="en-US" smtClean="0"/>
              <a:t>다르고</a:t>
            </a:r>
            <a:endParaRPr lang="en-US" altLang="ko-KR" smtClean="0"/>
          </a:p>
          <a:p>
            <a:pPr lvl="1"/>
            <a:r>
              <a:rPr lang="ko-KR" altLang="en-US" smtClean="0"/>
              <a:t>지역마다 평판 작업을 해야 해</a:t>
            </a:r>
            <a:endParaRPr lang="en-US" altLang="ko-KR" smtClean="0"/>
          </a:p>
          <a:p>
            <a:pPr lvl="1"/>
            <a:endParaRPr lang="en-US" altLang="ko-KR"/>
          </a:p>
          <a:p>
            <a:pPr lvl="1"/>
            <a:r>
              <a:rPr lang="ko-KR" altLang="en-US" smtClean="0"/>
              <a:t>이러한 톱니바퀴들을 어떻게 관리하는가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특정 서버의 인플레이션</a:t>
            </a:r>
            <a:r>
              <a:rPr lang="en-US" altLang="ko-KR" smtClean="0"/>
              <a:t>/</a:t>
            </a:r>
            <a:r>
              <a:rPr lang="ko-KR" altLang="en-US" smtClean="0"/>
              <a:t>디플레이션이 생겨서 돈</a:t>
            </a:r>
            <a:r>
              <a:rPr lang="en-US" altLang="ko-KR" smtClean="0"/>
              <a:t>/</a:t>
            </a:r>
            <a:r>
              <a:rPr lang="ko-KR" altLang="en-US" smtClean="0"/>
              <a:t>현물의 가치가 불안해지면</a:t>
            </a:r>
            <a:endParaRPr lang="en-US" altLang="ko-KR" smtClean="0"/>
          </a:p>
          <a:p>
            <a:pPr lvl="1"/>
            <a:r>
              <a:rPr lang="ko-KR" altLang="en-US" smtClean="0"/>
              <a:t>평판 영역 단위로 이벤트로 퀘스트 </a:t>
            </a:r>
            <a:r>
              <a:rPr lang="en-US" altLang="ko-KR" smtClean="0"/>
              <a:t>NPC</a:t>
            </a:r>
            <a:r>
              <a:rPr lang="ko-KR" altLang="en-US" smtClean="0"/>
              <a:t>가 생긴다</a:t>
            </a:r>
            <a:r>
              <a:rPr lang="en-US" altLang="ko-KR" smtClean="0"/>
              <a:t>. – </a:t>
            </a:r>
            <a:r>
              <a:rPr lang="ko-KR" altLang="en-US" smtClean="0"/>
              <a:t>전쟁 물자 보급관</a:t>
            </a:r>
            <a:endParaRPr lang="en-US" altLang="ko-KR" smtClean="0"/>
          </a:p>
          <a:p>
            <a:pPr lvl="1"/>
            <a:r>
              <a:rPr lang="en-US" altLang="ko-KR" smtClean="0"/>
              <a:t>NPC</a:t>
            </a:r>
            <a:r>
              <a:rPr lang="ko-KR" altLang="en-US" smtClean="0"/>
              <a:t>가 특정 옷감을 요구하고</a:t>
            </a:r>
            <a:r>
              <a:rPr lang="en-US" altLang="ko-KR" smtClean="0"/>
              <a:t>, </a:t>
            </a:r>
            <a:r>
              <a:rPr lang="ko-KR" altLang="en-US" smtClean="0"/>
              <a:t>플레이어가 옷감을 구해주면 그 지역의 평판을 올려준다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이를 통해 평판 등급을 빠르게 올리면</a:t>
            </a:r>
            <a:r>
              <a:rPr lang="en-US" altLang="ko-KR" smtClean="0"/>
              <a:t>, </a:t>
            </a:r>
            <a:r>
              <a:rPr lang="ko-KR" altLang="en-US" smtClean="0"/>
              <a:t>높은 등급의 무기</a:t>
            </a:r>
            <a:r>
              <a:rPr lang="en-US" altLang="ko-KR" smtClean="0"/>
              <a:t>/</a:t>
            </a:r>
            <a:r>
              <a:rPr lang="ko-KR" altLang="en-US" smtClean="0"/>
              <a:t>갑옷</a:t>
            </a:r>
            <a:r>
              <a:rPr lang="en-US" altLang="ko-KR" smtClean="0"/>
              <a:t>/</a:t>
            </a:r>
            <a:r>
              <a:rPr lang="ko-KR" altLang="en-US" smtClean="0"/>
              <a:t>탈것</a:t>
            </a:r>
            <a:r>
              <a:rPr lang="en-US" altLang="ko-KR" smtClean="0"/>
              <a:t>/</a:t>
            </a:r>
            <a:r>
              <a:rPr lang="ko-KR" altLang="en-US" smtClean="0"/>
              <a:t>장신구 등을 구하는 톱니바퀴로 이어진다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/>
              <a:t>이제는 사람들이 옷감을 구하기 힘들어지고</a:t>
            </a:r>
            <a:r>
              <a:rPr lang="en-US" altLang="ko-KR"/>
              <a:t>, </a:t>
            </a:r>
            <a:r>
              <a:rPr lang="ko-KR" altLang="en-US"/>
              <a:t>경매장도 난리가 나고</a:t>
            </a:r>
            <a:r>
              <a:rPr lang="en-US" altLang="ko-KR"/>
              <a:t>, </a:t>
            </a:r>
            <a:r>
              <a:rPr lang="ko-KR" altLang="en-US"/>
              <a:t>옷감을 얻는 노가다를 하게 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611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8674" y="1825624"/>
            <a:ext cx="11634652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mtClean="0"/>
              <a:t>(6) </a:t>
            </a:r>
            <a:r>
              <a:rPr lang="ko-KR" altLang="en-US" smtClean="0"/>
              <a:t>시스템</a:t>
            </a:r>
            <a:endParaRPr lang="en-US" altLang="ko-KR" smtClean="0"/>
          </a:p>
          <a:p>
            <a:r>
              <a:rPr lang="ko-KR" altLang="en-US"/>
              <a:t>유기성 디자인 </a:t>
            </a:r>
            <a:r>
              <a:rPr lang="en-US" altLang="ko-KR"/>
              <a:t>- </a:t>
            </a:r>
            <a:r>
              <a:rPr lang="ko-KR" altLang="en-US" smtClean="0"/>
              <a:t>톱니바퀴</a:t>
            </a:r>
            <a:endParaRPr lang="en-US" altLang="ko-KR"/>
          </a:p>
          <a:p>
            <a:pPr lvl="1"/>
            <a:r>
              <a:rPr lang="ko-KR" altLang="en-US" smtClean="0"/>
              <a:t>이를 통해 서버의 인플레이션</a:t>
            </a:r>
            <a:r>
              <a:rPr lang="en-US" altLang="ko-KR" smtClean="0"/>
              <a:t>/</a:t>
            </a:r>
            <a:r>
              <a:rPr lang="ko-KR" altLang="en-US" smtClean="0"/>
              <a:t>디플레이션으로 생긴 문제가 해결된다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NPC</a:t>
            </a:r>
            <a:r>
              <a:rPr lang="ko-KR" altLang="en-US" smtClean="0"/>
              <a:t>에게 플레이어는 </a:t>
            </a:r>
            <a:r>
              <a:rPr lang="ko-KR" altLang="en-US" b="1" smtClean="0">
                <a:solidFill>
                  <a:srgbClr val="00B0F0"/>
                </a:solidFill>
              </a:rPr>
              <a:t>유형</a:t>
            </a:r>
            <a:r>
              <a:rPr lang="ko-KR" altLang="en-US" smtClean="0"/>
              <a:t>의 가치를 주는데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en-US" altLang="ko-KR" smtClean="0"/>
              <a:t>NPC</a:t>
            </a:r>
            <a:r>
              <a:rPr lang="ko-KR" altLang="en-US" smtClean="0"/>
              <a:t>는 플레이어에게 </a:t>
            </a:r>
            <a:r>
              <a:rPr lang="ko-KR" altLang="en-US" b="1" smtClean="0">
                <a:solidFill>
                  <a:schemeClr val="accent4"/>
                </a:solidFill>
              </a:rPr>
              <a:t>무형</a:t>
            </a:r>
            <a:r>
              <a:rPr lang="ko-KR" altLang="en-US" smtClean="0"/>
              <a:t>의 가치를 준다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게임 세상의 포인트는 포인트대로</a:t>
            </a:r>
            <a:r>
              <a:rPr lang="en-US" altLang="ko-KR" smtClean="0"/>
              <a:t>, </a:t>
            </a:r>
            <a:r>
              <a:rPr lang="ko-KR" altLang="en-US" smtClean="0"/>
              <a:t>현물은 현물대로 모두 소비되는 것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 퀘스트는 </a:t>
            </a:r>
            <a:r>
              <a:rPr lang="en-US" altLang="ko-KR" b="1" smtClean="0">
                <a:solidFill>
                  <a:srgbClr val="FF0000"/>
                </a:solidFill>
              </a:rPr>
              <a:t>‘</a:t>
            </a:r>
            <a:r>
              <a:rPr lang="ko-KR" altLang="en-US" b="1" smtClean="0">
                <a:solidFill>
                  <a:srgbClr val="FF0000"/>
                </a:solidFill>
              </a:rPr>
              <a:t>안전 장치</a:t>
            </a:r>
            <a:r>
              <a:rPr lang="en-US" altLang="ko-KR" b="1" smtClean="0">
                <a:solidFill>
                  <a:srgbClr val="FF0000"/>
                </a:solidFill>
              </a:rPr>
              <a:t>’</a:t>
            </a:r>
            <a:r>
              <a:rPr lang="ko-KR" altLang="en-US" smtClean="0"/>
              <a:t>라고 하는 요소다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pPr lvl="1"/>
            <a:r>
              <a:rPr lang="ko-KR" altLang="en-US" smtClean="0"/>
              <a:t>톱니바퀴들이 잘 형성돼있을 때</a:t>
            </a:r>
            <a:r>
              <a:rPr lang="en-US" altLang="ko-KR" smtClean="0"/>
              <a:t>, ‘</a:t>
            </a:r>
            <a:r>
              <a:rPr lang="ko-KR" altLang="en-US" smtClean="0"/>
              <a:t>안전 장치</a:t>
            </a:r>
            <a:r>
              <a:rPr lang="en-US" altLang="ko-KR" smtClean="0"/>
              <a:t>‘</a:t>
            </a:r>
            <a:r>
              <a:rPr lang="ko-KR" altLang="en-US" smtClean="0"/>
              <a:t>가 필요하고</a:t>
            </a:r>
            <a:r>
              <a:rPr lang="en-US" altLang="ko-KR" smtClean="0"/>
              <a:t>, </a:t>
            </a:r>
            <a:r>
              <a:rPr lang="ko-KR" altLang="en-US" smtClean="0"/>
              <a:t>그게 유기적으로 잘 동작하는 것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pPr lvl="1"/>
            <a:r>
              <a:rPr lang="ko-KR" altLang="en-US" smtClean="0"/>
              <a:t>이 톱니바퀴와 </a:t>
            </a:r>
            <a:r>
              <a:rPr lang="en-US" altLang="ko-KR" smtClean="0"/>
              <a:t>‘</a:t>
            </a:r>
            <a:r>
              <a:rPr lang="ko-KR" altLang="en-US" smtClean="0"/>
              <a:t>안전장치</a:t>
            </a:r>
            <a:r>
              <a:rPr lang="en-US" altLang="ko-KR" smtClean="0"/>
              <a:t>’</a:t>
            </a:r>
            <a:r>
              <a:rPr lang="ko-KR" altLang="en-US" smtClean="0"/>
              <a:t>는 </a:t>
            </a:r>
            <a:r>
              <a:rPr lang="en-US" altLang="ko-KR" smtClean="0"/>
              <a:t>‘</a:t>
            </a:r>
            <a:r>
              <a:rPr lang="ko-KR" altLang="en-US" smtClean="0"/>
              <a:t>게임 시스템</a:t>
            </a:r>
            <a:r>
              <a:rPr lang="en-US" altLang="ko-KR" smtClean="0"/>
              <a:t>’</a:t>
            </a:r>
            <a:r>
              <a:rPr lang="ko-KR" altLang="en-US" smtClean="0"/>
              <a:t>에 대한 이해가 있어야 만들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기획자가 이런 톱니바퀴의 요소들에 대한 이해가 없으면 이런 퀘스트는 못 만든다는 것이다</a:t>
            </a:r>
            <a:r>
              <a:rPr lang="en-US" altLang="ko-KR" smtClean="0"/>
              <a:t>!!!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255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9121" y="-163215"/>
            <a:ext cx="6536243" cy="434332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423" y="2849329"/>
            <a:ext cx="5869577" cy="400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72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23926" t="48704" r="-705" b="25368"/>
          <a:stretch/>
        </p:blipFill>
        <p:spPr>
          <a:xfrm>
            <a:off x="1395669" y="2430380"/>
            <a:ext cx="10058390" cy="264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11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(7) </a:t>
            </a:r>
            <a:r>
              <a:rPr lang="ko-KR" altLang="en-US" smtClean="0"/>
              <a:t>커뮤니티 영역 </a:t>
            </a:r>
            <a:r>
              <a:rPr lang="en-US" altLang="ko-KR" smtClean="0"/>
              <a:t>- </a:t>
            </a:r>
            <a:r>
              <a:rPr lang="ko-KR" altLang="en-US" smtClean="0"/>
              <a:t>해학</a:t>
            </a:r>
            <a:endParaRPr lang="en-US" altLang="ko-KR" smtClean="0"/>
          </a:p>
          <a:p>
            <a:r>
              <a:rPr lang="ko-KR" altLang="en-US"/>
              <a:t>게임다운 </a:t>
            </a:r>
            <a:r>
              <a:rPr lang="en-US" altLang="ko-KR"/>
              <a:t>‘</a:t>
            </a:r>
            <a:r>
              <a:rPr lang="ko-KR" altLang="en-US"/>
              <a:t>웃음</a:t>
            </a:r>
            <a:r>
              <a:rPr lang="en-US" altLang="ko-KR" smtClean="0"/>
              <a:t>‘</a:t>
            </a:r>
          </a:p>
          <a:p>
            <a:r>
              <a:rPr lang="ko-KR" altLang="en-US" smtClean="0"/>
              <a:t>사회풍자</a:t>
            </a:r>
            <a:r>
              <a:rPr lang="en-US" altLang="ko-KR" smtClean="0"/>
              <a:t>, </a:t>
            </a:r>
            <a:r>
              <a:rPr lang="ko-KR" altLang="en-US" smtClean="0"/>
              <a:t>오마쥬 등등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빈민가에 </a:t>
            </a:r>
            <a:r>
              <a:rPr lang="en-US" altLang="ko-KR" smtClean="0"/>
              <a:t>‘</a:t>
            </a:r>
            <a:r>
              <a:rPr lang="ko-KR" altLang="en-US" smtClean="0"/>
              <a:t>페리스 힐튼</a:t>
            </a:r>
            <a:r>
              <a:rPr lang="en-US" altLang="ko-KR" smtClean="0"/>
              <a:t>＇</a:t>
            </a:r>
            <a:r>
              <a:rPr lang="ko-KR" altLang="en-US" smtClean="0"/>
              <a:t>을 예상케하는 캐릭터가 서있다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부분에 </a:t>
            </a:r>
            <a:r>
              <a:rPr lang="en-US" altLang="ko-KR" smtClean="0"/>
              <a:t>‘</a:t>
            </a:r>
            <a:r>
              <a:rPr lang="ko-KR" altLang="en-US" smtClean="0"/>
              <a:t>개발자의 유희</a:t>
            </a:r>
            <a:r>
              <a:rPr lang="en-US" altLang="ko-KR" smtClean="0"/>
              <a:t>＇</a:t>
            </a:r>
            <a:r>
              <a:rPr lang="ko-KR" altLang="en-US" smtClean="0"/>
              <a:t>를 넣을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예를 들면</a:t>
            </a:r>
            <a:r>
              <a:rPr lang="en-US" altLang="ko-KR" smtClean="0"/>
              <a:t>, </a:t>
            </a:r>
            <a:r>
              <a:rPr lang="ko-KR" altLang="en-US" smtClean="0"/>
              <a:t>캐릭터의 이름을 </a:t>
            </a:r>
            <a:r>
              <a:rPr lang="en-US" altLang="ko-KR" smtClean="0"/>
              <a:t>‘</a:t>
            </a:r>
            <a:r>
              <a:rPr lang="ko-KR" altLang="en-US" smtClean="0"/>
              <a:t>개발진들의 이름</a:t>
            </a:r>
            <a:r>
              <a:rPr lang="en-US" altLang="ko-KR" smtClean="0"/>
              <a:t>＇</a:t>
            </a:r>
            <a:r>
              <a:rPr lang="ko-KR" altLang="en-US" smtClean="0"/>
              <a:t>으로 짓는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973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2" y="1353066"/>
            <a:ext cx="9226376" cy="41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21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(8) </a:t>
            </a:r>
            <a:r>
              <a:rPr lang="ko-KR" altLang="en-US"/>
              <a:t>커뮤니티 영역 </a:t>
            </a:r>
            <a:r>
              <a:rPr lang="en-US" altLang="ko-KR" smtClean="0"/>
              <a:t>– </a:t>
            </a:r>
            <a:r>
              <a:rPr lang="ko-KR" altLang="en-US" smtClean="0"/>
              <a:t>서비스를 위한 이벤트</a:t>
            </a:r>
            <a:endParaRPr lang="en-US" altLang="ko-KR"/>
          </a:p>
          <a:p>
            <a:r>
              <a:rPr lang="en-US" altLang="ko-KR" smtClean="0"/>
              <a:t>CRM =&gt; </a:t>
            </a:r>
            <a:r>
              <a:rPr lang="ko-KR" altLang="en-US" smtClean="0"/>
              <a:t>고객과의 관계 형성 관리</a:t>
            </a:r>
            <a:endParaRPr lang="en-US" altLang="ko-KR" smtClean="0"/>
          </a:p>
          <a:p>
            <a:r>
              <a:rPr lang="ko-KR" altLang="en-US" smtClean="0"/>
              <a:t>개발자</a:t>
            </a:r>
            <a:r>
              <a:rPr lang="en-US" altLang="ko-KR" smtClean="0"/>
              <a:t>/GM/</a:t>
            </a:r>
            <a:r>
              <a:rPr lang="ko-KR" altLang="en-US" smtClean="0"/>
              <a:t>유저 사이의 관계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이벤트의 구조는</a:t>
            </a:r>
            <a:r>
              <a:rPr lang="en-US" altLang="ko-KR" smtClean="0"/>
              <a:t>, ‘</a:t>
            </a:r>
            <a:r>
              <a:rPr lang="ko-KR" altLang="en-US" smtClean="0"/>
              <a:t>퀘스트</a:t>
            </a:r>
            <a:r>
              <a:rPr lang="en-US" altLang="ko-KR" smtClean="0"/>
              <a:t>’</a:t>
            </a:r>
            <a:r>
              <a:rPr lang="ko-KR" altLang="en-US" smtClean="0"/>
              <a:t>의 구현 구조를 빌려서 만든다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725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654" y="180778"/>
            <a:ext cx="8336692" cy="64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005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이 부분을 배워야 하는 이유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영희와 철수가 바둑이를 산책시켜야 하는 퀘스트</a:t>
            </a:r>
            <a:endParaRPr lang="en-US" altLang="ko-KR" smtClean="0"/>
          </a:p>
          <a:p>
            <a:r>
              <a:rPr lang="ko-KR" altLang="en-US" smtClean="0"/>
              <a:t>시작 지점</a:t>
            </a:r>
            <a:r>
              <a:rPr lang="en-US" altLang="ko-KR" smtClean="0"/>
              <a:t>(A)</a:t>
            </a:r>
            <a:r>
              <a:rPr lang="ko-KR" altLang="en-US" smtClean="0"/>
              <a:t>과 끝 지점</a:t>
            </a:r>
            <a:r>
              <a:rPr lang="en-US" altLang="ko-KR" smtClean="0"/>
              <a:t>(B)</a:t>
            </a:r>
            <a:r>
              <a:rPr lang="ko-KR" altLang="en-US" smtClean="0"/>
              <a:t>이 있어야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조건</a:t>
            </a:r>
            <a:endParaRPr lang="en-US" altLang="ko-KR" smtClean="0"/>
          </a:p>
          <a:p>
            <a:pPr lvl="1"/>
            <a:r>
              <a:rPr lang="en-US" altLang="ko-KR" smtClean="0"/>
              <a:t>A</a:t>
            </a:r>
            <a:r>
              <a:rPr lang="ko-KR" altLang="en-US" smtClean="0"/>
              <a:t>에 있다가 </a:t>
            </a:r>
            <a:r>
              <a:rPr lang="en-US" altLang="ko-KR" smtClean="0"/>
              <a:t>B</a:t>
            </a:r>
            <a:r>
              <a:rPr lang="ko-KR" altLang="en-US" smtClean="0"/>
              <a:t>로 왔니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영희와 철수가 그 동안 서로 </a:t>
            </a:r>
            <a:r>
              <a:rPr lang="en-US" altLang="ko-KR" smtClean="0"/>
              <a:t>3m </a:t>
            </a:r>
            <a:r>
              <a:rPr lang="ko-KR" altLang="en-US" smtClean="0"/>
              <a:t>내에 붙어있었니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그 중에 바둑이도 </a:t>
            </a:r>
            <a:r>
              <a:rPr lang="en-US" altLang="ko-KR" smtClean="0"/>
              <a:t>3m </a:t>
            </a:r>
            <a:r>
              <a:rPr lang="ko-KR" altLang="en-US" smtClean="0"/>
              <a:t>반경 안에 있었니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바둑이가 도망갔어도</a:t>
            </a:r>
            <a:r>
              <a:rPr lang="en-US" altLang="ko-KR" smtClean="0"/>
              <a:t>, 2</a:t>
            </a:r>
            <a:r>
              <a:rPr lang="ko-KR" altLang="en-US" smtClean="0"/>
              <a:t>초 안에 돌아오면 돼</a:t>
            </a:r>
            <a:r>
              <a:rPr lang="en-US" altLang="ko-KR" smtClean="0"/>
              <a:t>. </a:t>
            </a:r>
            <a:r>
              <a:rPr lang="ko-KR" altLang="en-US" smtClean="0"/>
              <a:t>돌아왔니</a:t>
            </a:r>
            <a:r>
              <a:rPr lang="en-US" altLang="ko-KR" smtClean="0"/>
              <a:t>?</a:t>
            </a:r>
            <a:endParaRPr lang="en-US" altLang="ko-KR"/>
          </a:p>
          <a:p>
            <a:r>
              <a:rPr lang="ko-KR" altLang="en-US" smtClean="0"/>
              <a:t>즉 퀘스트의 조건 </a:t>
            </a:r>
            <a:r>
              <a:rPr lang="en-US" altLang="ko-KR" smtClean="0"/>
              <a:t>=&gt; </a:t>
            </a:r>
            <a:r>
              <a:rPr lang="ko-KR" altLang="en-US" smtClean="0"/>
              <a:t>영희</a:t>
            </a:r>
            <a:r>
              <a:rPr lang="en-US" altLang="ko-KR" smtClean="0"/>
              <a:t>/</a:t>
            </a:r>
            <a:r>
              <a:rPr lang="ko-KR" altLang="en-US" smtClean="0"/>
              <a:t>철수</a:t>
            </a:r>
            <a:r>
              <a:rPr lang="en-US" altLang="ko-KR" smtClean="0"/>
              <a:t>/</a:t>
            </a:r>
            <a:r>
              <a:rPr lang="ko-KR" altLang="en-US" smtClean="0"/>
              <a:t>바둑이가 </a:t>
            </a:r>
            <a:r>
              <a:rPr lang="en-US" altLang="ko-KR" smtClean="0"/>
              <a:t>3m </a:t>
            </a:r>
            <a:r>
              <a:rPr lang="ko-KR" altLang="en-US" smtClean="0"/>
              <a:t>반경 내에 서로 붙어있으면서 </a:t>
            </a:r>
            <a:r>
              <a:rPr lang="en-US" altLang="ko-KR" smtClean="0"/>
              <a:t>A</a:t>
            </a:r>
            <a:r>
              <a:rPr lang="ko-KR" altLang="en-US" smtClean="0"/>
              <a:t>에서 </a:t>
            </a:r>
            <a:r>
              <a:rPr lang="en-US" altLang="ko-KR" smtClean="0"/>
              <a:t>B</a:t>
            </a:r>
            <a:r>
              <a:rPr lang="ko-KR" altLang="en-US" smtClean="0"/>
              <a:t>까지 가는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637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퀘스트</a:t>
            </a:r>
            <a:r>
              <a:rPr lang="en-US" altLang="ko-KR" smtClean="0"/>
              <a:t>] – ppt 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Quest = </a:t>
            </a:r>
            <a:r>
              <a:rPr lang="ko-KR" altLang="en-US" smtClean="0"/>
              <a:t>조건의 단수 </a:t>
            </a:r>
            <a:r>
              <a:rPr lang="en-US" altLang="ko-KR" smtClean="0"/>
              <a:t>or </a:t>
            </a:r>
            <a:r>
              <a:rPr lang="ko-KR" altLang="en-US" smtClean="0"/>
              <a:t>복수 개의 집합</a:t>
            </a:r>
            <a:endParaRPr lang="en-US" altLang="ko-KR" smtClean="0"/>
          </a:p>
          <a:p>
            <a:r>
              <a:rPr lang="en-US" altLang="ko-KR" smtClean="0"/>
              <a:t>Ppt</a:t>
            </a:r>
            <a:r>
              <a:rPr lang="ko-KR" altLang="en-US" smtClean="0"/>
              <a:t>에는 선생님께서 조건들을 적어주셨다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이정도만 알아도 웬만한 퀘스트들을 다 만들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조건을 가지고 놀면</a:t>
            </a:r>
            <a:r>
              <a:rPr lang="en-US" altLang="ko-KR" smtClean="0"/>
              <a:t>, </a:t>
            </a:r>
            <a:r>
              <a:rPr lang="ko-KR" altLang="en-US" smtClean="0"/>
              <a:t>어떤 퀘스트라도 우리는 만들 수 있다</a:t>
            </a:r>
            <a:r>
              <a:rPr lang="en-US" altLang="ko-KR" smtClean="0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614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58" y="55714"/>
            <a:ext cx="9785684" cy="674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76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리틀나이트메어 </a:t>
            </a:r>
            <a:r>
              <a:rPr lang="en-US" altLang="ko-KR" smtClean="0"/>
              <a:t>3]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mtClean="0"/>
              <a:t>게임이 지닌 상황과 공간</a:t>
            </a:r>
            <a:r>
              <a:rPr lang="en-US" altLang="ko-KR" smtClean="0"/>
              <a:t> </a:t>
            </a:r>
            <a:r>
              <a:rPr lang="ko-KR" altLang="en-US" smtClean="0"/>
              <a:t>구성을 잘 보자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게임이 지닌 상황을</a:t>
            </a:r>
            <a:r>
              <a:rPr lang="en-US" altLang="ko-KR" smtClean="0"/>
              <a:t>, </a:t>
            </a:r>
            <a:r>
              <a:rPr lang="ko-KR" altLang="en-US" smtClean="0"/>
              <a:t>퀘스트의 밸런스는</a:t>
            </a:r>
            <a:endParaRPr lang="en-US" altLang="ko-KR" smtClean="0"/>
          </a:p>
          <a:p>
            <a:r>
              <a:rPr lang="ko-KR" altLang="en-US" smtClean="0"/>
              <a:t>얼마의 시간 동안 보스가 행동하는 지와 관련된다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타이밍</a:t>
            </a:r>
            <a:r>
              <a:rPr lang="en-US" altLang="ko-KR" smtClean="0"/>
              <a:t>‘</a:t>
            </a:r>
          </a:p>
          <a:p>
            <a:endParaRPr lang="en-US" altLang="ko-KR"/>
          </a:p>
          <a:p>
            <a:r>
              <a:rPr lang="ko-KR" altLang="en-US" smtClean="0"/>
              <a:t>죽지 않고 살아남은 보스는</a:t>
            </a:r>
            <a:r>
              <a:rPr lang="en-US" altLang="ko-KR" smtClean="0"/>
              <a:t>, </a:t>
            </a:r>
            <a:r>
              <a:rPr lang="ko-KR" altLang="en-US" smtClean="0"/>
              <a:t>이후의 시리즈에서 콘텐츠를 리사이클</a:t>
            </a:r>
            <a:r>
              <a:rPr lang="en-US" altLang="ko-KR" smtClean="0"/>
              <a:t>, </a:t>
            </a:r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재활용할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퀘스트를 설계할 때 가장 중요한 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플레이의 재미난 경험이 플레이어에게 기억에 남게 설계하는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078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심장에 주인공이 영향을 주면 변화가 일어나는 거야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그래서 폐교의 보스도 처치된 후 인간의 모습으로 잠깐 돌아왔던 거고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균열 안에서 플레이어가 친구를 구할 수 있었던 것도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친구에게 심폐소생술을 해서 그런 걸로 하자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친구의 심장에 주인공의 선의가 작동한 거야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마지막으로 모두를 구하고 균열을 모두 없애기 위해서는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주인공이 자신의 심장을 바쳐야 하는 것으로</a:t>
            </a:r>
            <a:r>
              <a:rPr lang="en-US" altLang="ko-KR" smtClean="0"/>
              <a:t>…</a:t>
            </a:r>
            <a:r>
              <a:rPr lang="ko-KR" altLang="en-US" smtClean="0"/>
              <a:t>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34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883</Words>
  <Application>Microsoft Office PowerPoint</Application>
  <PresentationFormat>와이드스크린</PresentationFormat>
  <Paragraphs>155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[퀘스트] – ppt 1</vt:lpstr>
      <vt:lpstr>PowerPoint 프레젠테이션</vt:lpstr>
      <vt:lpstr>[퀘스트] – ppt 2</vt:lpstr>
      <vt:lpstr>PowerPoint 프레젠테이션</vt:lpstr>
      <vt:lpstr>[퀘스트] – ppt 2</vt:lpstr>
      <vt:lpstr>PowerPoint 프레젠테이션</vt:lpstr>
      <vt:lpstr>[퀘스트] – ppt 2</vt:lpstr>
      <vt:lpstr>PowerPoint 프레젠테이션</vt:lpstr>
      <vt:lpstr>[퀘스트] – ppt 2</vt:lpstr>
      <vt:lpstr>PowerPoint 프레젠테이션</vt:lpstr>
      <vt:lpstr>[퀘스트] – ppt 2</vt:lpstr>
      <vt:lpstr>[퀘스트] – ppt 2</vt:lpstr>
      <vt:lpstr>PowerPoint 프레젠테이션</vt:lpstr>
      <vt:lpstr>[퀘스트] – ppt 2</vt:lpstr>
      <vt:lpstr>[퀘스트] – ppt 2</vt:lpstr>
      <vt:lpstr>[퀘스트] – ppt 2</vt:lpstr>
      <vt:lpstr>[퀘스트] – ppt 2</vt:lpstr>
      <vt:lpstr>[퀘스트] – ppt 2</vt:lpstr>
      <vt:lpstr>PowerPoint 프레젠테이션</vt:lpstr>
      <vt:lpstr>PowerPoint 프레젠테이션</vt:lpstr>
      <vt:lpstr>[퀘스트] – ppt 2</vt:lpstr>
      <vt:lpstr>PowerPoint 프레젠테이션</vt:lpstr>
      <vt:lpstr>[퀘스트] – ppt 2</vt:lpstr>
      <vt:lpstr>PowerPoint 프레젠테이션</vt:lpstr>
      <vt:lpstr>[퀘스트] – ppt 3</vt:lpstr>
      <vt:lpstr>[퀘스트] – ppt 3</vt:lpstr>
      <vt:lpstr>PowerPoint 프레젠테이션</vt:lpstr>
      <vt:lpstr>[리틀나이트메어 3]</vt:lpstr>
      <vt:lpstr>떠오른 생각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[]</dc:title>
  <dc:creator>FullName</dc:creator>
  <cp:lastModifiedBy>FullName</cp:lastModifiedBy>
  <cp:revision>17</cp:revision>
  <dcterms:created xsi:type="dcterms:W3CDTF">2026-06-19T04:59:08Z</dcterms:created>
  <dcterms:modified xsi:type="dcterms:W3CDTF">2026-06-23T06:50:22Z</dcterms:modified>
</cp:coreProperties>
</file>