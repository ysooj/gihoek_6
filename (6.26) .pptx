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F3E"/>
    <a:srgbClr val="213A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2" y="8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973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414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724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122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383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27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337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29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477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2017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D9F1-E4BC-40D1-B1F6-D72C1ACC551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276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5703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AD9F1-E4BC-40D1-B1F6-D72C1ACC551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65A6B-30E1-4723-B633-5C66D7AFD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372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전투 중 무기 바꾸기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보스와 전투할 때 페이즈별로 다른 무기를 바꿔서 대응하는 경우의 게임이 거의 없다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이유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mtClean="0"/>
              <a:t>난이도 </a:t>
            </a:r>
            <a:r>
              <a:rPr lang="en-US" altLang="ko-KR" smtClean="0"/>
              <a:t>: </a:t>
            </a:r>
            <a:r>
              <a:rPr lang="ko-KR" altLang="en-US" smtClean="0"/>
              <a:t>직업</a:t>
            </a:r>
            <a:r>
              <a:rPr lang="en-US" altLang="ko-KR" smtClean="0"/>
              <a:t>/class</a:t>
            </a:r>
            <a:r>
              <a:rPr lang="ko-KR" altLang="en-US" smtClean="0"/>
              <a:t>을 바꾸라는 말과 같기 때문</a:t>
            </a:r>
            <a:endParaRPr lang="en-US" altLang="ko-KR"/>
          </a:p>
          <a:p>
            <a:pPr lvl="2"/>
            <a:r>
              <a:rPr lang="ko-KR" altLang="en-US" smtClean="0"/>
              <a:t>던전에서는 이게 힘들거나 불가능하지만</a:t>
            </a:r>
            <a:r>
              <a:rPr lang="en-US" altLang="ko-KR" smtClean="0"/>
              <a:t>, </a:t>
            </a:r>
            <a:r>
              <a:rPr lang="ko-KR" altLang="en-US" smtClean="0"/>
              <a:t>퀘스트는 가능하다</a:t>
            </a:r>
            <a:r>
              <a:rPr lang="en-US" altLang="ko-KR" smtClean="0"/>
              <a:t>.</a:t>
            </a:r>
          </a:p>
          <a:p>
            <a:pPr lvl="2"/>
            <a:r>
              <a:rPr lang="ko-KR" altLang="en-US" smtClean="0"/>
              <a:t>퀘스트는 플레이어에게 </a:t>
            </a:r>
            <a:r>
              <a:rPr lang="en-US" altLang="ko-KR" smtClean="0"/>
              <a:t>‘</a:t>
            </a:r>
            <a:r>
              <a:rPr lang="ko-KR" altLang="en-US" smtClean="0"/>
              <a:t>할지 말지</a:t>
            </a:r>
            <a:r>
              <a:rPr lang="en-US" altLang="ko-KR" smtClean="0"/>
              <a:t>’</a:t>
            </a:r>
            <a:r>
              <a:rPr lang="ko-KR" altLang="en-US" smtClean="0"/>
              <a:t>에 대한 선택권이 있기 때문</a:t>
            </a:r>
            <a:endParaRPr lang="en-US" altLang="ko-KR" smtClean="0"/>
          </a:p>
          <a:p>
            <a:pPr lvl="2"/>
            <a:r>
              <a:rPr lang="ko-KR" altLang="en-US" smtClean="0"/>
              <a:t>퀘스트에서는 </a:t>
            </a:r>
            <a:r>
              <a:rPr lang="en-US" altLang="ko-KR" smtClean="0"/>
              <a:t>class, </a:t>
            </a:r>
            <a:r>
              <a:rPr lang="ko-KR" altLang="en-US" smtClean="0"/>
              <a:t>무기를 바꾸라고 해도 되고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패널티를 줘도 플레이어들이 괜찮아한다</a:t>
            </a:r>
            <a:r>
              <a:rPr lang="en-US" altLang="ko-KR" smtClean="0"/>
              <a:t>.</a:t>
            </a:r>
          </a:p>
          <a:p>
            <a:pPr lvl="2"/>
            <a:r>
              <a:rPr lang="ko-KR" altLang="en-US" smtClean="0"/>
              <a:t>또 다른 존재로 </a:t>
            </a:r>
            <a:r>
              <a:rPr lang="en-US" altLang="ko-KR" smtClean="0"/>
              <a:t>‘</a:t>
            </a:r>
            <a:r>
              <a:rPr lang="ko-KR" altLang="en-US" smtClean="0"/>
              <a:t>변신</a:t>
            </a:r>
            <a:r>
              <a:rPr lang="en-US" altLang="ko-KR" smtClean="0"/>
              <a:t>＇</a:t>
            </a:r>
            <a:r>
              <a:rPr lang="ko-KR" altLang="en-US" smtClean="0"/>
              <a:t>시키기도 한다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85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전개 도면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퀘스트의 제목만 보고도</a:t>
            </a:r>
            <a:endParaRPr lang="en-US" altLang="ko-KR" smtClean="0"/>
          </a:p>
          <a:p>
            <a:r>
              <a:rPr lang="ko-KR" altLang="en-US" smtClean="0"/>
              <a:t>면접관들이 재미를 느낀다면</a:t>
            </a:r>
            <a:endParaRPr lang="en-US" altLang="ko-KR" smtClean="0"/>
          </a:p>
          <a:p>
            <a:r>
              <a:rPr lang="ko-KR" altLang="en-US" smtClean="0"/>
              <a:t>그 포트폴리오는 성공이다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789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오늘 할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퀘스트별 재미 요소 넣기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458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933450" y="419101"/>
            <a:ext cx="6841331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kern="0" spc="3" smtClean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메인 퀘스트 </a:t>
            </a:r>
            <a:r>
              <a:rPr lang="en-US" altLang="ko-KR" sz="2800" b="1" kern="0" spc="3" smtClean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1 - </a:t>
            </a:r>
            <a:r>
              <a:rPr lang="ko-KR" altLang="en-US" sz="2800" b="1" kern="0" spc="3" smtClean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동생 심부름</a:t>
            </a: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68350" y="987174"/>
            <a:ext cx="10566400" cy="55425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6" name="TextBox 5"/>
          <p:cNvSpPr txBox="1"/>
          <p:nvPr/>
        </p:nvSpPr>
        <p:spPr>
          <a:xfrm>
            <a:off x="933450" y="1428750"/>
            <a:ext cx="575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>
                <a:solidFill>
                  <a:schemeClr val="bg1"/>
                </a:solidFill>
              </a:rPr>
              <a:t>“ </a:t>
            </a:r>
            <a:r>
              <a:rPr lang="ko-KR" altLang="en-US" smtClean="0">
                <a:solidFill>
                  <a:schemeClr val="bg1"/>
                </a:solidFill>
              </a:rPr>
              <a:t>도심 맵을 자연스럽게 익히는 튜토리얼형 퀘스트 </a:t>
            </a:r>
            <a:r>
              <a:rPr lang="en-US" altLang="ko-KR" smtClean="0">
                <a:solidFill>
                  <a:schemeClr val="bg1"/>
                </a:solidFill>
              </a:rPr>
              <a:t>“</a:t>
            </a:r>
            <a:endParaRPr lang="ko-KR" altLang="en-US">
              <a:solidFill>
                <a:schemeClr val="bg1"/>
              </a:solidFill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338337"/>
              </p:ext>
            </p:extLst>
          </p:nvPr>
        </p:nvGraphicFramePr>
        <p:xfrm>
          <a:off x="933450" y="2338916"/>
          <a:ext cx="9874250" cy="340070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146181">
                  <a:extLst>
                    <a:ext uri="{9D8B030D-6E8A-4147-A177-3AD203B41FA5}">
                      <a16:colId xmlns:a16="http://schemas.microsoft.com/office/drawing/2014/main" val="3931637329"/>
                    </a:ext>
                  </a:extLst>
                </a:gridCol>
                <a:gridCol w="6728069">
                  <a:extLst>
                    <a:ext uri="{9D8B030D-6E8A-4147-A177-3AD203B41FA5}">
                      <a16:colId xmlns:a16="http://schemas.microsoft.com/office/drawing/2014/main" val="3109178761"/>
                    </a:ext>
                  </a:extLst>
                </a:gridCol>
              </a:tblGrid>
              <a:tr h="692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구성 요소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플레이 경험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863383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신상 과자 구매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smtClean="0">
                          <a:solidFill>
                            <a:schemeClr val="bg1"/>
                          </a:solidFill>
                        </a:rPr>
                        <a:t>NPC </a:t>
                      </a:r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경쟁과 재고 </a:t>
                      </a:r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부족으로 </a:t>
                      </a:r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가벼운 </a:t>
                      </a:r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긴장감 </a:t>
                      </a:r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생성</a:t>
                      </a:r>
                      <a:endParaRPr lang="en-US" altLang="ko-KR" b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241057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심부름 동선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이동 동선 및 상점 이용 학습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098091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배송 트럭 등장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다음 이벤트를 예고하는 시각적 트리거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705115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926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046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933450" y="419101"/>
            <a:ext cx="6841331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kern="0" spc="3" smtClean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메인 퀘스트 </a:t>
            </a:r>
            <a:r>
              <a:rPr lang="en-US" altLang="ko-KR" sz="2800" b="1" kern="0" spc="3" smtClean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1 - </a:t>
            </a:r>
            <a:r>
              <a:rPr lang="ko-KR" altLang="en-US" sz="2800" b="1" kern="0" spc="3" smtClean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동생 심부름</a:t>
            </a: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68350" y="987174"/>
            <a:ext cx="10566400" cy="55425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6" name="TextBox 5"/>
          <p:cNvSpPr txBox="1"/>
          <p:nvPr/>
        </p:nvSpPr>
        <p:spPr>
          <a:xfrm>
            <a:off x="933450" y="1428750"/>
            <a:ext cx="575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>
                <a:solidFill>
                  <a:schemeClr val="bg1"/>
                </a:solidFill>
              </a:rPr>
              <a:t>“ </a:t>
            </a:r>
            <a:r>
              <a:rPr lang="ko-KR" altLang="en-US" smtClean="0">
                <a:solidFill>
                  <a:schemeClr val="bg1"/>
                </a:solidFill>
              </a:rPr>
              <a:t>도심 맵을 자연스럽게 익히는 튜토리얼형 퀘스트 </a:t>
            </a:r>
            <a:r>
              <a:rPr lang="en-US" altLang="ko-KR" smtClean="0">
                <a:solidFill>
                  <a:schemeClr val="bg1"/>
                </a:solidFill>
              </a:rPr>
              <a:t>“</a:t>
            </a:r>
            <a:endParaRPr lang="ko-KR" altLang="en-US">
              <a:solidFill>
                <a:schemeClr val="bg1"/>
              </a:solidFill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933450" y="2338916"/>
          <a:ext cx="9874250" cy="340070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146181">
                  <a:extLst>
                    <a:ext uri="{9D8B030D-6E8A-4147-A177-3AD203B41FA5}">
                      <a16:colId xmlns:a16="http://schemas.microsoft.com/office/drawing/2014/main" val="3931637329"/>
                    </a:ext>
                  </a:extLst>
                </a:gridCol>
                <a:gridCol w="6728069">
                  <a:extLst>
                    <a:ext uri="{9D8B030D-6E8A-4147-A177-3AD203B41FA5}">
                      <a16:colId xmlns:a16="http://schemas.microsoft.com/office/drawing/2014/main" val="3109178761"/>
                    </a:ext>
                  </a:extLst>
                </a:gridCol>
              </a:tblGrid>
              <a:tr h="692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구성 요소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플레이 경험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863383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신상 과자 구매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smtClean="0">
                          <a:solidFill>
                            <a:schemeClr val="bg1"/>
                          </a:solidFill>
                        </a:rPr>
                        <a:t>NPC </a:t>
                      </a:r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경쟁과 재고 </a:t>
                      </a:r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부족으로 </a:t>
                      </a:r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가벼운 </a:t>
                      </a:r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긴장감 </a:t>
                      </a:r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생성</a:t>
                      </a:r>
                      <a:endParaRPr lang="en-US" altLang="ko-KR" b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241057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심부름 동선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이동 동선 및 상점 이용 학습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098091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배송 트럭 등장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bg1"/>
                          </a:solidFill>
                        </a:rPr>
                        <a:t>다음 이벤트를 예고하는 시각적 트리거</a:t>
                      </a:r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705115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926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67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/>
        </p:nvSpPr>
        <p:spPr>
          <a:xfrm>
            <a:off x="933450" y="419101"/>
            <a:ext cx="6841331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메인 퀘스트 </a:t>
            </a:r>
            <a:r>
              <a:rPr lang="en-US" altLang="ko-KR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1 - </a:t>
            </a:r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동생 심부름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33450" y="1428750"/>
            <a:ext cx="575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“ </a:t>
            </a:r>
            <a:r>
              <a:rPr lang="ko-KR" altLang="en-US" smtClean="0"/>
              <a:t>도심 맵을 익히는 생활형 튜토리얼 퀘스트 </a:t>
            </a:r>
            <a:r>
              <a:rPr lang="en-US" altLang="ko-KR" smtClean="0"/>
              <a:t>“</a:t>
            </a: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101087"/>
              </p:ext>
            </p:extLst>
          </p:nvPr>
        </p:nvGraphicFramePr>
        <p:xfrm>
          <a:off x="933450" y="2338916"/>
          <a:ext cx="8857664" cy="340070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822271">
                  <a:extLst>
                    <a:ext uri="{9D8B030D-6E8A-4147-A177-3AD203B41FA5}">
                      <a16:colId xmlns:a16="http://schemas.microsoft.com/office/drawing/2014/main" val="3931637329"/>
                    </a:ext>
                  </a:extLst>
                </a:gridCol>
                <a:gridCol w="6035393">
                  <a:extLst>
                    <a:ext uri="{9D8B030D-6E8A-4147-A177-3AD203B41FA5}">
                      <a16:colId xmlns:a16="http://schemas.microsoft.com/office/drawing/2014/main" val="3109178761"/>
                    </a:ext>
                  </a:extLst>
                </a:gridCol>
              </a:tblGrid>
              <a:tr h="692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구성 요소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플레이 경험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863383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편의점 재입고 경쟁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한정 재고</a:t>
                      </a:r>
                      <a:r>
                        <a:rPr lang="en-US" altLang="ko-KR" b="0" smtClean="0">
                          <a:solidFill>
                            <a:schemeClr val="tx1"/>
                          </a:solidFill>
                        </a:rPr>
                        <a:t>, NPC</a:t>
                      </a:r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와의 경쟁으로 가벼운 긴장감 형성</a:t>
                      </a:r>
                      <a:endParaRPr lang="en-US" altLang="ko-KR" b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241057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스마트폰 상호작용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smtClean="0">
                          <a:solidFill>
                            <a:schemeClr val="tx1"/>
                          </a:solidFill>
                        </a:rPr>
                        <a:t>UI</a:t>
                      </a:r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를 활용한 현실감있는 플레이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098091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중고거래 </a:t>
                      </a:r>
                      <a:r>
                        <a:rPr lang="en-US" altLang="ko-KR" b="0" smtClean="0">
                          <a:solidFill>
                            <a:schemeClr val="tx1"/>
                          </a:solidFill>
                        </a:rPr>
                        <a:t>NPC </a:t>
                      </a:r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판별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비슷한 </a:t>
                      </a:r>
                      <a:r>
                        <a:rPr lang="en-US" altLang="ko-KR" b="0" smtClean="0">
                          <a:solidFill>
                            <a:schemeClr val="tx1"/>
                          </a:solidFill>
                        </a:rPr>
                        <a:t>NPC </a:t>
                      </a:r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중 진짜 판매자를 찾는 관찰 재미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705115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분리수거 미니 게임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단순 반복을 작은 판단 플레이로 변환</a:t>
                      </a:r>
                      <a:endParaRPr lang="en-US" altLang="ko-KR" b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41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647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/>
        </p:nvSpPr>
        <p:spPr>
          <a:xfrm>
            <a:off x="933450" y="419101"/>
            <a:ext cx="6841331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메인 퀘스트 </a:t>
            </a:r>
            <a:r>
              <a:rPr lang="en-US" altLang="ko-KR" sz="2800" b="1" kern="0" spc="3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r>
              <a:rPr lang="en-US" altLang="ko-KR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– </a:t>
            </a:r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공원 청소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33450" y="1428750"/>
            <a:ext cx="6466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“ </a:t>
            </a:r>
            <a:r>
              <a:rPr lang="ko-KR" altLang="en-US" smtClean="0"/>
              <a:t>균열의 등장으로 평범한 일상이 흔들리는 전환 퀘스트 </a:t>
            </a:r>
            <a:r>
              <a:rPr lang="en-US" altLang="ko-KR" smtClean="0"/>
              <a:t>“</a:t>
            </a: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498679"/>
              </p:ext>
            </p:extLst>
          </p:nvPr>
        </p:nvGraphicFramePr>
        <p:xfrm>
          <a:off x="933450" y="2338916"/>
          <a:ext cx="8857664" cy="272367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822271">
                  <a:extLst>
                    <a:ext uri="{9D8B030D-6E8A-4147-A177-3AD203B41FA5}">
                      <a16:colId xmlns:a16="http://schemas.microsoft.com/office/drawing/2014/main" val="3931637329"/>
                    </a:ext>
                  </a:extLst>
                </a:gridCol>
                <a:gridCol w="6035393">
                  <a:extLst>
                    <a:ext uri="{9D8B030D-6E8A-4147-A177-3AD203B41FA5}">
                      <a16:colId xmlns:a16="http://schemas.microsoft.com/office/drawing/2014/main" val="3109178761"/>
                    </a:ext>
                  </a:extLst>
                </a:gridCol>
              </a:tblGrid>
              <a:tr h="692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구성 요소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플레이 경험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863383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분리수거 미니게임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단순 반복에 짧은 미니게임을 더해 플레이 리듬 변화</a:t>
                      </a:r>
                      <a:endParaRPr lang="en-US" altLang="ko-KR" b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241057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098091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705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489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/>
        </p:nvSpPr>
        <p:spPr>
          <a:xfrm>
            <a:off x="933450" y="419101"/>
            <a:ext cx="6841331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메인 퀘스트 </a:t>
            </a:r>
            <a:r>
              <a:rPr lang="en-US" altLang="ko-KR" sz="2800" b="1" kern="0" spc="3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</a:t>
            </a:r>
            <a:r>
              <a:rPr lang="en-US" altLang="ko-KR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– </a:t>
            </a:r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재난 대응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33450" y="1428750"/>
            <a:ext cx="6944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“ </a:t>
            </a:r>
            <a:r>
              <a:rPr lang="ko-KR" altLang="en-US" smtClean="0"/>
              <a:t>재난 속 일상과</a:t>
            </a:r>
            <a:r>
              <a:rPr lang="en-US" altLang="ko-KR" smtClean="0"/>
              <a:t> </a:t>
            </a:r>
            <a:r>
              <a:rPr lang="ko-KR" altLang="en-US" smtClean="0"/>
              <a:t>선의의 규칙을 배우는 퀘스트 </a:t>
            </a:r>
            <a:r>
              <a:rPr lang="en-US" altLang="ko-KR" smtClean="0"/>
              <a:t>“</a:t>
            </a: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878675"/>
              </p:ext>
            </p:extLst>
          </p:nvPr>
        </p:nvGraphicFramePr>
        <p:xfrm>
          <a:off x="933450" y="2338916"/>
          <a:ext cx="8857664" cy="272367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822271">
                  <a:extLst>
                    <a:ext uri="{9D8B030D-6E8A-4147-A177-3AD203B41FA5}">
                      <a16:colId xmlns:a16="http://schemas.microsoft.com/office/drawing/2014/main" val="3931637329"/>
                    </a:ext>
                  </a:extLst>
                </a:gridCol>
                <a:gridCol w="6035393">
                  <a:extLst>
                    <a:ext uri="{9D8B030D-6E8A-4147-A177-3AD203B41FA5}">
                      <a16:colId xmlns:a16="http://schemas.microsoft.com/office/drawing/2014/main" val="3109178761"/>
                    </a:ext>
                  </a:extLst>
                </a:gridCol>
              </a:tblGrid>
              <a:tr h="692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구성 요소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플레이 경험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863383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할머니 구출 장면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괴물을 상대하는 규칙을 극적으로 암시</a:t>
                      </a:r>
                      <a:endParaRPr lang="en-US" altLang="ko-KR" b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241057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유튜버 생방송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현실적인 요소 추가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098091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705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484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/>
        </p:nvSpPr>
        <p:spPr>
          <a:xfrm>
            <a:off x="933450" y="419101"/>
            <a:ext cx="6841331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메인 퀘스트 </a:t>
            </a:r>
            <a:r>
              <a:rPr lang="en-US" altLang="ko-KR" sz="2800" b="1" kern="0" spc="3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</a:t>
            </a:r>
            <a:r>
              <a:rPr lang="en-US" altLang="ko-KR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- </a:t>
            </a:r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폐교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33450" y="1428750"/>
            <a:ext cx="575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“ </a:t>
            </a:r>
            <a:r>
              <a:rPr lang="ko-KR" altLang="en-US" smtClean="0"/>
              <a:t>괴물의 진실을 처음 마주하는 폐교 던전 </a:t>
            </a:r>
            <a:r>
              <a:rPr lang="en-US" altLang="ko-KR" smtClean="0"/>
              <a:t>“</a:t>
            </a: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742765"/>
              </p:ext>
            </p:extLst>
          </p:nvPr>
        </p:nvGraphicFramePr>
        <p:xfrm>
          <a:off x="933449" y="2338916"/>
          <a:ext cx="9814267" cy="272367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127068">
                  <a:extLst>
                    <a:ext uri="{9D8B030D-6E8A-4147-A177-3AD203B41FA5}">
                      <a16:colId xmlns:a16="http://schemas.microsoft.com/office/drawing/2014/main" val="3931637329"/>
                    </a:ext>
                  </a:extLst>
                </a:gridCol>
                <a:gridCol w="6687199">
                  <a:extLst>
                    <a:ext uri="{9D8B030D-6E8A-4147-A177-3AD203B41FA5}">
                      <a16:colId xmlns:a16="http://schemas.microsoft.com/office/drawing/2014/main" val="3109178761"/>
                    </a:ext>
                  </a:extLst>
                </a:gridCol>
              </a:tblGrid>
              <a:tr h="692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구성 요소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플레이 경험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863383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보건실 침대 밑 숨기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위협을 피하는 긴장감과 은신 규칙 학습</a:t>
                      </a:r>
                      <a:endParaRPr lang="en-US" altLang="ko-KR" b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241057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평범한 학교 기억 공간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잠시 안심하게 만든 뒤</a:t>
                      </a:r>
                      <a:r>
                        <a:rPr lang="en-US" altLang="ko-KR" b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ko-KR" b="0" baseline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baseline="0" smtClean="0">
                          <a:solidFill>
                            <a:schemeClr val="tx1"/>
                          </a:solidFill>
                        </a:rPr>
                        <a:t>학교 폭력의 불편함을 체험시키는 반전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098091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우정 목걸이 보스전 연출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전투의 감정적 해소와 진실 공개로 이어지는 클라이맥스 형성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705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986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/>
        </p:nvSpPr>
        <p:spPr>
          <a:xfrm>
            <a:off x="933450" y="419101"/>
            <a:ext cx="6841331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메인 퀘스트 </a:t>
            </a:r>
            <a:r>
              <a:rPr lang="en-US" altLang="ko-KR" sz="2800" b="1" kern="0" spc="3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</a:t>
            </a:r>
            <a:r>
              <a:rPr lang="en-US" altLang="ko-KR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– </a:t>
            </a:r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균열 탐색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33450" y="1428750"/>
            <a:ext cx="594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“ </a:t>
            </a:r>
            <a:r>
              <a:rPr lang="ko-KR" altLang="en-US" smtClean="0"/>
              <a:t>균열 내부에서 자신의 정체를 마주하는 탐색 퀘스트 </a:t>
            </a:r>
            <a:r>
              <a:rPr lang="en-US" altLang="ko-KR" smtClean="0"/>
              <a:t>“</a:t>
            </a: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814706"/>
              </p:ext>
            </p:extLst>
          </p:nvPr>
        </p:nvGraphicFramePr>
        <p:xfrm>
          <a:off x="933449" y="2338916"/>
          <a:ext cx="9856471" cy="272367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140515">
                  <a:extLst>
                    <a:ext uri="{9D8B030D-6E8A-4147-A177-3AD203B41FA5}">
                      <a16:colId xmlns:a16="http://schemas.microsoft.com/office/drawing/2014/main" val="3931637329"/>
                    </a:ext>
                  </a:extLst>
                </a:gridCol>
                <a:gridCol w="6715956">
                  <a:extLst>
                    <a:ext uri="{9D8B030D-6E8A-4147-A177-3AD203B41FA5}">
                      <a16:colId xmlns:a16="http://schemas.microsoft.com/office/drawing/2014/main" val="3109178761"/>
                    </a:ext>
                  </a:extLst>
                </a:gridCol>
              </a:tblGrid>
              <a:tr h="692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구성 요소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플레이 경험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13A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863383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방향 반전 조작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플레이 규칙 자체가 바뀌는 낯선 조작 경험 제공</a:t>
                      </a:r>
                      <a:endParaRPr lang="en-US" altLang="ko-KR" b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241057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거울 미로와 전신 거울 파괴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자기 자신과 마주한 뒤 공간을 탈출하는 상징적 해결감 제공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098091"/>
                  </a:ext>
                </a:extLst>
              </a:tr>
              <a:tr h="67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바다 위 껍데기 사람들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smtClean="0">
                          <a:solidFill>
                            <a:schemeClr val="tx1"/>
                          </a:solidFill>
                        </a:rPr>
                        <a:t>선의가 소진된 인간들의 최종 이미지를 강하게 각인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705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7806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눈물 방울 6"/>
          <p:cNvSpPr/>
          <p:nvPr/>
        </p:nvSpPr>
        <p:spPr>
          <a:xfrm rot="21078534">
            <a:off x="3372142" y="3996623"/>
            <a:ext cx="2634175" cy="2634175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눈물 방울 7"/>
          <p:cNvSpPr/>
          <p:nvPr/>
        </p:nvSpPr>
        <p:spPr>
          <a:xfrm rot="589603" flipH="1">
            <a:off x="6208640" y="4018275"/>
            <a:ext cx="2635200" cy="2634175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눈물 방울 8"/>
          <p:cNvSpPr/>
          <p:nvPr/>
        </p:nvSpPr>
        <p:spPr>
          <a:xfrm rot="17649957" flipH="1">
            <a:off x="7165651" y="1473845"/>
            <a:ext cx="2635200" cy="2634175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눈물 방울 9"/>
          <p:cNvSpPr/>
          <p:nvPr/>
        </p:nvSpPr>
        <p:spPr>
          <a:xfrm rot="9263010" flipH="1">
            <a:off x="2376084" y="1488317"/>
            <a:ext cx="2635200" cy="2634175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눈물 방울 10"/>
          <p:cNvSpPr/>
          <p:nvPr/>
        </p:nvSpPr>
        <p:spPr>
          <a:xfrm rot="13500468" flipH="1">
            <a:off x="4762635" y="71438"/>
            <a:ext cx="2635200" cy="2634175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3"/>
          <p:cNvSpPr/>
          <p:nvPr/>
        </p:nvSpPr>
        <p:spPr>
          <a:xfrm>
            <a:off x="1273251" y="361719"/>
            <a:ext cx="1544975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5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 </a:t>
            </a:r>
            <a:r>
              <a:rPr lang="ko-KR" altLang="en-US" sz="15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동생 심부름</a:t>
            </a:r>
            <a:endParaRPr lang="en-US" sz="1500" dirty="0"/>
          </a:p>
        </p:txBody>
      </p:sp>
      <p:sp>
        <p:nvSpPr>
          <p:cNvPr id="3" name="TextBox 2"/>
          <p:cNvSpPr txBox="1"/>
          <p:nvPr/>
        </p:nvSpPr>
        <p:spPr>
          <a:xfrm>
            <a:off x="933450" y="1428750"/>
            <a:ext cx="575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“ </a:t>
            </a:r>
            <a:r>
              <a:rPr lang="ko-KR" altLang="en-US" smtClean="0"/>
              <a:t>도심 맵을 익히는 생활형 튜토리얼 퀘스트 </a:t>
            </a:r>
            <a:r>
              <a:rPr lang="en-US" altLang="ko-KR" smtClean="0"/>
              <a:t>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710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799" y="332819"/>
            <a:ext cx="4724402" cy="619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517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1" y="272786"/>
            <a:ext cx="11506198" cy="631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796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87206"/>
            <a:ext cx="11125200" cy="608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5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따라하기</a:t>
            </a:r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mtClean="0"/>
              <a:t>P12 : </a:t>
            </a:r>
            <a:r>
              <a:rPr lang="ko-KR" altLang="en-US" smtClean="0"/>
              <a:t>각각의 퀘스트를 에피소드별로 정리</a:t>
            </a:r>
            <a:endParaRPr lang="en-US" altLang="ko-KR" smtClean="0"/>
          </a:p>
          <a:p>
            <a:r>
              <a:rPr lang="en-US" altLang="ko-KR" smtClean="0"/>
              <a:t>P13 - 1 : </a:t>
            </a:r>
            <a:r>
              <a:rPr lang="ko-KR" altLang="en-US" smtClean="0"/>
              <a:t>인포그라픽으로 플레이 흐름 정리하고</a:t>
            </a:r>
            <a:r>
              <a:rPr lang="en-US" altLang="ko-KR" smtClean="0"/>
              <a:t>, </a:t>
            </a:r>
            <a:r>
              <a:rPr lang="ko-KR" altLang="en-US" smtClean="0"/>
              <a:t>주요한 상황에 대한 이미지 생성</a:t>
            </a:r>
            <a:endParaRPr lang="en-US" altLang="ko-KR" smtClean="0"/>
          </a:p>
          <a:p>
            <a:r>
              <a:rPr lang="en-US" altLang="ko-KR" smtClean="0"/>
              <a:t>P13 – 2 : </a:t>
            </a:r>
            <a:r>
              <a:rPr lang="ko-KR" altLang="en-US" smtClean="0"/>
              <a:t>표의 길이는 제한되지 않으니</a:t>
            </a:r>
            <a:r>
              <a:rPr lang="en-US" altLang="ko-KR" smtClean="0"/>
              <a:t>, </a:t>
            </a:r>
            <a:r>
              <a:rPr lang="ko-KR" altLang="en-US" smtClean="0"/>
              <a:t>구체적이고 자세하게 내용을 적어주면 좋다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P14 - 1 : </a:t>
            </a:r>
            <a:r>
              <a:rPr lang="ko-KR" altLang="en-US" smtClean="0"/>
              <a:t>맵에 동선을 예시보다 깔끔하고 보기 좋게 만들자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		</a:t>
            </a:r>
            <a:r>
              <a:rPr lang="ko-KR" altLang="en-US" smtClean="0"/>
              <a:t>동선에 번호를 매겨서 이야기와 플레이의 목적에 따</a:t>
            </a:r>
            <a:r>
              <a:rPr lang="en-US" altLang="ko-KR" smtClean="0"/>
              <a:t>			</a:t>
            </a:r>
            <a:r>
              <a:rPr lang="ko-KR" altLang="en-US" smtClean="0"/>
              <a:t>라 흐름을 적어주자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P14 – 2 : </a:t>
            </a:r>
            <a:r>
              <a:rPr lang="ko-KR" altLang="en-US" smtClean="0"/>
              <a:t>숲에 대한 설명을 적는 것</a:t>
            </a:r>
            <a:r>
              <a:rPr lang="en-US" altLang="ko-KR" smtClean="0"/>
              <a:t>. </a:t>
            </a:r>
            <a:r>
              <a:rPr lang="ko-KR" altLang="en-US" smtClean="0"/>
              <a:t>퀘스트 전반적인 설명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024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/>
        </p:nvSpPr>
        <p:spPr>
          <a:xfrm>
            <a:off x="933450" y="419101"/>
            <a:ext cx="6841331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kern="0" spc="3" smtClean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퀘스트 시나리오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33450" y="1428750"/>
            <a:ext cx="575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smtClean="0"/>
              <a:t>Q1 </a:t>
            </a:r>
            <a:r>
              <a:rPr lang="ko-KR" altLang="en-US" b="1" smtClean="0"/>
              <a:t>동생 심부름</a:t>
            </a:r>
            <a:endParaRPr lang="ko-KR" altLang="en-US" b="1"/>
          </a:p>
        </p:txBody>
      </p:sp>
      <p:sp>
        <p:nvSpPr>
          <p:cNvPr id="5" name="TextBox 4"/>
          <p:cNvSpPr txBox="1"/>
          <p:nvPr/>
        </p:nvSpPr>
        <p:spPr>
          <a:xfrm>
            <a:off x="933450" y="2053883"/>
            <a:ext cx="102362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주말 아침</a:t>
            </a:r>
            <a:r>
              <a:rPr lang="en-US" altLang="ko-KR" smtClean="0"/>
              <a:t>, </a:t>
            </a:r>
            <a:r>
              <a:rPr lang="ko-KR" altLang="en-US" smtClean="0"/>
              <a:t>집안일을 하던 차한해에게 동생은 여느 때처럼 귀찮은 심부름을 시킨다</a:t>
            </a:r>
            <a:r>
              <a:rPr lang="en-US" altLang="ko-KR" smtClean="0"/>
              <a:t>. </a:t>
            </a:r>
            <a:r>
              <a:rPr lang="ko-KR" altLang="en-US" smtClean="0"/>
              <a:t>차한해는 편의점 신상 과자</a:t>
            </a:r>
            <a:r>
              <a:rPr lang="en-US" altLang="ko-KR" smtClean="0"/>
              <a:t>, </a:t>
            </a:r>
            <a:r>
              <a:rPr lang="ko-KR" altLang="en-US" smtClean="0"/>
              <a:t>다이소 화장용 퍼프</a:t>
            </a:r>
            <a:r>
              <a:rPr lang="en-US" altLang="ko-KR" smtClean="0"/>
              <a:t>, </a:t>
            </a:r>
            <a:r>
              <a:rPr lang="ko-KR" altLang="en-US" smtClean="0"/>
              <a:t>영화관 팝콘을 사기 위해 집을 나선다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가장 먼저 들른 편의점에서는 신상 과자가 품절되어 있고</a:t>
            </a:r>
            <a:r>
              <a:rPr lang="en-US" altLang="ko-KR" smtClean="0"/>
              <a:t>, </a:t>
            </a:r>
            <a:r>
              <a:rPr lang="ko-KR" altLang="en-US" smtClean="0"/>
              <a:t>차한해는 재입고 예정이라는 정보만 얻은 채 다른 목적지로 향한다</a:t>
            </a:r>
            <a:r>
              <a:rPr lang="en-US" altLang="ko-KR" smtClean="0"/>
              <a:t>. </a:t>
            </a:r>
            <a:r>
              <a:rPr lang="ko-KR" altLang="en-US" smtClean="0"/>
              <a:t>이동 중 팝콘 심부름이 취소되면서</a:t>
            </a:r>
            <a:r>
              <a:rPr lang="en-US" altLang="ko-KR" smtClean="0"/>
              <a:t>, </a:t>
            </a:r>
            <a:r>
              <a:rPr lang="ko-KR" altLang="en-US" smtClean="0"/>
              <a:t>플레이어는 다이소에서 화장용 퍼프를 구매한다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다이소를 나서자 편의점 배송 트럭이 지나가고</a:t>
            </a:r>
            <a:r>
              <a:rPr lang="en-US" altLang="ko-KR" smtClean="0"/>
              <a:t>, NPC</a:t>
            </a:r>
            <a:r>
              <a:rPr lang="ko-KR" altLang="en-US" smtClean="0"/>
              <a:t>들이 신상 과자 재입고를 눈치채고 편의점으로 몰려간다</a:t>
            </a:r>
            <a:r>
              <a:rPr lang="en-US" altLang="ko-KR" smtClean="0"/>
              <a:t>. </a:t>
            </a:r>
            <a:r>
              <a:rPr lang="ko-KR" altLang="en-US" smtClean="0"/>
              <a:t>플레이어는 편의점으로 돌아가 줄을 서고</a:t>
            </a:r>
            <a:r>
              <a:rPr lang="en-US" altLang="ko-KR" smtClean="0"/>
              <a:t>, </a:t>
            </a:r>
            <a:r>
              <a:rPr lang="ko-KR" altLang="en-US" smtClean="0"/>
              <a:t>신상 과자를 구매한다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과자 구매 후 동생은 중고거래 용건까지 떠넘긴다</a:t>
            </a:r>
            <a:r>
              <a:rPr lang="en-US" altLang="ko-KR" smtClean="0"/>
              <a:t>. </a:t>
            </a:r>
            <a:r>
              <a:rPr lang="ko-KR" altLang="en-US" smtClean="0"/>
              <a:t>플레이어는 ‘회색 후드티’</a:t>
            </a:r>
            <a:r>
              <a:rPr lang="en-US" altLang="ko-KR" smtClean="0"/>
              <a:t>, ‘</a:t>
            </a:r>
            <a:r>
              <a:rPr lang="ko-KR" altLang="en-US" smtClean="0"/>
              <a:t>무선 이어폰 오른쪽’이라는 단서만으로 지하철역의 </a:t>
            </a:r>
            <a:r>
              <a:rPr lang="en-US" altLang="ko-KR" smtClean="0"/>
              <a:t>NPC</a:t>
            </a:r>
            <a:r>
              <a:rPr lang="ko-KR" altLang="en-US" smtClean="0"/>
              <a:t>들 사이에서 판매자를 찾아 거래를 완료한다</a:t>
            </a:r>
            <a:r>
              <a:rPr lang="en-US" altLang="ko-KR" smtClean="0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51977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569</Words>
  <Application>Microsoft Office PowerPoint</Application>
  <PresentationFormat>와이드스크린</PresentationFormat>
  <Paragraphs>97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Space Grotesk Bold</vt:lpstr>
      <vt:lpstr>맑은 고딕</vt:lpstr>
      <vt:lpstr>Arial</vt:lpstr>
      <vt:lpstr>Office 테마</vt:lpstr>
      <vt:lpstr>전투 중 무기 바꾸기</vt:lpstr>
      <vt:lpstr>퀘스트 전개 도면</vt:lpstr>
      <vt:lpstr>오늘 할 것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전투 중 무기 바꾸기</dc:title>
  <dc:creator>FullName</dc:creator>
  <cp:lastModifiedBy>FullName</cp:lastModifiedBy>
  <cp:revision>12</cp:revision>
  <dcterms:created xsi:type="dcterms:W3CDTF">2026-06-26T05:00:16Z</dcterms:created>
  <dcterms:modified xsi:type="dcterms:W3CDTF">2026-06-26T06:51:13Z</dcterms:modified>
</cp:coreProperties>
</file>