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3" r:id="rId4"/>
    <p:sldId id="264" r:id="rId5"/>
    <p:sldId id="265" r:id="rId6"/>
    <p:sldId id="266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31A"/>
    <a:srgbClr val="556B2F"/>
    <a:srgbClr val="34311E"/>
    <a:srgbClr val="E5C609"/>
    <a:srgbClr val="968168"/>
    <a:srgbClr val="A99883"/>
    <a:srgbClr val="B0A08C"/>
    <a:srgbClr val="E8DCC4"/>
    <a:srgbClr val="EBC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8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BC392-AE78-4A54-B98D-51A1263E787B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FE2D1-D0EA-4611-B871-4104CBE0A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39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7256E-457B-9BA0-709B-5299280AB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A8C897-98A9-341F-EFB8-6FF8F8159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DC3E73-6489-C3F0-01A6-8BEA2395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BC9B1A-3F9E-835A-D824-9F338906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EB428-1A0F-7150-57F9-1F613886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9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0E9D9-0289-1779-6B57-4DC3C1F5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385FB-BDCF-87F7-FCA7-646D60D76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AFF89-D6BB-3181-6EA1-EB97C0BB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976D8D-9770-4A9F-6933-273128A1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E8E64-8D5C-69C0-D34D-BC83A323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2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3CC79-77A9-EC6C-2915-74B1434B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E2F66D-8D98-5887-FFBA-2AE5AFC9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EE2E5-BBF9-8FB8-F735-8894DD14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DF553B-629C-DF17-3AF3-517E6208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236F7-D398-97FC-8BBD-9A856104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56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2E4AF-5B7D-61C6-FA67-FCBDE8A4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75C52-7BBC-B2A9-D813-CD37F6CB9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D6A3CA-90B7-23E4-4073-AD285C08E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DEA62F-A832-068B-5430-E3037677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CD80C8-758F-E02A-0901-0349C3D0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830B4-7D2E-8C96-8DEF-6608F165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8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CB489-E60F-768B-FF6E-E43E9558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F9BB49-0B0C-A075-9F0E-4E248BD83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40D2EC-11E4-11C2-F8B0-0F886B5B9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7D9183-B6B9-070F-CB5C-ACFCB818B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0A19E4-D91C-F28A-EF3C-710DA4882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756E8F-7574-90E9-F859-ADF490A6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2CE90D-E5AB-C0AB-D1D8-27D46180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A58727-67A8-A81D-C044-A31CD8DC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9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1C7FF-072D-5D53-24EB-5E4AA95D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CFDA75-DABB-9B7A-CFA9-73774D45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B978F3-46F1-8DAB-0C50-C15FF312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CAB083-142C-9E19-9B3F-E6069828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09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5BD316-A44B-E225-6F4C-0A85BAF2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9D6517-E988-A536-77F0-B6D2E927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1A22E-E1D0-AA62-CFF1-8C738C9E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9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FDC20-1D80-AD70-86BC-E8C01E5A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3B95F3-35A5-0B75-7DDB-28A69DE7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76201-C073-8DD2-522E-6F15D4DF7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D6E120-38B6-750B-9FF5-C0A6FE6D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3290F-9D1B-0DEC-5541-5A7E74D9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90896C-8133-4BE9-1543-7C2FF877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29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6B235-5B9C-6F3A-617D-85151147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64F385-5A2D-E99E-95A8-A2741544B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FDFF55-57C0-8D77-85D4-A13ABAF7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84A21A-F139-87AE-D991-F99CC312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F19807-AB86-2C1D-318C-8E0BFD2E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00F981-8679-1513-7BBA-171DCAF8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27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715EB-B45B-69CD-D1B4-549AF58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9CD594-80E8-B17B-BEFF-7FEB5CE84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3D455-80BF-FB69-4C1C-1E21163B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478BA-44D9-A293-9E77-5A890E44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26578E-AD93-B2C2-349C-9ECF79CA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8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C162A0-6930-F34F-D64B-1B6433611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917136-190D-124B-884D-892978159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29841D-CC32-CAE7-AA2B-1A55EEF4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25B269-8041-C863-E64C-E003FD17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1EB27-3403-4ED7-01C1-5E1635A9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689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93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BC2EA6-A685-BF4C-DD77-B8BF9FAF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ECA5C5-7B18-7817-5C7B-5056E5A8A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B5608-55C2-CED0-92D5-CA064770C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D796-780A-4096-A6F6-5DC434B43C4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82934-9478-8EBF-8136-F40E183E5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2D6A98-8FCE-DC5E-AA66-9BA5559F6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26FC8-D9FB-4122-A563-66B8D4563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4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0">
            <a:extLst>
              <a:ext uri="{FF2B5EF4-FFF2-40B4-BE49-F238E27FC236}">
                <a16:creationId xmlns:a16="http://schemas.microsoft.com/office/drawing/2014/main" id="{592BA9D9-CBF8-772F-E1EC-4147457D945B}"/>
              </a:ext>
            </a:extLst>
          </p:cNvPr>
          <p:cNvSpPr/>
          <p:nvPr/>
        </p:nvSpPr>
        <p:spPr>
          <a:xfrm>
            <a:off x="6191023" y="1996035"/>
            <a:ext cx="5477297" cy="3635187"/>
          </a:xfrm>
          <a:prstGeom prst="rect">
            <a:avLst/>
          </a:prstGeom>
          <a:solidFill>
            <a:srgbClr val="000000">
              <a:alpha val="20000"/>
            </a:srgbClr>
          </a:solidFill>
          <a:ln w="27432">
            <a:solidFill>
              <a:srgbClr val="B0A08C"/>
            </a:solidFill>
            <a:prstDash val="solid"/>
          </a:ln>
        </p:spPr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4E4A2B2-04AF-56AF-7CD4-878B9F37DA4E}"/>
              </a:ext>
            </a:extLst>
          </p:cNvPr>
          <p:cNvSpPr/>
          <p:nvPr/>
        </p:nvSpPr>
        <p:spPr>
          <a:xfrm>
            <a:off x="538874" y="1996035"/>
            <a:ext cx="5477297" cy="3635187"/>
          </a:xfrm>
          <a:prstGeom prst="rect">
            <a:avLst/>
          </a:prstGeom>
          <a:solidFill>
            <a:srgbClr val="000000">
              <a:alpha val="20000"/>
            </a:srgbClr>
          </a:solidFill>
          <a:ln w="27432">
            <a:solidFill>
              <a:srgbClr val="B0A08C"/>
            </a:solidFill>
            <a:prstDash val="solid"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6689AA-479C-D351-197F-2FAC4142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6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 err="1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챕터</a:t>
            </a:r>
            <a:r>
              <a:rPr lang="en-US" altLang="ko-KR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</a:t>
            </a:r>
            <a:r>
              <a:rPr lang="en-US" altLang="ko-KR" sz="3000" b="1" dirty="0" err="1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개요</a:t>
            </a:r>
            <a:r>
              <a:rPr lang="en-US" altLang="ko-KR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및 </a:t>
            </a:r>
            <a:r>
              <a:rPr lang="en-US" altLang="ko-KR" sz="3000" b="1" dirty="0" err="1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플레이</a:t>
            </a:r>
            <a:r>
              <a:rPr lang="en-US" altLang="ko-KR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</a:t>
            </a:r>
            <a:r>
              <a:rPr lang="en-US" altLang="ko-KR" sz="3000" b="1" dirty="0" err="1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경험</a:t>
            </a:r>
            <a:endParaRPr lang="en-US" altLang="ko-KR" sz="3000" dirty="0">
              <a:solidFill>
                <a:srgbClr val="968168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071517-ACAC-908D-9D90-697AB7AA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2" y="2211557"/>
            <a:ext cx="50070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2000" b="1" dirty="0">
                <a:solidFill>
                  <a:srgbClr val="E5C609"/>
                </a:solidFill>
              </a:rPr>
              <a:t>챕터 목표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폐교를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탐색하며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학교폭력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피해자의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흔적을</a:t>
            </a:r>
            <a:r>
              <a:rPr lang="en-US" altLang="ko-KR" sz="1500" dirty="0">
                <a:solidFill>
                  <a:srgbClr val="E8DCC4"/>
                </a:solidFill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추적하고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,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괴물이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된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친구를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구원하는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감성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호러</a:t>
            </a:r>
            <a:r>
              <a:rPr lang="en-US" altLang="ko-KR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 </a:t>
            </a:r>
            <a:r>
              <a:rPr lang="en-US" altLang="ko-KR" sz="1500" dirty="0" err="1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챕터</a:t>
            </a:r>
            <a:endParaRPr lang="en-US" altLang="ko-KR" sz="1500" dirty="0">
              <a:solidFill>
                <a:srgbClr val="E8DCC4"/>
              </a:solidFill>
            </a:endParaRPr>
          </a:p>
          <a:p>
            <a:endParaRPr lang="en-US" altLang="ko-KR" sz="1500" dirty="0"/>
          </a:p>
          <a:p>
            <a:endParaRPr lang="en-US" altLang="ko-KR" sz="1500" dirty="0"/>
          </a:p>
          <a:p>
            <a:pPr marL="0" indent="0">
              <a:buNone/>
            </a:pPr>
            <a:r>
              <a:rPr lang="ko-KR" altLang="ko-KR" sz="2000" b="1" dirty="0">
                <a:solidFill>
                  <a:srgbClr val="E5C609"/>
                </a:solidFill>
              </a:rPr>
              <a:t>핵심 키워드</a:t>
            </a:r>
          </a:p>
          <a:p>
            <a:r>
              <a:rPr lang="ko-KR" altLang="ko-KR" sz="1500" dirty="0">
                <a:solidFill>
                  <a:srgbClr val="E8DCC4"/>
                </a:solidFill>
              </a:rPr>
              <a:t>환경 스토리텔링 </a:t>
            </a:r>
          </a:p>
          <a:p>
            <a:r>
              <a:rPr lang="ko-KR" altLang="ko-KR" sz="1500" dirty="0">
                <a:solidFill>
                  <a:srgbClr val="E8DCC4"/>
                </a:solidFill>
              </a:rPr>
              <a:t>탐색 </a:t>
            </a:r>
            <a:r>
              <a:rPr lang="en-US" altLang="ko-KR" sz="1500" dirty="0">
                <a:solidFill>
                  <a:srgbClr val="E8DCC4"/>
                </a:solidFill>
              </a:rPr>
              <a:t> </a:t>
            </a:r>
            <a:r>
              <a:rPr lang="ko-KR" altLang="en-US" sz="1500" dirty="0">
                <a:solidFill>
                  <a:srgbClr val="E8DCC4"/>
                </a:solidFill>
              </a:rPr>
              <a:t>및 </a:t>
            </a:r>
            <a:r>
              <a:rPr lang="ko-KR" altLang="ko-KR" sz="1500" dirty="0">
                <a:solidFill>
                  <a:srgbClr val="E8DCC4"/>
                </a:solidFill>
              </a:rPr>
              <a:t>기억 체험 </a:t>
            </a:r>
          </a:p>
          <a:p>
            <a:r>
              <a:rPr lang="ko-KR" altLang="ko-KR" sz="1500" dirty="0">
                <a:solidFill>
                  <a:srgbClr val="E8DCC4"/>
                </a:solidFill>
              </a:rPr>
              <a:t>보스 구원</a:t>
            </a:r>
            <a:r>
              <a:rPr lang="en-US" altLang="ko-KR" sz="1500" dirty="0">
                <a:solidFill>
                  <a:srgbClr val="E8DCC4"/>
                </a:solidFill>
              </a:rPr>
              <a:t> </a:t>
            </a:r>
            <a:r>
              <a:rPr lang="ko-KR" altLang="en-US" sz="1500" dirty="0">
                <a:solidFill>
                  <a:srgbClr val="E8DCC4"/>
                </a:solidFill>
              </a:rPr>
              <a:t>서사</a:t>
            </a:r>
            <a:endParaRPr lang="ko-KR" altLang="ko-KR" sz="1500" dirty="0">
              <a:solidFill>
                <a:srgbClr val="E8DCC4"/>
              </a:solidFill>
            </a:endParaRPr>
          </a:p>
          <a:p>
            <a:endParaRPr lang="ko-KR" altLang="en-US" sz="15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73F02F4-15EC-6227-8DE9-5864253F8866}"/>
              </a:ext>
            </a:extLst>
          </p:cNvPr>
          <p:cNvSpPr txBox="1">
            <a:spLocks/>
          </p:cNvSpPr>
          <p:nvPr/>
        </p:nvSpPr>
        <p:spPr>
          <a:xfrm>
            <a:off x="6411465" y="2075317"/>
            <a:ext cx="32691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ko-KR" sz="2000" b="1" dirty="0">
                <a:solidFill>
                  <a:srgbClr val="E5C609"/>
                </a:solidFill>
              </a:rPr>
              <a:t>플레이 경험</a:t>
            </a:r>
            <a:r>
              <a:rPr lang="en-US" altLang="ko-KR" sz="2000" b="1" dirty="0">
                <a:solidFill>
                  <a:srgbClr val="E5C609"/>
                </a:solidFill>
              </a:rPr>
              <a:t> </a:t>
            </a:r>
            <a:r>
              <a:rPr lang="ko-KR" altLang="en-US" sz="2000" b="1" dirty="0">
                <a:solidFill>
                  <a:srgbClr val="E5C609"/>
                </a:solidFill>
              </a:rPr>
              <a:t>흐름</a:t>
            </a:r>
            <a:endParaRPr lang="en-US" altLang="ko-KR" sz="2000" b="1" dirty="0">
              <a:solidFill>
                <a:srgbClr val="E5C609"/>
              </a:solidFill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A8C2DEA-E83F-5B2A-7A96-F1D4FA4413DE}"/>
              </a:ext>
            </a:extLst>
          </p:cNvPr>
          <p:cNvSpPr/>
          <p:nvPr/>
        </p:nvSpPr>
        <p:spPr>
          <a:xfrm>
            <a:off x="8391884" y="2791498"/>
            <a:ext cx="876419" cy="307249"/>
          </a:xfrm>
          <a:prstGeom prst="rect">
            <a:avLst/>
          </a:prstGeom>
          <a:solidFill>
            <a:srgbClr val="556B2F"/>
          </a:solidFill>
          <a:ln w="18288">
            <a:solidFill>
              <a:srgbClr val="E8DCC4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5D16D3FE-8189-FA52-1087-3CC902AB9310}"/>
              </a:ext>
            </a:extLst>
          </p:cNvPr>
          <p:cNvSpPr/>
          <p:nvPr/>
        </p:nvSpPr>
        <p:spPr>
          <a:xfrm>
            <a:off x="8391883" y="2791499"/>
            <a:ext cx="1026645" cy="308606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호기심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AB2770-BACD-7B21-C115-FD2B81380CD5}"/>
              </a:ext>
            </a:extLst>
          </p:cNvPr>
          <p:cNvSpPr/>
          <p:nvPr/>
        </p:nvSpPr>
        <p:spPr>
          <a:xfrm>
            <a:off x="8733331" y="3205102"/>
            <a:ext cx="194875" cy="23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B0000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33DC6D2-64E9-EBBB-F6C3-DD1BDC9D4FEF}"/>
              </a:ext>
            </a:extLst>
          </p:cNvPr>
          <p:cNvSpPr/>
          <p:nvPr/>
        </p:nvSpPr>
        <p:spPr>
          <a:xfrm>
            <a:off x="8219540" y="3536391"/>
            <a:ext cx="1260847" cy="307249"/>
          </a:xfrm>
          <a:prstGeom prst="rect">
            <a:avLst/>
          </a:prstGeom>
          <a:solidFill>
            <a:srgbClr val="556B2F"/>
          </a:solidFill>
          <a:ln w="18288">
            <a:solidFill>
              <a:srgbClr val="E8DCC4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2CC5471-32FD-4EAF-9705-9E1AEA93254D}"/>
              </a:ext>
            </a:extLst>
          </p:cNvPr>
          <p:cNvSpPr/>
          <p:nvPr/>
        </p:nvSpPr>
        <p:spPr>
          <a:xfrm>
            <a:off x="8219541" y="3536392"/>
            <a:ext cx="1419969" cy="308606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조사 / 생존</a:t>
            </a:r>
            <a:endParaRPr lang="en-US" sz="15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D2A00B56-D074-D67F-F2C2-F7EA4C14924E}"/>
              </a:ext>
            </a:extLst>
          </p:cNvPr>
          <p:cNvSpPr/>
          <p:nvPr/>
        </p:nvSpPr>
        <p:spPr>
          <a:xfrm>
            <a:off x="8733331" y="3946231"/>
            <a:ext cx="194875" cy="23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B0000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↓</a:t>
            </a:r>
            <a:endParaRPr lang="en-US" sz="15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39826C64-ECE0-D1A4-717C-356C30306EF4}"/>
              </a:ext>
            </a:extLst>
          </p:cNvPr>
          <p:cNvSpPr/>
          <p:nvPr/>
        </p:nvSpPr>
        <p:spPr>
          <a:xfrm>
            <a:off x="8219540" y="4285258"/>
            <a:ext cx="1260847" cy="307249"/>
          </a:xfrm>
          <a:prstGeom prst="rect">
            <a:avLst/>
          </a:prstGeom>
          <a:solidFill>
            <a:srgbClr val="556B2F"/>
          </a:solidFill>
          <a:ln w="18288">
            <a:solidFill>
              <a:srgbClr val="E8DCC4"/>
            </a:solidFill>
            <a:prstDash val="solid"/>
          </a:ln>
        </p:spPr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97BB8730-8878-58E3-5BBB-C587E575C8DA}"/>
              </a:ext>
            </a:extLst>
          </p:cNvPr>
          <p:cNvSpPr/>
          <p:nvPr/>
        </p:nvSpPr>
        <p:spPr>
          <a:xfrm>
            <a:off x="8219541" y="4285259"/>
            <a:ext cx="1419969" cy="308606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탐색 / 공감</a:t>
            </a:r>
            <a:endParaRPr lang="en-US" sz="15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A49BECBD-A352-76DD-2068-0B6FA2C8E039}"/>
              </a:ext>
            </a:extLst>
          </p:cNvPr>
          <p:cNvSpPr/>
          <p:nvPr/>
        </p:nvSpPr>
        <p:spPr>
          <a:xfrm>
            <a:off x="8733331" y="4690334"/>
            <a:ext cx="194875" cy="23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B0000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↓</a:t>
            </a:r>
            <a:endParaRPr lang="en-US" sz="15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FD5882BA-E42B-090A-5959-08B7C26A7568}"/>
              </a:ext>
            </a:extLst>
          </p:cNvPr>
          <p:cNvSpPr/>
          <p:nvPr/>
        </p:nvSpPr>
        <p:spPr>
          <a:xfrm>
            <a:off x="8219540" y="5032766"/>
            <a:ext cx="1260847" cy="307249"/>
          </a:xfrm>
          <a:prstGeom prst="rect">
            <a:avLst/>
          </a:prstGeom>
          <a:solidFill>
            <a:srgbClr val="556B2F"/>
          </a:solidFill>
          <a:ln w="18288">
            <a:solidFill>
              <a:srgbClr val="E8DCC4"/>
            </a:solidFill>
            <a:prstDash val="solid"/>
          </a:ln>
        </p:spPr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F493E579-656A-2E2B-504B-3D68B650259A}"/>
              </a:ext>
            </a:extLst>
          </p:cNvPr>
          <p:cNvSpPr/>
          <p:nvPr/>
        </p:nvSpPr>
        <p:spPr>
          <a:xfrm>
            <a:off x="8219541" y="5032767"/>
            <a:ext cx="1461090" cy="308606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구원 / 진실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0088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81C3E-4C35-491E-6FFC-296E35B9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84E8378C-8EDD-ABFB-4E3F-7E308A52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1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상황의 </a:t>
            </a:r>
            <a:r>
              <a:rPr lang="ko-KR" altLang="en-US" sz="3000" b="1" dirty="0" err="1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기차칸</a:t>
            </a:r>
            <a:r>
              <a:rPr lang="ko-KR" altLang="en-US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</a:t>
            </a:r>
            <a:r>
              <a:rPr lang="en-US" altLang="ko-KR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– </a:t>
            </a:r>
            <a:r>
              <a:rPr lang="ko-KR" altLang="en-US" sz="3000" b="1" dirty="0">
                <a:solidFill>
                  <a:srgbClr val="968168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맵 전체 플로우</a:t>
            </a:r>
            <a:endParaRPr lang="en-US" altLang="ko-KR" sz="3000" dirty="0">
              <a:solidFill>
                <a:srgbClr val="968168"/>
              </a:solidFill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97323D4-1941-3359-3944-D363D2B16DE0}"/>
              </a:ext>
            </a:extLst>
          </p:cNvPr>
          <p:cNvSpPr/>
          <p:nvPr/>
        </p:nvSpPr>
        <p:spPr>
          <a:xfrm>
            <a:off x="1781515" y="2345048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98A47D2-8BD0-529F-B8CF-AE1128A0A52E}"/>
              </a:ext>
            </a:extLst>
          </p:cNvPr>
          <p:cNvSpPr/>
          <p:nvPr/>
        </p:nvSpPr>
        <p:spPr>
          <a:xfrm>
            <a:off x="1781515" y="2545072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실루엣
발견</a:t>
            </a:r>
            <a:endParaRPr lang="en-US" sz="15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30E3F7F-B0B6-C766-ECAF-35342ACCDB5C}"/>
              </a:ext>
            </a:extLst>
          </p:cNvPr>
          <p:cNvSpPr/>
          <p:nvPr/>
        </p:nvSpPr>
        <p:spPr>
          <a:xfrm>
            <a:off x="3658618" y="2345048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C0CB8CC-FF03-67F0-1F72-7E26D6733F54}"/>
              </a:ext>
            </a:extLst>
          </p:cNvPr>
          <p:cNvSpPr/>
          <p:nvPr/>
        </p:nvSpPr>
        <p:spPr>
          <a:xfrm>
            <a:off x="3658618" y="2545072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흔적
조사</a:t>
            </a:r>
            <a:endParaRPr lang="en-US" sz="15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0F30F968-968B-2910-ABC2-A48E6BC2A0CC}"/>
              </a:ext>
            </a:extLst>
          </p:cNvPr>
          <p:cNvSpPr/>
          <p:nvPr/>
        </p:nvSpPr>
        <p:spPr>
          <a:xfrm>
            <a:off x="5535721" y="2345048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9E12203F-E194-449E-AF08-E3701DD5A858}"/>
              </a:ext>
            </a:extLst>
          </p:cNvPr>
          <p:cNvSpPr/>
          <p:nvPr/>
        </p:nvSpPr>
        <p:spPr>
          <a:xfrm>
            <a:off x="5535721" y="2545072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환영체
학습</a:t>
            </a:r>
            <a:endParaRPr lang="en-US" sz="15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07CF2708-D0F4-4842-B429-DC9B575E8535}"/>
              </a:ext>
            </a:extLst>
          </p:cNvPr>
          <p:cNvSpPr/>
          <p:nvPr/>
        </p:nvSpPr>
        <p:spPr>
          <a:xfrm>
            <a:off x="7412824" y="2345048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8C72A4A0-0A13-32AF-5105-376E961913BF}"/>
              </a:ext>
            </a:extLst>
          </p:cNvPr>
          <p:cNvSpPr/>
          <p:nvPr/>
        </p:nvSpPr>
        <p:spPr>
          <a:xfrm>
            <a:off x="7412824" y="2545072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무기
탐색</a:t>
            </a:r>
            <a:endParaRPr lang="en-US" sz="15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BC50DD0B-F315-04C5-F526-6FA2C84FE7EB}"/>
              </a:ext>
            </a:extLst>
          </p:cNvPr>
          <p:cNvSpPr/>
          <p:nvPr/>
        </p:nvSpPr>
        <p:spPr>
          <a:xfrm>
            <a:off x="9289927" y="2345048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98351EE8-786E-4FDB-C9DA-B1FC125BDDF6}"/>
              </a:ext>
            </a:extLst>
          </p:cNvPr>
          <p:cNvSpPr/>
          <p:nvPr/>
        </p:nvSpPr>
        <p:spPr>
          <a:xfrm>
            <a:off x="9289927" y="2545072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환영체
퍼즐</a:t>
            </a:r>
            <a:endParaRPr lang="en-US" sz="1500" dirty="0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3D8B353-C212-3B5E-932D-8246B41CFA26}"/>
              </a:ext>
            </a:extLst>
          </p:cNvPr>
          <p:cNvSpPr/>
          <p:nvPr/>
        </p:nvSpPr>
        <p:spPr>
          <a:xfrm>
            <a:off x="8358512" y="4046680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9BA501EC-8BC0-05DC-45D3-25030A165E2F}"/>
              </a:ext>
            </a:extLst>
          </p:cNvPr>
          <p:cNvSpPr/>
          <p:nvPr/>
        </p:nvSpPr>
        <p:spPr>
          <a:xfrm>
            <a:off x="8358512" y="4246704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기억
체험</a:t>
            </a:r>
            <a:endParaRPr lang="en-US" sz="1500" dirty="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C0D77E63-C233-B330-99D7-B464390818B4}"/>
              </a:ext>
            </a:extLst>
          </p:cNvPr>
          <p:cNvSpPr/>
          <p:nvPr/>
        </p:nvSpPr>
        <p:spPr>
          <a:xfrm>
            <a:off x="6512700" y="4046680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522A8784-5A42-3DEB-73C4-BFF278F5E138}"/>
              </a:ext>
            </a:extLst>
          </p:cNvPr>
          <p:cNvSpPr/>
          <p:nvPr/>
        </p:nvSpPr>
        <p:spPr>
          <a:xfrm>
            <a:off x="6512700" y="4246704"/>
            <a:ext cx="1257399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강당
진입</a:t>
            </a:r>
            <a:endParaRPr lang="en-US" sz="15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D450464B-3C22-20BC-ACA3-FE86363570E0}"/>
              </a:ext>
            </a:extLst>
          </p:cNvPr>
          <p:cNvSpPr/>
          <p:nvPr/>
        </p:nvSpPr>
        <p:spPr>
          <a:xfrm>
            <a:off x="4666888" y="4046680"/>
            <a:ext cx="1257399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96A19855-DAD8-B1EA-9351-AF7264D717BB}"/>
              </a:ext>
            </a:extLst>
          </p:cNvPr>
          <p:cNvSpPr/>
          <p:nvPr/>
        </p:nvSpPr>
        <p:spPr>
          <a:xfrm>
            <a:off x="4834752" y="4246705"/>
            <a:ext cx="794932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보스전</a:t>
            </a:r>
            <a:endParaRPr lang="en-US" sz="1500" dirty="0"/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C7544289-9B72-236B-3BD2-730E2799F067}"/>
              </a:ext>
            </a:extLst>
          </p:cNvPr>
          <p:cNvSpPr/>
          <p:nvPr/>
        </p:nvSpPr>
        <p:spPr>
          <a:xfrm>
            <a:off x="2821037" y="4046680"/>
            <a:ext cx="1257438" cy="853706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BDC6A584-DC70-CF18-6795-3EC9977FF099}"/>
              </a:ext>
            </a:extLst>
          </p:cNvPr>
          <p:cNvSpPr/>
          <p:nvPr/>
        </p:nvSpPr>
        <p:spPr>
          <a:xfrm>
            <a:off x="2821037" y="4246704"/>
            <a:ext cx="1257438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정체
공개</a:t>
            </a:r>
            <a:endParaRPr lang="en-US" sz="1500" dirty="0"/>
          </a:p>
        </p:txBody>
      </p:sp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00689DE4-7ADB-23FE-B64F-CC85898C8A44}"/>
              </a:ext>
            </a:extLst>
          </p:cNvPr>
          <p:cNvSpPr/>
          <p:nvPr/>
        </p:nvSpPr>
        <p:spPr>
          <a:xfrm>
            <a:off x="3156046" y="2602524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11AA6AE-A9D6-B576-1A78-B1D5A359AAF0}"/>
              </a:ext>
            </a:extLst>
          </p:cNvPr>
          <p:cNvSpPr/>
          <p:nvPr/>
        </p:nvSpPr>
        <p:spPr>
          <a:xfrm>
            <a:off x="5014503" y="2602524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5E6D686A-7C8F-6442-4F19-57B0947BFE91}"/>
              </a:ext>
            </a:extLst>
          </p:cNvPr>
          <p:cNvSpPr/>
          <p:nvPr/>
        </p:nvSpPr>
        <p:spPr>
          <a:xfrm>
            <a:off x="6878909" y="2586079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25800125-6312-80A3-E872-6767188210A1}"/>
              </a:ext>
            </a:extLst>
          </p:cNvPr>
          <p:cNvSpPr/>
          <p:nvPr/>
        </p:nvSpPr>
        <p:spPr>
          <a:xfrm>
            <a:off x="8776064" y="2625413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오른쪽 72">
            <a:extLst>
              <a:ext uri="{FF2B5EF4-FFF2-40B4-BE49-F238E27FC236}">
                <a16:creationId xmlns:a16="http://schemas.microsoft.com/office/drawing/2014/main" id="{1E76E96E-CD26-031D-EFF7-DBB0AC8FBFE3}"/>
              </a:ext>
            </a:extLst>
          </p:cNvPr>
          <p:cNvSpPr/>
          <p:nvPr/>
        </p:nvSpPr>
        <p:spPr>
          <a:xfrm rot="7974541">
            <a:off x="9549588" y="3478654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1D465D13-D131-5CF1-168F-3C908AC6A453}"/>
              </a:ext>
            </a:extLst>
          </p:cNvPr>
          <p:cNvSpPr/>
          <p:nvPr/>
        </p:nvSpPr>
        <p:spPr>
          <a:xfrm rot="10800000">
            <a:off x="7846591" y="4287711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22C3E730-644D-5EAF-27C9-BCCCB9E142C8}"/>
              </a:ext>
            </a:extLst>
          </p:cNvPr>
          <p:cNvSpPr/>
          <p:nvPr/>
        </p:nvSpPr>
        <p:spPr>
          <a:xfrm rot="10800000">
            <a:off x="6000382" y="4326621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A868DAF5-2607-C093-D775-791DE2EE2254}"/>
              </a:ext>
            </a:extLst>
          </p:cNvPr>
          <p:cNvSpPr/>
          <p:nvPr/>
        </p:nvSpPr>
        <p:spPr>
          <a:xfrm rot="10800000">
            <a:off x="4154570" y="4287711"/>
            <a:ext cx="435429" cy="361184"/>
          </a:xfrm>
          <a:prstGeom prst="rightArrow">
            <a:avLst/>
          </a:prstGeom>
          <a:noFill/>
          <a:ln>
            <a:solidFill>
              <a:srgbClr val="556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91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" y="716645"/>
            <a:ext cx="12115800" cy="28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67" b="1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[기차칸 1-4] 탐색 파트 설계</a:t>
            </a:r>
            <a:endParaRPr lang="en-US" sz="1867" dirty="0"/>
          </a:p>
        </p:txBody>
      </p:sp>
      <p:sp>
        <p:nvSpPr>
          <p:cNvPr id="4" name="Shape 1"/>
          <p:cNvSpPr/>
          <p:nvPr/>
        </p:nvSpPr>
        <p:spPr>
          <a:xfrm>
            <a:off x="400051" y="1488059"/>
            <a:ext cx="6191251" cy="295275"/>
          </a:xfrm>
          <a:prstGeom prst="rect">
            <a:avLst/>
          </a:prstGeom>
          <a:solidFill>
            <a:srgbClr val="8B0000">
              <a:alpha val="10000"/>
            </a:srgbClr>
          </a:solidFill>
          <a:ln w="18288">
            <a:solidFill>
              <a:srgbClr val="8B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1" y="1545209"/>
            <a:ext cx="2452594" cy="1676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"누가 지나간 거지?" → "이 학생은 누구지?"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00051" y="1821434"/>
            <a:ext cx="2667000" cy="352425"/>
          </a:xfrm>
          <a:prstGeom prst="rect">
            <a:avLst/>
          </a:prstGeom>
          <a:solidFill>
            <a:srgbClr val="000000">
              <a:alpha val="30000"/>
            </a:srgbClr>
          </a:solidFill>
          <a:ln w="18288">
            <a:solidFill>
              <a:srgbClr val="B0A0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0051" y="1821434"/>
            <a:ext cx="2667000" cy="284180"/>
          </a:xfrm>
          <a:prstGeom prst="rect">
            <a:avLst/>
          </a:prstGeom>
          <a:noFill/>
          <a:ln/>
        </p:spPr>
        <p:txBody>
          <a:bodyPr wrap="square" lIns="113453" tIns="68072" rIns="113453" bIns="0" rtlCol="0" anchor="t">
            <a:spAutoFit/>
          </a:bodyPr>
          <a:lstStyle/>
          <a:p>
            <a:r>
              <a:rPr lang="en-US" sz="14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1층: 방송실, 교무실, 보건실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0051" y="2288159"/>
            <a:ext cx="6191251" cy="295275"/>
          </a:xfrm>
          <a:prstGeom prst="rect">
            <a:avLst/>
          </a:prstGeom>
          <a:solidFill>
            <a:srgbClr val="8B0000">
              <a:alpha val="10000"/>
            </a:srgbClr>
          </a:solidFill>
          <a:ln w="18288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351" y="2345309"/>
            <a:ext cx="2535951" cy="1711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"저걸 어떻게 피하지?" → "무기는 어디 있지?"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0051" y="2621534"/>
            <a:ext cx="3581400" cy="352425"/>
          </a:xfrm>
          <a:prstGeom prst="rect">
            <a:avLst/>
          </a:prstGeom>
          <a:solidFill>
            <a:srgbClr val="000000">
              <a:alpha val="30000"/>
            </a:srgbClr>
          </a:solidFill>
          <a:ln w="18288">
            <a:solidFill>
              <a:srgbClr val="B0A0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1" y="2621534"/>
            <a:ext cx="3581400" cy="284180"/>
          </a:xfrm>
          <a:prstGeom prst="rect">
            <a:avLst/>
          </a:prstGeom>
          <a:noFill/>
          <a:ln/>
        </p:spPr>
        <p:txBody>
          <a:bodyPr wrap="square" lIns="113453" tIns="68072" rIns="113453" bIns="0" rtlCol="0" anchor="t">
            <a:spAutoFit/>
          </a:bodyPr>
          <a:lstStyle/>
          <a:p>
            <a:r>
              <a:rPr lang="en-US" sz="1400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3층: 화장실, 과학실, 음악실, 컴퓨터실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0051" y="3050159"/>
            <a:ext cx="6191251" cy="799344"/>
          </a:xfrm>
          <a:prstGeom prst="rect">
            <a:avLst/>
          </a:prstGeom>
          <a:noFill/>
          <a:ln/>
        </p:spPr>
        <p:txBody>
          <a:bodyPr wrap="square" lIns="0" tIns="90763" rIns="0" bIns="0" rtlCol="0" anchor="t">
            <a:spAutoFit/>
          </a:bodyPr>
          <a:lstStyle/>
          <a:p>
            <a:r>
              <a:rPr lang="en-US" sz="1467" b="1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설계 의도:</a:t>
            </a:r>
            <a:r>
              <a:rPr lang="en-US" sz="1533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
탐색 과정에서 학교폭력의 흔적을 자연스럽게 발견하고,
환영체 학습과 무기 획득을 유기적으로 연결하여 몰입감 증대</a:t>
            </a:r>
            <a:endParaRPr lang="en-US" sz="1533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1" y="1411859"/>
            <a:ext cx="4076700" cy="838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62951" y="6267451"/>
            <a:ext cx="3390900" cy="247651"/>
          </a:xfrm>
          <a:prstGeom prst="rect">
            <a:avLst/>
          </a:prstGeom>
          <a:solidFill>
            <a:srgbClr val="E8DCC4"/>
          </a:solidFill>
          <a:ln w="18288">
            <a:solidFill>
              <a:srgbClr val="2C241B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8362951" y="6267451"/>
            <a:ext cx="3390900" cy="237672"/>
          </a:xfrm>
          <a:prstGeom prst="rect">
            <a:avLst/>
          </a:prstGeom>
          <a:noFill/>
          <a:ln/>
        </p:spPr>
        <p:txBody>
          <a:bodyPr wrap="square" lIns="226737" tIns="113453" rIns="226737" bIns="0" rtlCol="0" anchor="t">
            <a:spAutoFit/>
          </a:bodyPr>
          <a:lstStyle/>
          <a:p>
            <a:r>
              <a:rPr lang="en-US" sz="800" dirty="0">
                <a:solidFill>
                  <a:srgbClr val="2C241B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CAR NO. 01-04: EXPLORATION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" y="419101"/>
            <a:ext cx="12115800" cy="28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67" b="1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[기차칸 5-6] 응용 퍼즐 및 기억 체험</a:t>
            </a:r>
            <a:endParaRPr lang="en-US" sz="1867" dirty="0"/>
          </a:p>
        </p:txBody>
      </p:sp>
      <p:sp>
        <p:nvSpPr>
          <p:cNvPr id="4" name="Shape 1"/>
          <p:cNvSpPr/>
          <p:nvPr/>
        </p:nvSpPr>
        <p:spPr>
          <a:xfrm>
            <a:off x="514351" y="1178719"/>
            <a:ext cx="3429000" cy="1493044"/>
          </a:xfrm>
          <a:prstGeom prst="rect">
            <a:avLst/>
          </a:prstGeom>
          <a:solidFill>
            <a:srgbClr val="000000">
              <a:alpha val="30000"/>
            </a:srgbClr>
          </a:solidFill>
          <a:ln w="18288">
            <a:solidFill>
              <a:srgbClr val="B0A0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651" y="1369220"/>
            <a:ext cx="3200400" cy="174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3" dirty="0">
                <a:solidFill>
                  <a:srgbClr val="8B00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환영체 퍼즐</a:t>
            </a:r>
            <a:endParaRPr lang="en-US" sz="1133" dirty="0"/>
          </a:p>
        </p:txBody>
      </p:sp>
      <p:sp>
        <p:nvSpPr>
          <p:cNvPr id="6" name="Text 3"/>
          <p:cNvSpPr/>
          <p:nvPr/>
        </p:nvSpPr>
        <p:spPr>
          <a:xfrm>
            <a:off x="628651" y="1671638"/>
            <a:ext cx="3200400" cy="82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33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인체모형 + 스케이트보드 조합
• 소음을 이용한 환영체 유인
• 1학년 3반 진입로 확보</a:t>
            </a:r>
            <a:endParaRPr lang="en-US" sz="153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78719"/>
            <a:ext cx="3505200" cy="2800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6251" y="4086225"/>
            <a:ext cx="36195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67" dirty="0">
                <a:solidFill>
                  <a:srgbClr val="556B2F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[기억의 단편: 급식소]</a:t>
            </a:r>
            <a:endParaRPr lang="en-US" sz="1267" dirty="0"/>
          </a:p>
        </p:txBody>
      </p:sp>
      <p:sp>
        <p:nvSpPr>
          <p:cNvPr id="9" name="Shape 5"/>
          <p:cNvSpPr/>
          <p:nvPr/>
        </p:nvSpPr>
        <p:spPr>
          <a:xfrm>
            <a:off x="8248651" y="1178719"/>
            <a:ext cx="3429000" cy="1493044"/>
          </a:xfrm>
          <a:prstGeom prst="rect">
            <a:avLst/>
          </a:prstGeom>
          <a:solidFill>
            <a:srgbClr val="000000">
              <a:alpha val="30000"/>
            </a:srgbClr>
          </a:solidFill>
          <a:ln w="18288">
            <a:solidFill>
              <a:srgbClr val="B0A0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62951" y="1369220"/>
            <a:ext cx="3200400" cy="174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3" dirty="0">
                <a:solidFill>
                  <a:srgbClr val="8B00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기억 체험: 급식소</a:t>
            </a:r>
            <a:endParaRPr lang="en-US" sz="1133" dirty="0"/>
          </a:p>
        </p:txBody>
      </p:sp>
      <p:sp>
        <p:nvSpPr>
          <p:cNvPr id="11" name="Text 7"/>
          <p:cNvSpPr/>
          <p:nvPr/>
        </p:nvSpPr>
        <p:spPr>
          <a:xfrm>
            <a:off x="8362951" y="1671637"/>
            <a:ext cx="3200400" cy="82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33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강제적인 줄서기 대기
• 빵 셔틀 및 심부름 역할 수행
• 엉망이 된 식판 정리하기</a:t>
            </a:r>
            <a:endParaRPr lang="en-US" sz="1533" dirty="0"/>
          </a:p>
        </p:txBody>
      </p:sp>
      <p:sp>
        <p:nvSpPr>
          <p:cNvPr id="12" name="Shape 8"/>
          <p:cNvSpPr/>
          <p:nvPr/>
        </p:nvSpPr>
        <p:spPr>
          <a:xfrm>
            <a:off x="514351" y="4505325"/>
            <a:ext cx="11563351" cy="442912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8B0000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514351" y="4505326"/>
            <a:ext cx="11563351" cy="371106"/>
          </a:xfrm>
          <a:prstGeom prst="rect">
            <a:avLst/>
          </a:prstGeom>
          <a:noFill/>
          <a:ln/>
        </p:spPr>
        <p:txBody>
          <a:bodyPr wrap="square" lIns="170011" tIns="113453" rIns="170011" bIns="0" rtlCol="0" anchor="t">
            <a:spAutoFit/>
          </a:bodyPr>
          <a:lstStyle/>
          <a:p>
            <a:pPr algn="ctr"/>
            <a:r>
              <a:rPr lang="en-US" sz="1667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설계 의도: 학교폭력 피해자의 일상을 '설명'이 아닌 '체험'으로 전달하여 정서적 공감 극대화</a:t>
            </a:r>
            <a:endParaRPr lang="en-US" sz="16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051" y="400052"/>
            <a:ext cx="12153900" cy="28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67" b="1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[기차칸 7-8] 강당 보스전: 구원의 전투</a:t>
            </a:r>
            <a:endParaRPr lang="en-US" sz="1867" dirty="0"/>
          </a:p>
        </p:txBody>
      </p:sp>
      <p:sp>
        <p:nvSpPr>
          <p:cNvPr id="4" name="Shape 1"/>
          <p:cNvSpPr/>
          <p:nvPr/>
        </p:nvSpPr>
        <p:spPr>
          <a:xfrm>
            <a:off x="603237" y="1266714"/>
            <a:ext cx="5200651" cy="2867025"/>
          </a:xfrm>
          <a:prstGeom prst="rect">
            <a:avLst/>
          </a:prstGeom>
          <a:solidFill>
            <a:srgbClr val="8B0000">
              <a:alpha val="10000"/>
            </a:srgbClr>
          </a:solidFill>
          <a:ln w="18288">
            <a:solidFill>
              <a:srgbClr val="8B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789" y="1409588"/>
            <a:ext cx="47625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PHASE 1: 괴물 형태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788" y="1781065"/>
            <a:ext cx="2701060" cy="285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기믹: 농구공과 점프대 활용</a:t>
            </a:r>
            <a:endParaRPr lang="en-US" sz="1667" dirty="0"/>
          </a:p>
        </p:txBody>
      </p:sp>
      <p:sp>
        <p:nvSpPr>
          <p:cNvPr id="7" name="Text 4"/>
          <p:cNvSpPr/>
          <p:nvPr/>
        </p:nvSpPr>
        <p:spPr>
          <a:xfrm>
            <a:off x="812788" y="2181114"/>
            <a:ext cx="2322752" cy="285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패턴: 광역 돌진 및 파괴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812789" y="2581165"/>
            <a:ext cx="2487861" cy="285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목표: 괴물의 움직임 봉쇄</a:t>
            </a:r>
            <a:endParaRPr lang="en-US" sz="1667" dirty="0"/>
          </a:p>
        </p:txBody>
      </p:sp>
      <p:sp>
        <p:nvSpPr>
          <p:cNvPr id="9" name="Shape 6"/>
          <p:cNvSpPr/>
          <p:nvPr/>
        </p:nvSpPr>
        <p:spPr>
          <a:xfrm>
            <a:off x="6369025" y="1266714"/>
            <a:ext cx="5200651" cy="2867025"/>
          </a:xfrm>
          <a:prstGeom prst="rect">
            <a:avLst/>
          </a:prstGeom>
          <a:solidFill>
            <a:srgbClr val="8B0000">
              <a:alpha val="10000"/>
            </a:srgbClr>
          </a:solidFill>
          <a:ln w="18288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97626" y="1409588"/>
            <a:ext cx="47625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PHASE 2: 인간 형태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97625" y="1781065"/>
            <a:ext cx="2226572" cy="285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기믹: 막기와 비눗방울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6597626" y="2181114"/>
            <a:ext cx="2535951" cy="285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패턴: 방어적 회피 및 눈물</a:t>
            </a:r>
            <a:endParaRPr lang="en-US" sz="1667" dirty="0"/>
          </a:p>
        </p:txBody>
      </p:sp>
      <p:sp>
        <p:nvSpPr>
          <p:cNvPr id="13" name="Text 10"/>
          <p:cNvSpPr/>
          <p:nvPr/>
        </p:nvSpPr>
        <p:spPr>
          <a:xfrm>
            <a:off x="6597626" y="2581165"/>
            <a:ext cx="2753959" cy="279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목표: 진심 어린 대화와 공감</a:t>
            </a:r>
            <a:endParaRPr lang="en-US" sz="1667" dirty="0"/>
          </a:p>
        </p:txBody>
      </p:sp>
      <p:sp>
        <p:nvSpPr>
          <p:cNvPr id="14" name="Shape 11"/>
          <p:cNvSpPr/>
          <p:nvPr/>
        </p:nvSpPr>
        <p:spPr>
          <a:xfrm>
            <a:off x="790575" y="4190889"/>
            <a:ext cx="10610851" cy="1181100"/>
          </a:xfrm>
          <a:prstGeom prst="rect">
            <a:avLst/>
          </a:prstGeom>
          <a:solidFill>
            <a:srgbClr val="556B2F">
              <a:alpha val="20000"/>
            </a:srgbClr>
          </a:solidFill>
          <a:ln w="18288">
            <a:solidFill>
              <a:srgbClr val="556B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7751" y="4324239"/>
            <a:ext cx="100965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67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설계 의도</a:t>
            </a:r>
            <a:endParaRPr lang="en-US" sz="1267" dirty="0"/>
          </a:p>
        </p:txBody>
      </p:sp>
      <p:sp>
        <p:nvSpPr>
          <p:cNvPr id="16" name="Text 13"/>
          <p:cNvSpPr/>
          <p:nvPr/>
        </p:nvSpPr>
        <p:spPr>
          <a:xfrm>
            <a:off x="1047751" y="4648088"/>
            <a:ext cx="10096500" cy="57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67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괴물을 </a:t>
            </a:r>
            <a:r>
              <a:rPr lang="en-US" sz="1733" b="1" dirty="0">
                <a:solidFill>
                  <a:srgbClr val="8B0000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처치</a:t>
            </a:r>
            <a:r>
              <a:rPr lang="en-US" sz="1867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하는 것이 아니라,
고통받는 친구를 </a:t>
            </a:r>
            <a:r>
              <a:rPr lang="en-US" sz="1733" b="1" dirty="0">
                <a:solidFill>
                  <a:srgbClr val="8B0000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구원</a:t>
            </a:r>
            <a:r>
              <a:rPr lang="en-US" sz="1867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하는 과정으로서의 전투 설계</a:t>
            </a:r>
            <a:endParaRPr lang="en-US" sz="18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0" y="390526"/>
            <a:ext cx="6705600" cy="32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133" b="1" dirty="0">
                <a:solidFill>
                  <a:srgbClr val="E8DCC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[기차칸 9] 챕터 엔딩: 밝혀지는 진실</a:t>
            </a:r>
            <a:endParaRPr lang="en-US" sz="2133" dirty="0"/>
          </a:p>
        </p:txBody>
      </p:sp>
      <p:sp>
        <p:nvSpPr>
          <p:cNvPr id="4" name="Shape 1"/>
          <p:cNvSpPr/>
          <p:nvPr/>
        </p:nvSpPr>
        <p:spPr>
          <a:xfrm>
            <a:off x="869938" y="1088231"/>
            <a:ext cx="5219700" cy="1652588"/>
          </a:xfrm>
          <a:prstGeom prst="rect">
            <a:avLst/>
          </a:prstGeom>
          <a:solidFill>
            <a:srgbClr val="2C241B">
              <a:alpha val="90000"/>
            </a:srgbClr>
          </a:solidFill>
          <a:ln w="27432">
            <a:solidFill>
              <a:srgbClr val="B0A0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5851" y="1240631"/>
            <a:ext cx="47625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8B00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밝혀진 진실</a:t>
            </a:r>
            <a:endParaRPr lang="en-US" sz="1267" dirty="0"/>
          </a:p>
        </p:txBody>
      </p:sp>
      <p:sp>
        <p:nvSpPr>
          <p:cNvPr id="6" name="Text 3"/>
          <p:cNvSpPr/>
          <p:nvPr/>
        </p:nvSpPr>
        <p:spPr>
          <a:xfrm>
            <a:off x="1085851" y="1583531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괴물의 정체는 '인간'</a:t>
            </a:r>
            <a:endParaRPr lang="en-US" sz="1667" dirty="0"/>
          </a:p>
        </p:txBody>
      </p:sp>
      <p:sp>
        <p:nvSpPr>
          <p:cNvPr id="7" name="Text 4"/>
          <p:cNvSpPr/>
          <p:nvPr/>
        </p:nvSpPr>
        <p:spPr>
          <a:xfrm>
            <a:off x="1085851" y="1969294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균열과 괴물에 대한 상식 붕괴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085851" y="2355057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• 피해자의 고통이 빚어낸 비극</a:t>
            </a:r>
            <a:endParaRPr lang="en-US" sz="1667" dirty="0"/>
          </a:p>
        </p:txBody>
      </p:sp>
      <p:sp>
        <p:nvSpPr>
          <p:cNvPr id="9" name="Shape 6"/>
          <p:cNvSpPr/>
          <p:nvPr/>
        </p:nvSpPr>
        <p:spPr>
          <a:xfrm>
            <a:off x="6076951" y="1088231"/>
            <a:ext cx="5219700" cy="1652588"/>
          </a:xfrm>
          <a:prstGeom prst="rect">
            <a:avLst/>
          </a:prstGeom>
          <a:solidFill>
            <a:srgbClr val="2C241B">
              <a:alpha val="90000"/>
            </a:srgbClr>
          </a:solidFill>
          <a:ln w="27432">
            <a:solidFill>
              <a:srgbClr val="B0A0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18201" y="1240631"/>
            <a:ext cx="47625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8B00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핵심 연출 흐름</a:t>
            </a:r>
            <a:endParaRPr lang="en-US" sz="1267" dirty="0"/>
          </a:p>
        </p:txBody>
      </p:sp>
      <p:sp>
        <p:nvSpPr>
          <p:cNvPr id="11" name="Text 8"/>
          <p:cNvSpPr/>
          <p:nvPr/>
        </p:nvSpPr>
        <p:spPr>
          <a:xfrm>
            <a:off x="6318201" y="1583531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1. 괴물 형태의 붕괴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6318201" y="1969294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2. 본래의 인간 모습 복원</a:t>
            </a:r>
            <a:endParaRPr lang="en-US" sz="1667" dirty="0"/>
          </a:p>
        </p:txBody>
      </p:sp>
      <p:sp>
        <p:nvSpPr>
          <p:cNvPr id="13" name="Text 10"/>
          <p:cNvSpPr/>
          <p:nvPr/>
        </p:nvSpPr>
        <p:spPr>
          <a:xfrm>
            <a:off x="6318201" y="2355057"/>
            <a:ext cx="476250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7" dirty="0">
                <a:solidFill>
                  <a:srgbClr val="B0A08C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3. 빛과 함께 소멸</a:t>
            </a:r>
            <a:endParaRPr lang="en-US" sz="1667" dirty="0"/>
          </a:p>
        </p:txBody>
      </p:sp>
      <p:sp>
        <p:nvSpPr>
          <p:cNvPr id="14" name="Shape 11"/>
          <p:cNvSpPr/>
          <p:nvPr/>
        </p:nvSpPr>
        <p:spPr>
          <a:xfrm>
            <a:off x="1009651" y="2893219"/>
            <a:ext cx="10172700" cy="1181100"/>
          </a:xfrm>
          <a:prstGeom prst="rect">
            <a:avLst/>
          </a:prstGeom>
          <a:solidFill>
            <a:srgbClr val="000000"/>
          </a:solidFill>
          <a:ln w="27432">
            <a:solidFill>
              <a:srgbClr val="E8DC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3500" y="3045620"/>
            <a:ext cx="9525000" cy="174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3" dirty="0">
                <a:solidFill>
                  <a:srgbClr val="556B2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구원받은 친구</a:t>
            </a:r>
            <a:endParaRPr lang="en-US" sz="1133" dirty="0"/>
          </a:p>
        </p:txBody>
      </p:sp>
      <p:sp>
        <p:nvSpPr>
          <p:cNvPr id="16" name="Text 13"/>
          <p:cNvSpPr/>
          <p:nvPr/>
        </p:nvSpPr>
        <p:spPr>
          <a:xfrm>
            <a:off x="1333500" y="3328989"/>
            <a:ext cx="9525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i="1" dirty="0">
                <a:solidFill>
                  <a:srgbClr val="E8DCC4"/>
                </a:solidFill>
                <a:latin typeface="VT323" pitchFamily="34" charset="0"/>
                <a:ea typeface="VT323" pitchFamily="34" charset="-122"/>
                <a:cs typeface="VT323" pitchFamily="34" charset="-120"/>
              </a:rPr>
              <a:t>"고마워... 이제 좀 쉬고 싶어..."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95800" y="3998119"/>
            <a:ext cx="3200400" cy="382840"/>
          </a:xfrm>
          <a:prstGeom prst="rect">
            <a:avLst/>
          </a:prstGeom>
          <a:noFill/>
          <a:ln/>
        </p:spPr>
        <p:txBody>
          <a:bodyPr wrap="square" lIns="0" tIns="226737" rIns="0" bIns="0" rtlCol="0" anchor="t">
            <a:spAutoFit/>
          </a:bodyPr>
          <a:lstStyle/>
          <a:p>
            <a:r>
              <a:rPr lang="en-US" sz="1000" dirty="0">
                <a:solidFill>
                  <a:srgbClr val="B0A08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NEXT OBJECTIVE: 선의관리국 복귀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E2BD2-3528-3316-8DDF-4BAC20EF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1C870-CA76-6DE5-8B7F-C55DE37A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탐색 파트 설계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6D3E43-E7FB-3F4D-3B07-155AFB90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01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ko-KR" sz="1600" b="1" dirty="0"/>
              <a:t>주요 이벤트</a:t>
            </a:r>
          </a:p>
          <a:p>
            <a:r>
              <a:rPr lang="ko-KR" altLang="ko-KR" sz="1600" b="1" dirty="0"/>
              <a:t>1층</a:t>
            </a:r>
          </a:p>
          <a:p>
            <a:r>
              <a:rPr lang="ko-KR" altLang="ko-KR" sz="1600" dirty="0"/>
              <a:t>방송실 </a:t>
            </a:r>
          </a:p>
          <a:p>
            <a:r>
              <a:rPr lang="ko-KR" altLang="ko-KR" sz="1600" dirty="0"/>
              <a:t>교무실 </a:t>
            </a:r>
          </a:p>
          <a:p>
            <a:r>
              <a:rPr lang="ko-KR" altLang="ko-KR" sz="1600" dirty="0" err="1"/>
              <a:t>보건실</a:t>
            </a:r>
            <a:r>
              <a:rPr lang="ko-KR" altLang="ko-KR" sz="1600" dirty="0"/>
              <a:t> </a:t>
            </a:r>
          </a:p>
          <a:p>
            <a:r>
              <a:rPr lang="ko-KR" altLang="ko-KR" sz="1600" b="1" dirty="0"/>
              <a:t>3층</a:t>
            </a:r>
          </a:p>
          <a:p>
            <a:r>
              <a:rPr lang="ko-KR" altLang="ko-KR" sz="1600" dirty="0"/>
              <a:t>화장실 </a:t>
            </a:r>
          </a:p>
          <a:p>
            <a:r>
              <a:rPr lang="ko-KR" altLang="ko-KR" sz="1600" dirty="0"/>
              <a:t>과학실 </a:t>
            </a:r>
          </a:p>
          <a:p>
            <a:r>
              <a:rPr lang="ko-KR" altLang="ko-KR" sz="1600" dirty="0"/>
              <a:t>음악실 </a:t>
            </a:r>
          </a:p>
          <a:p>
            <a:r>
              <a:rPr lang="ko-KR" altLang="ko-KR" sz="1600" dirty="0"/>
              <a:t>컴퓨터실 </a:t>
            </a:r>
          </a:p>
          <a:p>
            <a:pPr marL="0" indent="0">
              <a:buNone/>
            </a:pP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설계 의도</a:t>
            </a:r>
          </a:p>
          <a:p>
            <a:r>
              <a:rPr lang="ko-KR" altLang="ko-KR" sz="1600" dirty="0"/>
              <a:t>탐색 과정에서</a:t>
            </a:r>
          </a:p>
          <a:p>
            <a:r>
              <a:rPr lang="ko-KR" altLang="ko-KR" sz="1600" dirty="0"/>
              <a:t>학교폭력 흔적 발견 </a:t>
            </a:r>
          </a:p>
          <a:p>
            <a:r>
              <a:rPr lang="ko-KR" altLang="ko-KR" sz="1600" dirty="0" err="1"/>
              <a:t>환영체</a:t>
            </a:r>
            <a:r>
              <a:rPr lang="ko-KR" altLang="ko-KR" sz="1600" dirty="0"/>
              <a:t> 학습 </a:t>
            </a:r>
          </a:p>
          <a:p>
            <a:r>
              <a:rPr lang="ko-KR" altLang="ko-KR" sz="1600" dirty="0"/>
              <a:t>무기 획득 </a:t>
            </a:r>
          </a:p>
          <a:p>
            <a:r>
              <a:rPr lang="ko-KR" altLang="ko-KR" sz="1600" dirty="0"/>
              <a:t>동시 진행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213F38E-0D81-E2D2-DD8F-49E8AC56CAF9}"/>
              </a:ext>
            </a:extLst>
          </p:cNvPr>
          <p:cNvSpPr txBox="1">
            <a:spLocks/>
          </p:cNvSpPr>
          <p:nvPr/>
        </p:nvSpPr>
        <p:spPr>
          <a:xfrm>
            <a:off x="8084634" y="1690688"/>
            <a:ext cx="32691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ko-KR" b="1" dirty="0"/>
              <a:t>플레이어 질문</a:t>
            </a:r>
            <a:br>
              <a:rPr lang="en-US" altLang="ko-KR" dirty="0"/>
            </a:br>
            <a:r>
              <a:rPr lang="ko-KR" altLang="en-US" dirty="0"/>
              <a:t>누가 지나간 거지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이 학생은 </a:t>
            </a:r>
            <a:r>
              <a:rPr lang="ko-KR" altLang="en-US" dirty="0" err="1"/>
              <a:t>누구지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저걸 어떻게 피하지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무기는 어디 있지</a:t>
            </a:r>
            <a:r>
              <a:rPr lang="en-US" altLang="ko-KR" dirty="0"/>
              <a:t>?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53741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43A48-8784-A776-7B53-F90223C7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C531A-EA15-C96D-E317-7AA9C0DA4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응용 퍼즐 &amp; 기억 체험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8742A-5A04-8D86-7B2E-0D53E03FB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0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1600" b="1" dirty="0"/>
              <a:t>기억 체험</a:t>
            </a:r>
            <a:r>
              <a:rPr lang="en-US" altLang="ko-KR" sz="1600" b="1" dirty="0"/>
              <a:t> - </a:t>
            </a:r>
            <a:r>
              <a:rPr lang="ko-KR" altLang="ko-KR" sz="1600" b="1" dirty="0"/>
              <a:t>급식소</a:t>
            </a:r>
          </a:p>
          <a:p>
            <a:r>
              <a:rPr lang="ko-KR" altLang="ko-KR" sz="1600" dirty="0"/>
              <a:t>줄서기 </a:t>
            </a:r>
          </a:p>
          <a:p>
            <a:r>
              <a:rPr lang="ko-KR" altLang="ko-KR" sz="1600" dirty="0"/>
              <a:t>셔틀 역할 </a:t>
            </a:r>
          </a:p>
          <a:p>
            <a:r>
              <a:rPr lang="ko-KR" altLang="ko-KR" sz="1600" dirty="0" err="1"/>
              <a:t>식판</a:t>
            </a:r>
            <a:r>
              <a:rPr lang="ko-KR" altLang="ko-KR" sz="1600" dirty="0"/>
              <a:t> 정리 </a:t>
            </a:r>
          </a:p>
          <a:p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설계 의도</a:t>
            </a:r>
          </a:p>
          <a:p>
            <a:r>
              <a:rPr lang="ko-KR" altLang="ko-KR" sz="1600" dirty="0"/>
              <a:t>학교폭력 피해자의 일상을</a:t>
            </a:r>
          </a:p>
          <a:p>
            <a:r>
              <a:rPr lang="ko-KR" altLang="ko-KR" sz="1600" dirty="0"/>
              <a:t>설명이 아닌 체험으로 전달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FB88A99-4334-A586-DD24-B116F4DAD0EB}"/>
              </a:ext>
            </a:extLst>
          </p:cNvPr>
          <p:cNvSpPr txBox="1">
            <a:spLocks/>
          </p:cNvSpPr>
          <p:nvPr/>
        </p:nvSpPr>
        <p:spPr>
          <a:xfrm>
            <a:off x="8084634" y="1690688"/>
            <a:ext cx="32691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ko-KR" b="1" dirty="0" err="1"/>
              <a:t>환영체</a:t>
            </a:r>
            <a:r>
              <a:rPr lang="ko-KR" altLang="ko-KR" b="1" dirty="0"/>
              <a:t> 퍼즐</a:t>
            </a:r>
            <a:br>
              <a:rPr lang="en-US" altLang="ko-KR" dirty="0"/>
            </a:br>
            <a:r>
              <a:rPr lang="ko-KR" altLang="en-US" dirty="0"/>
              <a:t>인체모형 </a:t>
            </a:r>
            <a:r>
              <a:rPr lang="en-US" altLang="ko-KR" dirty="0"/>
              <a:t>+ </a:t>
            </a:r>
            <a:r>
              <a:rPr lang="ko-KR" altLang="en-US" dirty="0"/>
              <a:t>스케이트보드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 err="1"/>
              <a:t>환영체</a:t>
            </a:r>
            <a:r>
              <a:rPr lang="ko-KR" altLang="en-US" dirty="0"/>
              <a:t> 유인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1</a:t>
            </a:r>
            <a:r>
              <a:rPr lang="ko-KR" altLang="en-US" dirty="0"/>
              <a:t>학년 </a:t>
            </a:r>
            <a:r>
              <a:rPr lang="en-US" altLang="ko-KR" dirty="0"/>
              <a:t>3</a:t>
            </a:r>
            <a:r>
              <a:rPr lang="ko-KR" altLang="en-US" dirty="0"/>
              <a:t>반 진입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5024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EC092-A0B7-07E5-0C47-B09469C6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83B07-6755-2DC3-F4DC-9AB69066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강당 </a:t>
            </a:r>
            <a:r>
              <a:rPr lang="ko-KR" altLang="ko-KR" dirty="0" err="1"/>
              <a:t>보스전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76B65-4685-DC44-742E-60B27395C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01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ko-KR" sz="1600" b="1" dirty="0" err="1"/>
              <a:t>Phase</a:t>
            </a:r>
            <a:r>
              <a:rPr lang="ko-KR" altLang="ko-KR" sz="1600" b="1" dirty="0"/>
              <a:t> 1</a:t>
            </a:r>
          </a:p>
          <a:p>
            <a:r>
              <a:rPr lang="ko-KR" altLang="ko-KR" sz="1600" dirty="0"/>
              <a:t>괴물 형태</a:t>
            </a:r>
          </a:p>
          <a:p>
            <a:r>
              <a:rPr lang="ko-KR" altLang="ko-KR" sz="1600" b="1" dirty="0" err="1"/>
              <a:t>기믹</a:t>
            </a:r>
            <a:endParaRPr lang="ko-KR" altLang="ko-KR" sz="1600" b="1" dirty="0"/>
          </a:p>
          <a:p>
            <a:r>
              <a:rPr lang="ko-KR" altLang="ko-KR" sz="1600" dirty="0"/>
              <a:t>농구공 </a:t>
            </a:r>
          </a:p>
          <a:p>
            <a:r>
              <a:rPr lang="ko-KR" altLang="ko-KR" sz="1600" dirty="0" err="1"/>
              <a:t>점프대</a:t>
            </a:r>
            <a:r>
              <a:rPr lang="ko-KR" altLang="ko-KR" sz="1600" dirty="0"/>
              <a:t> 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 err="1"/>
              <a:t>Phase</a:t>
            </a:r>
            <a:r>
              <a:rPr lang="ko-KR" altLang="ko-KR" sz="1600" b="1" dirty="0"/>
              <a:t> 2</a:t>
            </a:r>
          </a:p>
          <a:p>
            <a:r>
              <a:rPr lang="ko-KR" altLang="ko-KR" sz="1600" dirty="0"/>
              <a:t>인간 형태</a:t>
            </a:r>
          </a:p>
          <a:p>
            <a:r>
              <a:rPr lang="ko-KR" altLang="ko-KR" sz="1600" b="1" dirty="0"/>
              <a:t>패턴</a:t>
            </a:r>
          </a:p>
          <a:p>
            <a:r>
              <a:rPr lang="ko-KR" altLang="ko-KR" sz="1600" dirty="0"/>
              <a:t>막기 </a:t>
            </a:r>
          </a:p>
          <a:p>
            <a:r>
              <a:rPr lang="ko-KR" altLang="ko-KR" sz="1600" dirty="0"/>
              <a:t>비눗방울 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설계 의도</a:t>
            </a:r>
          </a:p>
          <a:p>
            <a:r>
              <a:rPr lang="ko-KR" altLang="ko-KR" sz="1600" dirty="0"/>
              <a:t>괴물을 처치하는 것이 아니라</a:t>
            </a:r>
          </a:p>
          <a:p>
            <a:r>
              <a:rPr lang="ko-KR" altLang="ko-KR" sz="1600" dirty="0"/>
              <a:t>친구를 구원하는 전투</a:t>
            </a:r>
          </a:p>
        </p:txBody>
      </p:sp>
    </p:spTree>
    <p:extLst>
      <p:ext uri="{BB962C8B-B14F-4D97-AF65-F5344CB8AC3E}">
        <p14:creationId xmlns:p14="http://schemas.microsoft.com/office/powerpoint/2010/main" val="1517375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5ABC9-DAA1-521D-0207-4122F150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AF515-C3BD-A6F4-ACC7-891EAC34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챕터 엔딩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AE91F8-A4CA-16BB-FA8D-71EC51E8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70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1600" b="1" dirty="0"/>
              <a:t>플레이어가 얻는 진실</a:t>
            </a:r>
          </a:p>
          <a:p>
            <a:r>
              <a:rPr lang="ko-KR" altLang="ko-KR" sz="1600" dirty="0"/>
              <a:t>괴물의 정체는 인간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세계관 변화</a:t>
            </a:r>
          </a:p>
          <a:p>
            <a:r>
              <a:rPr lang="ko-KR" altLang="ko-KR" sz="1600" dirty="0"/>
              <a:t>균열과 괴물에 대한 기존 상식 붕괴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다음 목표</a:t>
            </a:r>
          </a:p>
          <a:p>
            <a:r>
              <a:rPr lang="ko-KR" altLang="ko-KR" sz="1600" dirty="0"/>
              <a:t>선의관리국 복귀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4E4D0BE-BD7A-A8AB-CC21-A7002B1194F5}"/>
              </a:ext>
            </a:extLst>
          </p:cNvPr>
          <p:cNvSpPr txBox="1">
            <a:spLocks/>
          </p:cNvSpPr>
          <p:nvPr/>
        </p:nvSpPr>
        <p:spPr>
          <a:xfrm>
            <a:off x="8084634" y="1690688"/>
            <a:ext cx="32691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ko-KR" b="1" dirty="0"/>
              <a:t>핵심 연출</a:t>
            </a:r>
            <a:br>
              <a:rPr lang="en-US" altLang="ko-KR" dirty="0"/>
            </a:br>
            <a:r>
              <a:rPr lang="ko-KR" altLang="en-US" dirty="0"/>
              <a:t>괴물 붕괴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인간 모습 복원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"</a:t>
            </a:r>
            <a:r>
              <a:rPr lang="ko-KR" altLang="en-US" dirty="0"/>
              <a:t>이제 좀 쉬고 싶어</a:t>
            </a:r>
            <a:r>
              <a:rPr lang="en-US" altLang="ko-KR" dirty="0"/>
              <a:t>..."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↓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소멸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55629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523</Words>
  <Application>Microsoft Office PowerPoint</Application>
  <PresentationFormat>와이드스크린</PresentationFormat>
  <Paragraphs>139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Press Start 2P</vt:lpstr>
      <vt:lpstr>VT323</vt:lpstr>
      <vt:lpstr>맑은 고딕</vt:lpstr>
      <vt:lpstr>Arial</vt:lpstr>
      <vt:lpstr>Office 테마</vt:lpstr>
      <vt:lpstr>챕터 개요 및 플레이 경험</vt:lpstr>
      <vt:lpstr>상황의 기차칸 – 맵 전체 플로우</vt:lpstr>
      <vt:lpstr>PowerPoint 프레젠테이션</vt:lpstr>
      <vt:lpstr>PowerPoint 프레젠테이션</vt:lpstr>
      <vt:lpstr>PowerPoint 프레젠테이션</vt:lpstr>
      <vt:lpstr>PowerPoint 프레젠테이션</vt:lpstr>
      <vt:lpstr>탐색 파트 설계</vt:lpstr>
      <vt:lpstr>응용 퍼즐 &amp; 기억 체험</vt:lpstr>
      <vt:lpstr>강당 보스전</vt:lpstr>
      <vt:lpstr>챕터 엔딩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4</cp:revision>
  <dcterms:created xsi:type="dcterms:W3CDTF">2026-06-15T01:46:33Z</dcterms:created>
  <dcterms:modified xsi:type="dcterms:W3CDTF">2026-06-15T02:50:53Z</dcterms:modified>
</cp:coreProperties>
</file>