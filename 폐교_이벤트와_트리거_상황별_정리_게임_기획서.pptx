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85850" y="1175761"/>
            <a:ext cx="4936331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spc="3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GAME DESIGN DOCUMENT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085850" y="1833181"/>
            <a:ext cx="4936331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50" b="1" spc="-2" kern="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폐교 이벤트와</a:t>
            </a:r>
            <a:r>
              <a:rPr lang="en-US" sz="4350" b="1" spc="-2" kern="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4350" b="1" spc="-2" kern="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트리거 상황별 정리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085850" y="3610524"/>
            <a:ext cx="3750469" cy="34290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공포/미스터리 장르 | 챕터: 폐교 (The Abandoned School)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-7144"/>
            <a:ext cx="8572500" cy="1456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-7144"/>
            <a:ext cx="57150" cy="145618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06087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1. 챕터 개요: 폐교의 진실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1266872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CHAPTER OVERVIEW: THE TRUTH OF ABANDONED SCHOOL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806225"/>
            <a:ext cx="1800225" cy="752215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이야기 목적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378869" y="1938384"/>
            <a:ext cx="5625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보스가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2941439" y="1938384"/>
            <a:ext cx="12465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학교폭력 피해자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188023" y="1938384"/>
            <a:ext cx="129837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였음을 공개하며,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378869" y="2212693"/>
            <a:ext cx="410944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괴물의 정체가 인간임을 최초로 밝히는 핵심 반전 챕터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" y="2558439"/>
            <a:ext cx="1800225" cy="481478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핵심 목표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378869" y="2694170"/>
            <a:ext cx="305395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조사 → 추적 → 학습 → 응용 → 체험 →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32822" y="2694170"/>
            <a:ext cx="3429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구원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775722" y="2694170"/>
            <a:ext cx="6107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반전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1500" y="3039917"/>
            <a:ext cx="1800225" cy="755786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관계성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378869" y="3175648"/>
            <a:ext cx="259318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주인공과 보스의 과거 인연을 통해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2378869" y="3449957"/>
            <a:ext cx="134481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단순한 적이 아닌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723680" y="3449957"/>
            <a:ext cx="14644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감정적 교류의 대상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188148" y="3449957"/>
            <a:ext cx="73402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전환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418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441893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2. 플레이 동선 (Flow)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1259728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GAMEPLAY PROGRESSION: FROM ENTRY TO ENDING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5781" y="1641918"/>
            <a:ext cx="85725" cy="8572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8" name="Text 5"/>
          <p:cNvSpPr/>
          <p:nvPr/>
        </p:nvSpPr>
        <p:spPr>
          <a:xfrm>
            <a:off x="750094" y="1641918"/>
            <a:ext cx="357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7281" y="1641918"/>
            <a:ext cx="332184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진입 단계: 탐색의 시작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07281" y="1954457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폐교 진입 → 본관 1층 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(방송실 / 교무실 / 보건실)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79156" y="1641918"/>
            <a:ext cx="85725" cy="8572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2" name="Text 9"/>
          <p:cNvSpPr/>
          <p:nvPr/>
        </p:nvSpPr>
        <p:spPr>
          <a:xfrm>
            <a:off x="4893469" y="1641918"/>
            <a:ext cx="357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0656" y="1641918"/>
            <a:ext cx="332184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조우 단계: 위협의 실체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0656" y="1954457"/>
            <a:ext cx="33218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환영체 첫 조우 → 본관 3층 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(화장실 / 과학실 / 음악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 / 컴퓨터실)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5781" y="2511670"/>
            <a:ext cx="85725" cy="8572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3"/>
          <p:cNvSpPr/>
          <p:nvPr/>
        </p:nvSpPr>
        <p:spPr>
          <a:xfrm>
            <a:off x="750094" y="2511670"/>
            <a:ext cx="357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07281" y="2511670"/>
            <a:ext cx="332184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심화 단계: 갈등의 고조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107281" y="2824209"/>
            <a:ext cx="332184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본관 2층 재진입 (정예 몬스터) → 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1학년 1~3반</a:t>
            </a: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(기억 </a:t>
            </a: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세계 트리거)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79156" y="2511670"/>
            <a:ext cx="85725" cy="8572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0" name="Text 17"/>
          <p:cNvSpPr/>
          <p:nvPr/>
        </p:nvSpPr>
        <p:spPr>
          <a:xfrm>
            <a:off x="4893469" y="2511670"/>
            <a:ext cx="35718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250656" y="2511670"/>
            <a:ext cx="3321844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절정 단계: 구원과 진실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250656" y="2824209"/>
            <a:ext cx="332184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평범한 학교(기억 세계) → 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강당(보스전)</a:t>
            </a:r>
            <a:r>
              <a:rPr lang="en-US" sz="10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엔딩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56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45618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3. 학습 곡선 (Learning Curve)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1274015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STEP-BY-STEP GIMMICK MASTERY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70493"/>
            <a:ext cx="1428750" cy="39112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구간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000250" y="1670493"/>
            <a:ext cx="2143125" cy="39112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학습 요소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43375" y="1670493"/>
            <a:ext cx="4429125" cy="391120"/>
          </a:xfrm>
          <a:prstGeom prst="rect">
            <a:avLst/>
          </a:prstGeom>
          <a:noFill/>
          <a:ln/>
        </p:spPr>
        <p:txBody>
          <a:bodyPr wrap="square" lIns="8509" tIns="102108" rIns="8509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설계 의도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2061614"/>
            <a:ext cx="1428750" cy="403622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폐교 입구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00250" y="2061614"/>
            <a:ext cx="2143125" cy="403622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플래시 사용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43375" y="2061614"/>
            <a:ext cx="4429125" cy="403622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기본 시야 확보 및 공포 분위기 조성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2465236"/>
            <a:ext cx="1428750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방송실 / 보건실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000250" y="2465236"/>
            <a:ext cx="2143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조사 및 숨기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143375" y="2465236"/>
            <a:ext cx="4429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기본 생존 및 상호작용 기믹 학습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71500" y="2865286"/>
            <a:ext cx="1428750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환영체 조우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000250" y="2865286"/>
            <a:ext cx="2143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추격 대응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43375" y="2865286"/>
            <a:ext cx="4429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긴장감 조성 및 회피 메커니즘 습득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3265336"/>
            <a:ext cx="1428750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음악실 / 정예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000250" y="3265336"/>
            <a:ext cx="2143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균열 무기 및 전투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143375" y="3265336"/>
            <a:ext cx="4429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적극적 대응 수단 및 자원 관리 학습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" y="3665386"/>
            <a:ext cx="1428750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강당 / 보스전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2000250" y="3665386"/>
            <a:ext cx="2143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기믹 총합 응용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143375" y="3665386"/>
            <a:ext cx="4429125" cy="400050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투척, 막기, 점프 등 모든 학습 요소의 결합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114925" y="4304751"/>
            <a:ext cx="34575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모든 기믹은 </a:t>
            </a: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학습 → 활용 → 응용</a:t>
            </a:r>
            <a:r>
              <a:rPr lang="en-US" sz="11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의 구조로 설계됨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1822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18229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4. 주요 이벤트: 본관 1층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989409"/>
            <a:ext cx="835818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난이도: ★★☆☆☆ | 조사 및 은신 학습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89497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방송실 (Broadcasting Room)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1978819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 이상 현상 연출을 통한 공포 분위기 조성 및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플래시 사용</a:t>
            </a: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유도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506005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교무실 (Staff Room)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" y="2795327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생활기록부 조사를 통한 서사 전달 및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펜던트 조각</a:t>
            </a: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아이템 획득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" y="3322513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보건실 (Infirmary)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" y="3611835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보건 기록 확인 및 캐비닛 등을 활용한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[숨기]</a:t>
            </a: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기믹 최초 학습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4139022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환영체 첫 조우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71500" y="4428344"/>
            <a:ext cx="4543425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첫 추격전 발생. 인간 형상에 반응하는 환영체의 특성 관찰 기회 제공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43550" y="1689497"/>
            <a:ext cx="302895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spc="1" kern="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플레이어 획득 정보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543550" y="2044898"/>
            <a:ext cx="30289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STORY CLUES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543550" y="2253853"/>
            <a:ext cx="30289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교사의 방관 및 학교 내에서 반복적으로 자행된 폭력의 흔적 발견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543550" y="2853928"/>
            <a:ext cx="30289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MECHANICS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543550" y="3062883"/>
            <a:ext cx="30289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환영체의 기본적인 시야 범위 및 소리에 대한 반응성 파악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56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45618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5. 주요 이벤트: 본관 3층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1274015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MAIN EVENTS: 3RD FLOOR - WEAPON &amp; LURING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813368"/>
            <a:ext cx="42862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난이도: </a:t>
            </a:r>
            <a:r>
              <a:rPr lang="en-US" sz="10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★★★☆☆</a:t>
            </a: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플레이 목적: 무기 획득 및 유도 학습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292000"/>
            <a:ext cx="428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화장실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2581322"/>
            <a:ext cx="42862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낙서 및 썩은 도시락 발견 (과거 괴롭힘의 흔적 조사)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2965633"/>
            <a:ext cx="428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과학실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3254955"/>
            <a:ext cx="42862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인체모형 이벤트 발생, </a:t>
            </a:r>
            <a:r>
              <a:rPr lang="en-US" sz="9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환영체 유도 기믹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최초 활용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" y="3639266"/>
            <a:ext cx="428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음악실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3928588"/>
            <a:ext cx="42862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리코더 획득 및 </a:t>
            </a:r>
            <a:r>
              <a:rPr lang="en-US" sz="95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균열 무기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시스템 학습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71500" y="4312900"/>
            <a:ext cx="428625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컴퓨터실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71500" y="4602221"/>
            <a:ext cx="4286250" cy="2057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온라인 괴롭힘 흔적 확인, 펜던트 조각 획득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357813" y="1970531"/>
            <a:ext cx="3214688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PLAYER INTELLIGENCE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57813" y="2277712"/>
            <a:ext cx="321468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집단 따돌림 및 사이버 괴롭힘의 실체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57813" y="2604874"/>
            <a:ext cx="321468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환영체를 특정 위치로 유도하는 전략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357813" y="2932035"/>
            <a:ext cx="321468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균열 무기를 활용한 적극적 대응 수단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357813" y="3366353"/>
            <a:ext cx="3214688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"학교폭력의 심각성 전달"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3781" y="428625"/>
            <a:ext cx="11787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난이도 ★★★★☆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571500" y="0"/>
            <a:ext cx="85725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0"/>
            <a:ext cx="57150" cy="117157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428625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6. 주요 이벤트: 본관 2층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785813" y="989409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MAIN EVENTS: 2ND FLOOR - THE DEEPENING MYSTERY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457325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정예 몬스터 조우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71500" y="1725216"/>
            <a:ext cx="4543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복도에서 마주치는 강력한 적. 지금까지 학습한 무기 활용 능력을 시험하는 첫 번째 관문.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2303859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1학년 1반 &amp; 2반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1500" y="2571750"/>
            <a:ext cx="45434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가해 학생들의 아지트 흔적 발견. 보스의 책상에서 마지막 </a:t>
            </a: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펜던트 조각</a:t>
            </a: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획득.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150394"/>
            <a:ext cx="454342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1학년 3반 (핵심 구역)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1500" y="3418284"/>
            <a:ext cx="45434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환영체 유도 퍼즐을 해결하여 숨겨진 통로를 발견.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71500" y="3832622"/>
            <a:ext cx="4543425" cy="714375"/>
          </a:xfrm>
          <a:prstGeom prst="rect">
            <a:avLst/>
          </a:prstGeom>
          <a:solidFill>
            <a:srgbClr val="FF3B30">
              <a:alpha val="1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14375" y="3975497"/>
            <a:ext cx="42576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CRITICAL TRIGGER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14375" y="4166592"/>
            <a:ext cx="425767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펜던트 완성 시 </a:t>
            </a:r>
            <a:r>
              <a:rPr lang="en-US" sz="1000" b="1" dirty="0">
                <a:solidFill>
                  <a:srgbClr val="FF3B3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[기억 세계]</a:t>
            </a: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로의 강제 전이 발생.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43550" y="1614488"/>
            <a:ext cx="302895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플레이어 획득 정보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543550" y="1969889"/>
            <a:ext cx="3028950" cy="1714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가해 학생들의 구체적인 신상과 폭력의 규모 확인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543550" y="2248495"/>
            <a:ext cx="3028950" cy="1714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보스가 겪었던 고립감의 물리적 증거들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543550" y="2527102"/>
            <a:ext cx="3028950" cy="17145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학교라는 공간이 지옥으로 변한 이유의 실마리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543550" y="1969889"/>
            <a:ext cx="73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543550" y="2248495"/>
            <a:ext cx="73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543550" y="2527102"/>
            <a:ext cx="73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4561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456181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713231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7. 기억 세계: 평범한 학교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1274015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MEMORY WORLD: THE ORDINARY SCHOOL EXPERIENCE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884806"/>
            <a:ext cx="420688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급식소 &amp; 불량 학생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2174128"/>
            <a:ext cx="42068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강제적인 질서 속의 줄서기, 급식 셔틀 및 반찬 강탈을 통한 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무력감 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체험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967084"/>
            <a:ext cx="420688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식판 정리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1500" y="3256406"/>
            <a:ext cx="42068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주변의 시선과 단절된 채 느끼는 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사회적 고립감</a:t>
            </a: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 시각적 연출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3835050"/>
            <a:ext cx="420688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화장실 거울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" y="4124372"/>
            <a:ext cx="42068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거울 속 자신의 모습이 보스로 변하는 연출을 통해 </a:t>
            </a:r>
            <a:r>
              <a:rPr lang="en-US" sz="10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보스 시점 공개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07012" y="2270568"/>
            <a:ext cx="3365488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설계 의도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07012" y="2752772"/>
            <a:ext cx="3365488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11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플레이어가 보스의 고통에 직접적으로 공감하도</a:t>
            </a:r>
            <a:r>
              <a:rPr lang="en-US" sz="11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록 유도하여, 보스를 단순한 적이 아닌 </a:t>
            </a:r>
            <a:r>
              <a:rPr lang="en-US" sz="1150" i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"반드시 </a:t>
            </a:r>
            <a:r>
              <a:rPr lang="en-US" sz="1150" i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구원해야 할 피해자"</a:t>
            </a:r>
            <a:r>
              <a:rPr lang="en-US" sz="11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인식하게 만드는 서사적 </a:t>
            </a:r>
            <a:r>
              <a:rPr lang="en-US" sz="1150" i="1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장치입니다.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93781" y="428625"/>
            <a:ext cx="11787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난이도 ★★★★★</a:t>
            </a:r>
            <a:endParaRPr lang="en-US" sz="1000" dirty="0"/>
          </a:p>
        </p:txBody>
      </p:sp>
      <p:sp>
        <p:nvSpPr>
          <p:cNvPr id="4" name="Shape 1"/>
          <p:cNvSpPr/>
          <p:nvPr/>
        </p:nvSpPr>
        <p:spPr>
          <a:xfrm>
            <a:off x="571500" y="0"/>
            <a:ext cx="85725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0"/>
            <a:ext cx="57150" cy="117157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428625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8. 강당 보스전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785813" y="989409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FINAL BOSS BATTLE: THE GYMNASIUM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1678781"/>
            <a:ext cx="378618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1: 괴물 형태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1500" y="2091333"/>
            <a:ext cx="37861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GIMMICKS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300288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농구공 오브젝트 활용 공격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578894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점프대 기믹을 이용한 고점 확보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2857500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약점 부위 투척 공격 유도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3264694"/>
            <a:ext cx="37861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DIRECTION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71500" y="3473648"/>
            <a:ext cx="3786188" cy="554310"/>
          </a:xfrm>
          <a:prstGeom prst="rect">
            <a:avLst/>
          </a:prstGeom>
          <a:solidFill>
            <a:srgbClr val="FF3B30">
              <a:alpha val="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71500" y="3473648"/>
            <a:ext cx="14288" cy="55431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2300288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2578894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" y="2857500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14375" y="3616523"/>
            <a:ext cx="35004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보스 몸속 진입 → 펜던트 심장 발견 → 괴물 형태 붕괴로 이어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지는 </a:t>
            </a:r>
            <a:r>
              <a:rPr lang="en-US" sz="9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압도적 스케일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의 연출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786313" y="1678781"/>
            <a:ext cx="3786188" cy="26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Phase 2: 인간 형태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786313" y="2091333"/>
            <a:ext cx="37861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CORE GIMMICKS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786313" y="2300288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비눗방울 패턴 대응 및 회피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786313" y="2578894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정교한 [막기] 타이밍 학습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786313" y="2857500"/>
            <a:ext cx="3786188" cy="1928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CCC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근접 패링을 통한 무력화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786313" y="3264694"/>
            <a:ext cx="378618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88888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DIRECTION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4786313" y="3473648"/>
            <a:ext cx="3786188" cy="554310"/>
          </a:xfrm>
          <a:prstGeom prst="rect">
            <a:avLst/>
          </a:prstGeom>
          <a:solidFill>
            <a:srgbClr val="FF3B30">
              <a:alpha val="5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786313" y="3473648"/>
            <a:ext cx="14288" cy="554310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28" name="Text 25"/>
          <p:cNvSpPr/>
          <p:nvPr/>
        </p:nvSpPr>
        <p:spPr>
          <a:xfrm>
            <a:off x="4786313" y="2300288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786313" y="2578894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786313" y="2857500"/>
            <a:ext cx="80367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929188" y="3616523"/>
            <a:ext cx="3500438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비눗방울 속에 투영되는 </a:t>
            </a:r>
            <a:r>
              <a:rPr lang="en-US" sz="950" dirty="0">
                <a:solidFill>
                  <a:srgbClr val="FF3B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과거의 행복했던 추억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들을 통해 감정</a:t>
            </a: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적 절정 유도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17157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9. 챕터 엔딩 및 결과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989409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CHAPTER ENDING: REVELATION &amp; CONSEQUENCES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1678781"/>
            <a:ext cx="8001000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CCCCC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"괜찮아... 쉬고 싶었어..."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71500" y="2153841"/>
            <a:ext cx="8001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보스의 소멸과 괴물의 정체 공개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2925366"/>
            <a:ext cx="247648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PLAYER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3234333"/>
            <a:ext cx="24764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괴물이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인간이었다는 사실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직접 확인하며 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도덕적 딜레마와 정서적 충격 경험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333731" y="2925366"/>
            <a:ext cx="247650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WORLDVIEW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333731" y="3234333"/>
            <a:ext cx="2476509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균열 현상에 대한 기존 상식의 붕괴.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전국 생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중계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통한 사회적 파장 발생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095991" y="2925366"/>
            <a:ext cx="2476481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NEXT GOAL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95991" y="3234333"/>
            <a:ext cx="247648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사태 수습을 위한 </a:t>
            </a:r>
            <a:r>
              <a:rPr lang="en-US" sz="9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선의관리청 복귀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및 새로</a:t>
            </a:r>
            <a:r>
              <a:rPr lang="en-US" sz="95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운 국면의 조사 시작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1715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171575"/>
          </a:xfrm>
          <a:prstGeom prst="rect">
            <a:avLst/>
          </a:prstGeom>
          <a:solidFill>
            <a:srgbClr val="FF3B30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428625"/>
            <a:ext cx="8358188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10. 감정 곡선 및 설계 의도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785813" y="989409"/>
            <a:ext cx="83581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spc="2" kern="0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EMOTIONAL CURVE &amp; FINAL DESIGN INTENT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457325"/>
            <a:ext cx="8001000" cy="2143125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00200"/>
            <a:ext cx="7715250" cy="2000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4114800"/>
            <a:ext cx="8001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3B3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FINAL DESIGN INTENT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71500" y="4439841"/>
            <a:ext cx="800100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플레이어가 보스를 단순한 사냥 대상이 아닌,</a:t>
            </a:r>
            <a:r>
              <a:rPr lang="en-US" sz="170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
</a:t>
            </a:r>
            <a:r>
              <a:rPr lang="en-US" sz="1700" dirty="0">
                <a:solidFill>
                  <a:srgbClr val="FF3B30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"반드시 구원해야 할 친구"</a:t>
            </a:r>
            <a:r>
              <a:rPr lang="en-US" sz="1700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로 인식하게 만드는 것이 본 챕터의 핵심입니다.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2026-06-12T15:35:25Z</dcterms:created>
  <dcterms:modified xsi:type="dcterms:W3CDTF">2026-06-12T15:35:25Z</dcterms:modified>
</cp:coreProperties>
</file>