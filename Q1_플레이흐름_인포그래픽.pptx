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solidFill>
            <a:srgbClr val="1D2939"/>
          </a:solidFill>
          <a:ln>
            <a:solidFill>
              <a:srgbClr val="1D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Q1. 동생 심부름 - 플레이 흐름 인포그래픽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37381"/>
                </a:solidFill>
                <a:latin typeface="Malgun Gothic"/>
              </a:rPr>
              <a:t>집에서 출발해 여러 심부름을 거치며 귀가하는 Q1의 핵심 동선과 리드 요소를 한 장으로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66160" cy="1097280"/>
          </a:xfrm>
          <a:prstGeom prst="roundRect">
            <a:avLst/>
          </a:prstGeom>
          <a:solidFill>
            <a:srgbClr val="CFE8FF"/>
          </a:solidFill>
          <a:ln w="2540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581912"/>
            <a:ext cx="566928" cy="274320"/>
          </a:xfrm>
          <a:prstGeom prst="roundRect">
            <a:avLst/>
          </a:prstGeom>
          <a:solidFill>
            <a:srgbClr val="1D2939"/>
          </a:solidFill>
          <a:ln>
            <a:solidFill>
              <a:srgbClr val="1D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STEP 1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98424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47672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D2939"/>
                </a:solidFill>
                <a:latin typeface="Malgun Gothic"/>
              </a:rPr>
              <a:t>집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24050"/>
                </a:solidFill>
                <a:latin typeface="Malgun Gothic"/>
              </a:rPr>
              <a:t>동생의 심부름을 받고 외출 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508760"/>
            <a:ext cx="3566160" cy="1097280"/>
          </a:xfrm>
          <a:prstGeom prst="roundRect">
            <a:avLst/>
          </a:prstGeom>
          <a:solidFill>
            <a:srgbClr val="FFBFBF"/>
          </a:solidFill>
          <a:ln w="2540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581912"/>
            <a:ext cx="566928" cy="274320"/>
          </a:xfrm>
          <a:prstGeom prst="roundRect">
            <a:avLst/>
          </a:prstGeom>
          <a:solidFill>
            <a:srgbClr val="1D2939"/>
          </a:solidFill>
          <a:ln>
            <a:solidFill>
              <a:srgbClr val="1D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STEP 2</a:t>
            </a:r>
          </a:p>
        </p:txBody>
      </p:sp>
      <p:sp>
        <p:nvSpPr>
          <p:cNvPr id="10" name="Oval 9"/>
          <p:cNvSpPr/>
          <p:nvPr/>
        </p:nvSpPr>
        <p:spPr>
          <a:xfrm>
            <a:off x="4407408" y="198424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1947672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D2939"/>
                </a:solidFill>
                <a:latin typeface="Malgun Gothic"/>
              </a:rPr>
              <a:t>편의점 품절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24050"/>
                </a:solidFill>
                <a:latin typeface="Malgun Gothic"/>
              </a:rPr>
              <a:t>신상 과자는 품절. 재입고 단서를 획득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508760"/>
            <a:ext cx="3566160" cy="1097280"/>
          </a:xfrm>
          <a:prstGeom prst="roundRect">
            <a:avLst/>
          </a:prstGeom>
          <a:solidFill>
            <a:srgbClr val="FFECB3"/>
          </a:solidFill>
          <a:ln w="2540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0727" y="1581912"/>
            <a:ext cx="566928" cy="274320"/>
          </a:xfrm>
          <a:prstGeom prst="roundRect">
            <a:avLst/>
          </a:prstGeom>
          <a:solidFill>
            <a:srgbClr val="1D2939"/>
          </a:solidFill>
          <a:ln>
            <a:solidFill>
              <a:srgbClr val="1D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STEP 3</a:t>
            </a:r>
          </a:p>
        </p:txBody>
      </p:sp>
      <p:sp>
        <p:nvSpPr>
          <p:cNvPr id="14" name="Oval 13"/>
          <p:cNvSpPr/>
          <p:nvPr/>
        </p:nvSpPr>
        <p:spPr>
          <a:xfrm>
            <a:off x="8129015" y="198424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9095" y="1947672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D2939"/>
                </a:solidFill>
                <a:latin typeface="Malgun Gothic"/>
              </a:rPr>
              <a:t>다이소 앞머리롤 구매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24050"/>
                </a:solidFill>
                <a:latin typeface="Malgun Gothic"/>
              </a:rPr>
              <a:t>다이소에서 요청 물품 구매 완료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2926080"/>
            <a:ext cx="3566160" cy="1097280"/>
          </a:xfrm>
          <a:prstGeom prst="roundRect">
            <a:avLst/>
          </a:prstGeom>
          <a:solidFill>
            <a:srgbClr val="FFD8A8"/>
          </a:solidFill>
          <a:ln w="2540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0727" y="2999232"/>
            <a:ext cx="566928" cy="274320"/>
          </a:xfrm>
          <a:prstGeom prst="roundRect">
            <a:avLst/>
          </a:prstGeom>
          <a:solidFill>
            <a:srgbClr val="1D2939"/>
          </a:solidFill>
          <a:ln>
            <a:solidFill>
              <a:srgbClr val="1D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STEP 4</a:t>
            </a:r>
          </a:p>
        </p:txBody>
      </p:sp>
      <p:sp>
        <p:nvSpPr>
          <p:cNvPr id="18" name="Oval 17"/>
          <p:cNvSpPr/>
          <p:nvPr/>
        </p:nvSpPr>
        <p:spPr>
          <a:xfrm>
            <a:off x="8129015" y="340156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9095" y="3364992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D2939"/>
                </a:solidFill>
                <a:latin typeface="Malgun Gothic"/>
              </a:rPr>
              <a:t>배송 트럭 / 재입고 암시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24050"/>
                </a:solidFill>
                <a:latin typeface="Malgun Gothic"/>
              </a:rPr>
              <a:t>트럭과 NPC 반응으로 과자 재입고를 예고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2926080"/>
            <a:ext cx="3566160" cy="1097280"/>
          </a:xfrm>
          <a:prstGeom prst="roundRect">
            <a:avLst/>
          </a:prstGeom>
          <a:solidFill>
            <a:srgbClr val="CBF4C4"/>
          </a:solidFill>
          <a:ln w="2540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2999232"/>
            <a:ext cx="566928" cy="274320"/>
          </a:xfrm>
          <a:prstGeom prst="roundRect">
            <a:avLst/>
          </a:prstGeom>
          <a:solidFill>
            <a:srgbClr val="1D2939"/>
          </a:solidFill>
          <a:ln>
            <a:solidFill>
              <a:srgbClr val="1D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STEP 5</a:t>
            </a:r>
          </a:p>
        </p:txBody>
      </p:sp>
      <p:sp>
        <p:nvSpPr>
          <p:cNvPr id="22" name="Oval 21"/>
          <p:cNvSpPr/>
          <p:nvPr/>
        </p:nvSpPr>
        <p:spPr>
          <a:xfrm>
            <a:off x="4407408" y="340156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3364992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D2939"/>
                </a:solidFill>
                <a:latin typeface="Malgun Gothic"/>
              </a:rPr>
              <a:t>치킨 주문·배달 주소 전달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24050"/>
                </a:solidFill>
                <a:latin typeface="Malgun Gothic"/>
              </a:rPr>
              <a:t>동생의 전화 후 배달앱으로 주문 진행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926080"/>
            <a:ext cx="3566160" cy="1097280"/>
          </a:xfrm>
          <a:prstGeom prst="roundRect">
            <a:avLst/>
          </a:prstGeom>
          <a:solidFill>
            <a:srgbClr val="DDD6FE"/>
          </a:solidFill>
          <a:ln w="2540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7512" y="2999232"/>
            <a:ext cx="566928" cy="274320"/>
          </a:xfrm>
          <a:prstGeom prst="roundRect">
            <a:avLst/>
          </a:prstGeom>
          <a:solidFill>
            <a:srgbClr val="1D2939"/>
          </a:solidFill>
          <a:ln>
            <a:solidFill>
              <a:srgbClr val="1D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STEP 6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340156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🕵️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364992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D2939"/>
                </a:solidFill>
                <a:latin typeface="Malgun Gothic"/>
              </a:rPr>
              <a:t>회색 후드 판매자 찾기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24050"/>
                </a:solidFill>
                <a:latin typeface="Malgun Gothic"/>
              </a:rPr>
              <a:t>회색 후드 3명 중 진짜 판매자 식별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4343400"/>
            <a:ext cx="3566160" cy="1097280"/>
          </a:xfrm>
          <a:prstGeom prst="roundRect">
            <a:avLst/>
          </a:prstGeom>
          <a:solidFill>
            <a:srgbClr val="FFCCD6"/>
          </a:solidFill>
          <a:ln w="2540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0" y="4416552"/>
            <a:ext cx="566928" cy="274320"/>
          </a:xfrm>
          <a:prstGeom prst="roundRect">
            <a:avLst/>
          </a:prstGeom>
          <a:solidFill>
            <a:srgbClr val="1D2939"/>
          </a:solidFill>
          <a:ln>
            <a:solidFill>
              <a:srgbClr val="1D2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STEP 7</a:t>
            </a:r>
          </a:p>
        </p:txBody>
      </p:sp>
      <p:sp>
        <p:nvSpPr>
          <p:cNvPr id="30" name="Oval 29"/>
          <p:cNvSpPr/>
          <p:nvPr/>
        </p:nvSpPr>
        <p:spPr>
          <a:xfrm>
            <a:off x="4407408" y="481888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latin typeface="Segoe UI Emoji"/>
              </a:rPr>
              <a:t>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4782312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D2939"/>
                </a:solidFill>
                <a:latin typeface="Malgun Gothic"/>
              </a:rPr>
              <a:t>귀가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324050"/>
                </a:solidFill>
                <a:latin typeface="Malgun Gothic"/>
              </a:rPr>
              <a:t>모든 심부름을 마치고 집으로 복귀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60520" y="2057400.0"/>
            <a:ext cx="155448" cy="0.0"/>
          </a:xfrm>
          <a:prstGeom prst="line">
            <a:avLst/>
          </a:prstGeom>
          <a:ln w="381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82128" y="2057400.0"/>
            <a:ext cx="155447" cy="0.0"/>
          </a:xfrm>
          <a:prstGeom prst="line">
            <a:avLst/>
          </a:prstGeom>
          <a:ln w="381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820655.0" y="2606040"/>
            <a:ext cx="0.0" cy="320040"/>
          </a:xfrm>
          <a:prstGeom prst="line">
            <a:avLst/>
          </a:prstGeom>
          <a:ln w="381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7882128" y="3474720.0"/>
            <a:ext cx="155447" cy="0.0"/>
          </a:xfrm>
          <a:prstGeom prst="line">
            <a:avLst/>
          </a:prstGeom>
          <a:ln w="381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160520" y="3474720.0"/>
            <a:ext cx="155448" cy="0.0"/>
          </a:xfrm>
          <a:prstGeom prst="line">
            <a:avLst/>
          </a:prstGeom>
          <a:ln w="381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77440.0" y="4023360"/>
            <a:ext cx="3721608.0" cy="320040"/>
          </a:xfrm>
          <a:prstGeom prst="line">
            <a:avLst/>
          </a:prstGeom>
          <a:ln w="381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321040" y="4297680"/>
            <a:ext cx="32918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D2939"/>
                </a:solidFill>
                <a:latin typeface="Malgun Gothic"/>
              </a:rPr>
              <a:t>핵심 리드 포인트</a:t>
            </a:r>
          </a:p>
          <a:p>
            <a:pPr/>
            <a:r>
              <a:rPr sz="1050">
                <a:solidFill>
                  <a:srgbClr val="324050"/>
                </a:solidFill>
                <a:latin typeface="Malgun Gothic"/>
              </a:rPr>
              <a:t>• 편의점 품절 → 재입고 정보 제공</a:t>
            </a:r>
          </a:p>
          <a:p>
            <a:pPr/>
            <a:r>
              <a:rPr sz="1050">
                <a:solidFill>
                  <a:srgbClr val="324050"/>
                </a:solidFill>
                <a:latin typeface="Malgun Gothic"/>
              </a:rPr>
              <a:t>• 다이소 이후 배송 트럭으로 기대감 강화</a:t>
            </a:r>
          </a:p>
          <a:p>
            <a:pPr/>
            <a:r>
              <a:rPr sz="1050">
                <a:solidFill>
                  <a:srgbClr val="324050"/>
                </a:solidFill>
                <a:latin typeface="Malgun Gothic"/>
              </a:rPr>
              <a:t>• 회색 후드 3인 탐색으로 짧은 변주 제공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30936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37381"/>
                </a:solidFill>
                <a:latin typeface="Malgun Gothic"/>
              </a:rPr>
              <a:t>Quest Design / Q1 Play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