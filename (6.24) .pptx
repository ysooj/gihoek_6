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3" r:id="rId11"/>
    <p:sldId id="268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delSld">
      <pc:chgData name="musukie52@gmail.com" userId="017bd91f96aa8751" providerId="LiveId" clId="{5B2C3894-F97E-4CAB-8812-5BB4D83AAC6A}" dt="2026-06-25T02:30:39.284" v="0" actId="47"/>
      <pc:docMkLst>
        <pc:docMk/>
      </pc:docMkLst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4226763096" sldId="270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288418547" sldId="276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2676944836" sldId="277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564240696" sldId="278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3579418456" sldId="279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689659867" sldId="280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3416103802" sldId="281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3492165951" sldId="282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476836200" sldId="283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863423515" sldId="284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464112840" sldId="285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832786870" sldId="286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2426901003" sldId="287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919743998" sldId="288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651504962" sldId="289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4082190073" sldId="290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2613412630" sldId="291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986544078" sldId="292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277656511" sldId="293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545765313" sldId="294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815935716" sldId="295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3818139" sldId="296"/>
        </pc:sldMkLst>
      </pc:sldChg>
      <pc:sldChg chg="del">
        <pc:chgData name="musukie52@gmail.com" userId="017bd91f96aa8751" providerId="LiveId" clId="{5B2C3894-F97E-4CAB-8812-5BB4D83AAC6A}" dt="2026-06-25T02:30:39.284" v="0" actId="47"/>
        <pc:sldMkLst>
          <pc:docMk/>
          <pc:sldMk cId="1539058159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756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56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54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12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105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65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684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981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4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196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95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51566-5989-45AC-91CB-762D94C485C8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B1ED1-19A3-4C11-95CE-A7AE252C0BD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49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794970"/>
            <a:ext cx="7744906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9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추가조건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기타조건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아직 선생님께서 용어를 정확히 명명하지 않으셨다고 함</a:t>
            </a:r>
          </a:p>
        </p:txBody>
      </p:sp>
    </p:spTree>
    <p:extLst>
      <p:ext uri="{BB962C8B-B14F-4D97-AF65-F5344CB8AC3E}">
        <p14:creationId xmlns:p14="http://schemas.microsoft.com/office/powerpoint/2010/main" val="248569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In game </a:t>
            </a:r>
            <a:r>
              <a:rPr lang="ko-KR" altLang="en-US"/>
              <a:t>상에서</a:t>
            </a:r>
            <a:endParaRPr lang="en-US" altLang="ko-KR"/>
          </a:p>
          <a:p>
            <a:pPr lvl="1"/>
            <a:r>
              <a:rPr lang="ko-KR" altLang="en-US"/>
              <a:t>현실 시간을 체크할 필요가 있나</a:t>
            </a:r>
            <a:r>
              <a:rPr lang="en-US" altLang="ko-KR"/>
              <a:t>?</a:t>
            </a:r>
          </a:p>
          <a:p>
            <a:pPr lvl="2"/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크리스마스 이벤트 </a:t>
            </a:r>
            <a:r>
              <a:rPr lang="en-US" altLang="ko-KR"/>
              <a:t>– 12</a:t>
            </a:r>
            <a:r>
              <a:rPr lang="ko-KR" altLang="en-US"/>
              <a:t>월 </a:t>
            </a:r>
            <a:r>
              <a:rPr lang="en-US" altLang="ko-KR"/>
              <a:t>10~15</a:t>
            </a:r>
            <a:r>
              <a:rPr lang="ko-KR" altLang="en-US"/>
              <a:t>일 사이에 시작</a:t>
            </a:r>
            <a:endParaRPr lang="en-US" altLang="ko-KR"/>
          </a:p>
          <a:p>
            <a:pPr lvl="2"/>
            <a:r>
              <a:rPr lang="ko-KR" altLang="en-US"/>
              <a:t>날짜가 되면 이벤트가 자동으로 시작하게 만드는 것</a:t>
            </a:r>
            <a:endParaRPr lang="en-US" altLang="ko-KR"/>
          </a:p>
          <a:p>
            <a:pPr lvl="1"/>
            <a:r>
              <a:rPr lang="ko-KR" altLang="en-US"/>
              <a:t>파트너사와의 협업</a:t>
            </a:r>
            <a:endParaRPr lang="en-US" altLang="ko-KR"/>
          </a:p>
          <a:p>
            <a:pPr lvl="2"/>
            <a:r>
              <a:rPr lang="ko-KR" altLang="en-US"/>
              <a:t>애니메이션과 콜라보</a:t>
            </a:r>
            <a:br>
              <a:rPr lang="en-US" altLang="ko-KR"/>
            </a:br>
            <a:r>
              <a:rPr lang="en-US" altLang="ko-KR"/>
              <a:t>– </a:t>
            </a:r>
            <a:r>
              <a:rPr lang="ko-KR" altLang="en-US"/>
              <a:t>조건 </a:t>
            </a:r>
            <a:r>
              <a:rPr lang="en-US" altLang="ko-KR"/>
              <a:t>: </a:t>
            </a:r>
            <a:r>
              <a:rPr lang="ko-KR" altLang="en-US"/>
              <a:t>캐릭터는 빌려주지만</a:t>
            </a:r>
            <a:r>
              <a:rPr lang="en-US" altLang="ko-KR"/>
              <a:t>, </a:t>
            </a:r>
            <a:r>
              <a:rPr lang="ko-KR" altLang="en-US"/>
              <a:t>이야기는 안 돼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	   2</a:t>
            </a:r>
            <a:r>
              <a:rPr lang="ko-KR" altLang="en-US"/>
              <a:t>차 창작을 막기 위해서</a:t>
            </a:r>
            <a:r>
              <a:rPr lang="en-US" altLang="ko-KR"/>
              <a:t>, </a:t>
            </a:r>
            <a:r>
              <a:rPr lang="ko-KR" altLang="en-US"/>
              <a:t>원래 이야기의 아이덴티티를 지키기 위해서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090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기타 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현실</a:t>
            </a:r>
            <a:endParaRPr lang="en-US" altLang="ko-KR"/>
          </a:p>
          <a:p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편의점에서 게임 카드를 사서 그 시리얼 코드로 게임의 아이템을 구매하는 것</a:t>
            </a:r>
            <a:endParaRPr lang="en-US" altLang="ko-KR"/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현실 세계에서 행사</a:t>
            </a:r>
            <a:r>
              <a:rPr lang="en-US" altLang="ko-KR"/>
              <a:t>/</a:t>
            </a:r>
            <a:r>
              <a:rPr lang="ko-KR" altLang="en-US"/>
              <a:t>축제 장소에 왔기 때문에 </a:t>
            </a:r>
            <a:r>
              <a:rPr lang="en-US" altLang="ko-KR"/>
              <a:t>In game </a:t>
            </a:r>
            <a:r>
              <a:rPr lang="ko-KR" altLang="en-US"/>
              <a:t>상에서 그걸 퀘스트 달성했다고 하고 그에 대한 보상을 주는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서브 컬쳐 세계에서 많이 쓰는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32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 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어떤 분기에 따라서 다른 방향으로 이야기들이 흘러가는 것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온라인 게임에서는 분기로 이야기가 달라졌다가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결국에는 하나의 이야기로 귀결된다</a:t>
            </a:r>
            <a:r>
              <a:rPr lang="en-US" altLang="ko-KR"/>
              <a:t>.</a:t>
            </a:r>
          </a:p>
          <a:p>
            <a:r>
              <a:rPr lang="ko-KR" altLang="en-US"/>
              <a:t>상대적 박탈감을 느끼게 하면 안 되기 때문</a:t>
            </a:r>
            <a:r>
              <a:rPr lang="en-US" altLang="ko-KR"/>
              <a:t>.</a:t>
            </a:r>
          </a:p>
          <a:p>
            <a:r>
              <a:rPr lang="ko-KR" altLang="en-US"/>
              <a:t>온라인 게임에서 가장 성공한 분기 조건이 바로</a:t>
            </a:r>
            <a:br>
              <a:rPr lang="en-US" altLang="ko-KR"/>
            </a:br>
            <a:r>
              <a:rPr lang="en-US" altLang="ko-KR"/>
              <a:t>‘</a:t>
            </a:r>
            <a:r>
              <a:rPr lang="ko-KR" altLang="en-US"/>
              <a:t>캐릭터 선택</a:t>
            </a:r>
            <a:r>
              <a:rPr lang="en-US" altLang="ko-KR"/>
              <a:t>＇</a:t>
            </a:r>
            <a:r>
              <a:rPr lang="ko-KR" altLang="en-US"/>
              <a:t>화면이다</a:t>
            </a:r>
            <a:r>
              <a:rPr lang="en-US" altLang="ko-KR"/>
              <a:t>.</a:t>
            </a:r>
          </a:p>
          <a:p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사제 캐릭터가 같은 레벨인데도 전사보다 잘 살아남는다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=&gt; ‘</a:t>
            </a:r>
            <a:r>
              <a:rPr lang="ko-KR" altLang="en-US"/>
              <a:t>상대적 박탈감</a:t>
            </a:r>
            <a:r>
              <a:rPr lang="en-US" altLang="ko-KR"/>
              <a:t>＇</a:t>
            </a:r>
            <a:r>
              <a:rPr lang="ko-KR" altLang="en-US"/>
              <a:t>을 느끼기보다는</a:t>
            </a:r>
            <a:r>
              <a:rPr lang="en-US" altLang="ko-KR"/>
              <a:t>, ‘</a:t>
            </a:r>
            <a:r>
              <a:rPr lang="ko-KR" altLang="en-US"/>
              <a:t>너도 그러면 사제 키우면 되지</a:t>
            </a:r>
            <a:r>
              <a:rPr lang="en-US" altLang="ko-KR"/>
              <a:t>.’</a:t>
            </a:r>
            <a:r>
              <a:rPr lang="ko-KR" altLang="en-US"/>
              <a:t>하기 때문</a:t>
            </a:r>
            <a:r>
              <a:rPr lang="en-US" altLang="ko-KR"/>
              <a:t>…</a:t>
            </a:r>
            <a:r>
              <a:rPr lang="ko-KR" altLang="en-US"/>
              <a:t>ㅋㅋㅋ</a:t>
            </a:r>
          </a:p>
        </p:txBody>
      </p:sp>
    </p:spTree>
    <p:extLst>
      <p:ext uri="{BB962C8B-B14F-4D97-AF65-F5344CB8AC3E}">
        <p14:creationId xmlns:p14="http://schemas.microsoft.com/office/powerpoint/2010/main" val="29140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 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선생님께서 말하는 </a:t>
            </a:r>
            <a:r>
              <a:rPr lang="en-US" altLang="ko-KR"/>
              <a:t>‘</a:t>
            </a:r>
            <a:r>
              <a:rPr lang="ko-KR" altLang="en-US"/>
              <a:t>분기</a:t>
            </a:r>
            <a:r>
              <a:rPr lang="en-US" altLang="ko-KR"/>
              <a:t>’</a:t>
            </a:r>
            <a:r>
              <a:rPr lang="ko-KR" altLang="en-US"/>
              <a:t>는 이전 페이지같은 걸 말하는 게 </a:t>
            </a:r>
            <a:r>
              <a:rPr lang="en-US" altLang="ko-KR"/>
              <a:t>x.</a:t>
            </a:r>
          </a:p>
          <a:p>
            <a:endParaRPr lang="en-US" altLang="ko-KR"/>
          </a:p>
          <a:p>
            <a:r>
              <a:rPr lang="ko-KR" altLang="en-US"/>
              <a:t>예시 게임 </a:t>
            </a:r>
            <a:r>
              <a:rPr lang="en-US" altLang="ko-KR"/>
              <a:t>: [</a:t>
            </a:r>
            <a:r>
              <a:rPr lang="ko-KR" altLang="en-US"/>
              <a:t>프린세스 메이커 </a:t>
            </a:r>
            <a:r>
              <a:rPr lang="en-US" altLang="ko-KR"/>
              <a:t>2]</a:t>
            </a:r>
          </a:p>
          <a:p>
            <a:r>
              <a:rPr lang="ko-KR" altLang="en-US"/>
              <a:t>각각의 스테이지마다 해당되는 요소에 점수를 산정</a:t>
            </a:r>
            <a:endParaRPr lang="en-US" altLang="ko-KR"/>
          </a:p>
          <a:p>
            <a:pPr lvl="1"/>
            <a:r>
              <a:rPr lang="ko-KR" altLang="en-US"/>
              <a:t>어떤 행동에 따른 각각의 요소에 점수들이 다 다르다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그 점수에 따라 분기를 다르게 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이를 통해 다양한 엔딩들을 보여준다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진짜 분기는 선택에 따라 영역별로 점수를 메기고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그 점수에 따라 분기를 나눠서 엔딩을 보여주는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8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조건의 복수계 또는 단수계의 연계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 </a:t>
            </a:r>
            <a:r>
              <a:rPr lang="en-US" altLang="ko-KR"/>
              <a:t>= </a:t>
            </a:r>
            <a:r>
              <a:rPr lang="ko-KR" altLang="en-US"/>
              <a:t>조건의 복수계 또는 단수계의 집합</a:t>
            </a:r>
          </a:p>
        </p:txBody>
      </p:sp>
    </p:spTree>
    <p:extLst>
      <p:ext uri="{BB962C8B-B14F-4D97-AF65-F5344CB8AC3E}">
        <p14:creationId xmlns:p14="http://schemas.microsoft.com/office/powerpoint/2010/main" val="22220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퀘스트의 진행단계별로 연출 동반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아이템</a:t>
            </a:r>
            <a:r>
              <a:rPr lang="en-US" altLang="ko-KR"/>
              <a:t>/</a:t>
            </a:r>
            <a:r>
              <a:rPr lang="ko-KR" altLang="en-US"/>
              <a:t>게임머니</a:t>
            </a:r>
            <a:r>
              <a:rPr lang="en-US" altLang="ko-KR"/>
              <a:t>/</a:t>
            </a:r>
            <a:r>
              <a:rPr lang="ko-KR" altLang="en-US"/>
              <a:t>경험치같은 보상이 아니라 영화같은 동영상을 보상으로 틀어준다</a:t>
            </a:r>
            <a:r>
              <a:rPr lang="en-US" altLang="ko-KR"/>
              <a:t>.</a:t>
            </a:r>
          </a:p>
          <a:p>
            <a:r>
              <a:rPr lang="en-US" altLang="ko-KR"/>
              <a:t>[</a:t>
            </a:r>
            <a:r>
              <a:rPr lang="ko-KR" altLang="en-US"/>
              <a:t>라스트 오브 어스</a:t>
            </a:r>
            <a:r>
              <a:rPr lang="en-US" altLang="ko-KR"/>
              <a:t>]</a:t>
            </a:r>
            <a:r>
              <a:rPr lang="ko-KR" altLang="en-US"/>
              <a:t>같은 뛰어난 연출력을 가진 영상을 말한다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동영상이나 하이 폴리곤의 뛰어난 모델링이 아니더라도</a:t>
            </a:r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산나비</a:t>
            </a:r>
            <a:r>
              <a:rPr lang="en-US" altLang="ko-KR"/>
              <a:t>] – ‘</a:t>
            </a:r>
            <a:r>
              <a:rPr lang="ko-KR" altLang="en-US"/>
              <a:t>사이버펑크 조선의 모두를 경악시킨 산나비의 정체</a:t>
            </a:r>
            <a:r>
              <a:rPr lang="en-US" altLang="ko-KR"/>
              <a:t>‘ </a:t>
            </a:r>
            <a:r>
              <a:rPr lang="ko-KR" altLang="en-US"/>
              <a:t>유튜브 영상 </a:t>
            </a:r>
            <a:r>
              <a:rPr lang="en-US" altLang="ko-KR"/>
              <a:t>– </a:t>
            </a:r>
            <a:r>
              <a:rPr lang="ko-KR" altLang="en-US"/>
              <a:t>말풍선이 진짜 타자기로 치는 것처럼 연출</a:t>
            </a:r>
          </a:p>
        </p:txBody>
      </p:sp>
    </p:spTree>
    <p:extLst>
      <p:ext uri="{BB962C8B-B14F-4D97-AF65-F5344CB8AC3E}">
        <p14:creationId xmlns:p14="http://schemas.microsoft.com/office/powerpoint/2010/main" val="406995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상황에 대한 </a:t>
            </a:r>
            <a:r>
              <a:rPr lang="en-US" altLang="ko-KR"/>
              <a:t>/ </a:t>
            </a:r>
            <a:r>
              <a:rPr lang="ko-KR" altLang="en-US"/>
              <a:t>어떤 이야기를 그 상황에 넣을 지 </a:t>
            </a:r>
            <a:r>
              <a:rPr lang="en-US" altLang="ko-KR"/>
              <a:t>/ </a:t>
            </a:r>
            <a:r>
              <a:rPr lang="ko-KR" altLang="en-US"/>
              <a:t>어떤 상황의 다음에 어떤 이야기를 넣을 지</a:t>
            </a:r>
            <a:endParaRPr lang="en-US" altLang="ko-KR"/>
          </a:p>
          <a:p>
            <a:r>
              <a:rPr lang="ko-KR" altLang="en-US"/>
              <a:t>이에 대한 생각과 이해가 없으면 안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스토리텔링에 대한 경험이 게임을 잊지 못하게 만든다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56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고객을 오해하게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부분은 살짝 어렵다고 선생님께서 말씀하셨다</a:t>
            </a:r>
            <a:r>
              <a:rPr lang="en-US" altLang="ko-KR"/>
              <a:t>…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84" y="2628299"/>
            <a:ext cx="6825916" cy="42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4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렐름 </a:t>
            </a:r>
            <a:r>
              <a:rPr lang="en-US" altLang="ko-KR"/>
              <a:t>vs </a:t>
            </a:r>
            <a:r>
              <a:rPr lang="ko-KR" altLang="en-US"/>
              <a:t>렐름 </a:t>
            </a:r>
            <a:r>
              <a:rPr lang="en-US" altLang="ko-KR"/>
              <a:t>=&gt; RvR </a:t>
            </a:r>
            <a:r>
              <a:rPr lang="ko-KR" altLang="en-US"/>
              <a:t>게임</a:t>
            </a:r>
            <a:endParaRPr lang="en-US" altLang="ko-KR"/>
          </a:p>
          <a:p>
            <a:r>
              <a:rPr lang="ko-KR" altLang="en-US"/>
              <a:t>모든 스테이지가 장기판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퀘스트 설계 </a:t>
            </a:r>
            <a:r>
              <a:rPr lang="en-US" altLang="ko-KR"/>
              <a:t>=&gt; </a:t>
            </a:r>
            <a:r>
              <a:rPr lang="ko-KR" altLang="en-US"/>
              <a:t>영화 감독에 비유할 수 있다</a:t>
            </a:r>
            <a:r>
              <a:rPr lang="en-US" altLang="ko-KR"/>
              <a:t>.</a:t>
            </a:r>
          </a:p>
          <a:p>
            <a:r>
              <a:rPr lang="ko-KR" altLang="en-US"/>
              <a:t>모든 영역을 다 알고 있어야 하기 때문에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b="1">
                <a:solidFill>
                  <a:schemeClr val="accent4"/>
                </a:solidFill>
              </a:rPr>
              <a:t>퀘스트 디자이너는 많이 뽑는다</a:t>
            </a:r>
            <a:r>
              <a:rPr lang="en-US" altLang="ko-KR" b="1">
                <a:solidFill>
                  <a:schemeClr val="accent4"/>
                </a:solidFill>
              </a:rPr>
              <a:t>.</a:t>
            </a:r>
          </a:p>
          <a:p>
            <a:r>
              <a:rPr lang="ko-KR" altLang="en-US" b="1">
                <a:solidFill>
                  <a:schemeClr val="accent4"/>
                </a:solidFill>
              </a:rPr>
              <a:t>게임 디자이너가 거의 다 해야 해서</a:t>
            </a:r>
            <a:r>
              <a:rPr lang="en-US" altLang="ko-KR" b="1">
                <a:solidFill>
                  <a:schemeClr val="accent4"/>
                </a:solidFill>
              </a:rPr>
              <a:t>, </a:t>
            </a:r>
            <a:r>
              <a:rPr lang="ko-KR" altLang="en-US" b="1">
                <a:solidFill>
                  <a:schemeClr val="accent4"/>
                </a:solidFill>
              </a:rPr>
              <a:t>대체 불가능하기 때문</a:t>
            </a:r>
            <a:r>
              <a:rPr lang="en-US" altLang="ko-KR" b="1">
                <a:solidFill>
                  <a:schemeClr val="accent4"/>
                </a:solidFill>
              </a:rPr>
              <a:t>.</a:t>
            </a:r>
            <a:endParaRPr lang="ko-KR" altLang="en-US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8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스케치업 </a:t>
            </a:r>
            <a:r>
              <a:rPr lang="en-US" altLang="ko-KR"/>
              <a:t>-&gt; </a:t>
            </a:r>
            <a:r>
              <a:rPr lang="ko-KR" altLang="en-US"/>
              <a:t>유니티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스케치업 파일을 컨버트 프로그램으로 유니티 파일로 바꿔서 해보자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폭발 1 3"/>
          <p:cNvSpPr/>
          <p:nvPr/>
        </p:nvSpPr>
        <p:spPr>
          <a:xfrm>
            <a:off x="8277726" y="3209298"/>
            <a:ext cx="2743200" cy="1583991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90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422</Words>
  <Application>Microsoft Office PowerPoint</Application>
  <PresentationFormat>와이드스크린</PresentationFormat>
  <Paragraphs>58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추가조건 / 기타조건</vt:lpstr>
      <vt:lpstr>추가조건</vt:lpstr>
      <vt:lpstr>기타 조건</vt:lpstr>
      <vt:lpstr>분기 조건</vt:lpstr>
      <vt:lpstr>분기 조건</vt:lpstr>
      <vt:lpstr>조건의 복수계 또는 단수계의 연계</vt:lpstr>
      <vt:lpstr>퀘스트의 진행단계별로 연출 동반</vt:lpstr>
      <vt:lpstr>퀘스트</vt:lpstr>
      <vt:lpstr>고객을 오해하게 만들기</vt:lpstr>
      <vt:lpstr>퀘스트</vt:lpstr>
      <vt:lpstr>스케치업 -&gt; 유니티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11</cp:revision>
  <dcterms:created xsi:type="dcterms:W3CDTF">2026-06-24T05:01:30Z</dcterms:created>
  <dcterms:modified xsi:type="dcterms:W3CDTF">2026-06-25T02:30:41Z</dcterms:modified>
</cp:coreProperties>
</file>