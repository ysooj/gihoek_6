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3" r:id="rId11"/>
    <p:sldId id="268" r:id="rId12"/>
    <p:sldId id="267" r:id="rId13"/>
    <p:sldId id="270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7561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4567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1548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1124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105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4658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6846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9817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7436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5196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6957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C51566-5989-45AC-91CB-762D94C485C8}" type="datetimeFigureOut">
              <a:rPr lang="ko-KR" altLang="en-US" smtClean="0"/>
              <a:t>2026-06-24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1B1ED1-19A3-4C11-95CE-A7AE252C0BD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8494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547" y="794970"/>
            <a:ext cx="7744906" cy="526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497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추가조건</a:t>
            </a:r>
            <a:r>
              <a:rPr lang="ko-KR" altLang="en-US" smtClean="0"/>
              <a:t> </a:t>
            </a:r>
            <a:r>
              <a:rPr lang="en-US" altLang="ko-KR" smtClean="0"/>
              <a:t>/ </a:t>
            </a:r>
            <a:r>
              <a:rPr lang="ko-KR" altLang="en-US" smtClean="0"/>
              <a:t>기타조건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아직 선생님께서 용어를 정확히 명명하지 않으셨다고 함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69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추가조건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In game </a:t>
            </a:r>
            <a:r>
              <a:rPr lang="ko-KR" altLang="en-US" smtClean="0"/>
              <a:t>상에서</a:t>
            </a:r>
            <a:endParaRPr lang="en-US" altLang="ko-KR" smtClean="0"/>
          </a:p>
          <a:p>
            <a:pPr lvl="1"/>
            <a:r>
              <a:rPr lang="ko-KR" altLang="en-US" smtClean="0"/>
              <a:t>현실 시간을 체크할 필요가 있나</a:t>
            </a:r>
            <a:r>
              <a:rPr lang="en-US" altLang="ko-KR" smtClean="0"/>
              <a:t>?</a:t>
            </a:r>
          </a:p>
          <a:p>
            <a:pPr lvl="2"/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크리스마스 이벤트 </a:t>
            </a:r>
            <a:r>
              <a:rPr lang="en-US" altLang="ko-KR" smtClean="0"/>
              <a:t>– 12</a:t>
            </a:r>
            <a:r>
              <a:rPr lang="ko-KR" altLang="en-US" smtClean="0"/>
              <a:t>월 </a:t>
            </a:r>
            <a:r>
              <a:rPr lang="en-US" altLang="ko-KR" smtClean="0"/>
              <a:t>10~15</a:t>
            </a:r>
            <a:r>
              <a:rPr lang="ko-KR" altLang="en-US" smtClean="0"/>
              <a:t>일 사이에 시작</a:t>
            </a:r>
            <a:endParaRPr lang="en-US" altLang="ko-KR" smtClean="0"/>
          </a:p>
          <a:p>
            <a:pPr lvl="2"/>
            <a:r>
              <a:rPr lang="ko-KR" altLang="en-US" smtClean="0"/>
              <a:t>날짜가 되면 이벤트가 자동으로 시작하게 만드는 것</a:t>
            </a:r>
            <a:endParaRPr lang="en-US" altLang="ko-KR"/>
          </a:p>
          <a:p>
            <a:pPr lvl="1"/>
            <a:r>
              <a:rPr lang="ko-KR" altLang="en-US" smtClean="0"/>
              <a:t>파트너사와의 협업</a:t>
            </a:r>
            <a:endParaRPr lang="en-US" altLang="ko-KR" smtClean="0"/>
          </a:p>
          <a:p>
            <a:pPr lvl="2"/>
            <a:r>
              <a:rPr lang="ko-KR" altLang="en-US" smtClean="0"/>
              <a:t>애니메이션과 콜라보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– </a:t>
            </a:r>
            <a:r>
              <a:rPr lang="ko-KR" altLang="en-US" smtClean="0"/>
              <a:t>조건 </a:t>
            </a:r>
            <a:r>
              <a:rPr lang="en-US" altLang="ko-KR" smtClean="0"/>
              <a:t>: </a:t>
            </a:r>
            <a:r>
              <a:rPr lang="ko-KR" altLang="en-US" smtClean="0"/>
              <a:t>캐릭터는 빌려주지만</a:t>
            </a:r>
            <a:r>
              <a:rPr lang="en-US" altLang="ko-KR" smtClean="0"/>
              <a:t>, </a:t>
            </a:r>
            <a:r>
              <a:rPr lang="ko-KR" altLang="en-US" smtClean="0"/>
              <a:t>이야기는 안 돼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	   2</a:t>
            </a:r>
            <a:r>
              <a:rPr lang="ko-KR" altLang="en-US" smtClean="0"/>
              <a:t>차 창작을 막기 위해서</a:t>
            </a:r>
            <a:r>
              <a:rPr lang="en-US" altLang="ko-KR" smtClean="0"/>
              <a:t>, </a:t>
            </a:r>
            <a:r>
              <a:rPr lang="ko-KR" altLang="en-US" smtClean="0"/>
              <a:t>원래 이야기의 아이덴티티를 지키기 </a:t>
            </a:r>
            <a:r>
              <a:rPr lang="ko-KR" altLang="en-US" smtClean="0"/>
              <a:t>위해서</a:t>
            </a:r>
            <a:endParaRPr lang="en-US" altLang="ko-KR" smtClean="0"/>
          </a:p>
        </p:txBody>
      </p:sp>
    </p:spTree>
    <p:extLst>
      <p:ext uri="{BB962C8B-B14F-4D97-AF65-F5344CB8AC3E}">
        <p14:creationId xmlns:p14="http://schemas.microsoft.com/office/powerpoint/2010/main" val="2480908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기타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현실</a:t>
            </a:r>
            <a:endParaRPr lang="en-US" altLang="ko-KR" smtClean="0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편의점에서 게임 카드를 사서 그 시리얼 코드로 게임의 아이템을 구매하는 것</a:t>
            </a:r>
            <a:endParaRPr lang="en-US" altLang="ko-KR" smtClean="0"/>
          </a:p>
          <a:p>
            <a:r>
              <a:rPr lang="ko-KR" altLang="en-US" smtClean="0"/>
              <a:t>즉</a:t>
            </a:r>
            <a:r>
              <a:rPr lang="en-US" altLang="ko-KR" smtClean="0"/>
              <a:t>, </a:t>
            </a:r>
            <a:r>
              <a:rPr lang="ko-KR" altLang="en-US" smtClean="0"/>
              <a:t>현실 세계에서 행사</a:t>
            </a:r>
            <a:r>
              <a:rPr lang="en-US" altLang="ko-KR" smtClean="0"/>
              <a:t>/</a:t>
            </a:r>
            <a:r>
              <a:rPr lang="ko-KR" altLang="en-US" smtClean="0"/>
              <a:t>축제 장소에 왔기 때문에 </a:t>
            </a:r>
            <a:r>
              <a:rPr lang="en-US" altLang="ko-KR" smtClean="0"/>
              <a:t>In game </a:t>
            </a:r>
            <a:r>
              <a:rPr lang="ko-KR" altLang="en-US" smtClean="0"/>
              <a:t>상에서 그걸 퀘스트 달성했다고 하고 그에 대한 보상을 주는 것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서브 컬쳐 세계에서 많이 쓰는 것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324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분기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smtClean="0"/>
              <a:t>어떤 분기에 따라서 다른 방향으로 이야기들이 흘러가는 것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온라인 게임에서는 분기로 이야기가 달라졌다가</a:t>
            </a:r>
            <a:r>
              <a:rPr lang="en-US" altLang="ko-KR" smtClean="0"/>
              <a:t>,</a:t>
            </a:r>
            <a:br>
              <a:rPr lang="en-US" altLang="ko-KR" smtClean="0"/>
            </a:br>
            <a:r>
              <a:rPr lang="ko-KR" altLang="en-US" smtClean="0"/>
              <a:t>결국에는 하나의 이야기로 귀결된다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상대적 박탈감을 느끼게 하면 안 되기 때문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온라인 게임에서 가장 성공한 분기 조건이 바로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‘</a:t>
            </a:r>
            <a:r>
              <a:rPr lang="ko-KR" altLang="en-US" smtClean="0"/>
              <a:t>캐릭터 선택</a:t>
            </a:r>
            <a:r>
              <a:rPr lang="en-US" altLang="ko-KR" smtClean="0"/>
              <a:t>＇</a:t>
            </a:r>
            <a:r>
              <a:rPr lang="ko-KR" altLang="en-US" smtClean="0"/>
              <a:t>화면이다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사제 캐릭터가 같은 레벨인데도 전사보다 잘 살아남는다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=&gt; ‘</a:t>
            </a:r>
            <a:r>
              <a:rPr lang="ko-KR" altLang="en-US" smtClean="0"/>
              <a:t>상대적 박탈감</a:t>
            </a:r>
            <a:r>
              <a:rPr lang="en-US" altLang="ko-KR" smtClean="0"/>
              <a:t>＇</a:t>
            </a:r>
            <a:r>
              <a:rPr lang="ko-KR" altLang="en-US" smtClean="0"/>
              <a:t>을 느끼기보다는</a:t>
            </a:r>
            <a:r>
              <a:rPr lang="en-US" altLang="ko-KR" smtClean="0"/>
              <a:t>, ‘</a:t>
            </a:r>
            <a:r>
              <a:rPr lang="ko-KR" altLang="en-US" smtClean="0"/>
              <a:t>너도 그러면 사제 키우면 되지</a:t>
            </a:r>
            <a:r>
              <a:rPr lang="en-US" altLang="ko-KR" smtClean="0"/>
              <a:t>.’</a:t>
            </a:r>
            <a:r>
              <a:rPr lang="ko-KR" altLang="en-US" smtClean="0"/>
              <a:t>하기 때문</a:t>
            </a:r>
            <a:r>
              <a:rPr lang="en-US" altLang="ko-KR" smtClean="0"/>
              <a:t>…</a:t>
            </a:r>
            <a:r>
              <a:rPr lang="ko-KR" altLang="en-US" smtClean="0"/>
              <a:t>ㅋㅋㅋ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405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분기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smtClean="0"/>
              <a:t>선생님께서 말하는 </a:t>
            </a:r>
            <a:r>
              <a:rPr lang="en-US" altLang="ko-KR" smtClean="0"/>
              <a:t>‘</a:t>
            </a:r>
            <a:r>
              <a:rPr lang="ko-KR" altLang="en-US" smtClean="0"/>
              <a:t>분기</a:t>
            </a:r>
            <a:r>
              <a:rPr lang="en-US" altLang="ko-KR" smtClean="0"/>
              <a:t>’</a:t>
            </a:r>
            <a:r>
              <a:rPr lang="ko-KR" altLang="en-US" smtClean="0"/>
              <a:t>는 이전 페이지같은 걸 말하는 게 </a:t>
            </a:r>
            <a:r>
              <a:rPr lang="en-US" altLang="ko-KR" smtClean="0"/>
              <a:t>x.</a:t>
            </a:r>
          </a:p>
          <a:p>
            <a:endParaRPr lang="en-US" altLang="ko-KR"/>
          </a:p>
          <a:p>
            <a:r>
              <a:rPr lang="ko-KR" altLang="en-US" smtClean="0"/>
              <a:t>예시 게임 </a:t>
            </a:r>
            <a:r>
              <a:rPr lang="en-US" altLang="ko-KR" smtClean="0"/>
              <a:t>: [</a:t>
            </a:r>
            <a:r>
              <a:rPr lang="ko-KR" altLang="en-US" smtClean="0"/>
              <a:t>프린세스 메이커 </a:t>
            </a:r>
            <a:r>
              <a:rPr lang="en-US" altLang="ko-KR" smtClean="0"/>
              <a:t>2]</a:t>
            </a:r>
          </a:p>
          <a:p>
            <a:r>
              <a:rPr lang="ko-KR" altLang="en-US" smtClean="0"/>
              <a:t>각각의 스테이지마다 해당되는 요소에 점수를 산정</a:t>
            </a:r>
            <a:endParaRPr lang="en-US" altLang="ko-KR" smtClean="0"/>
          </a:p>
          <a:p>
            <a:pPr lvl="1"/>
            <a:r>
              <a:rPr lang="ko-KR" altLang="en-US" smtClean="0"/>
              <a:t>어떤 행동에 따른 각각의 요소에 점수들이 다 다르다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그 점수에 따라 분기를 다르게 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이를 통해 다양한 엔딩들을 보여준다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진짜 분기는 선택에 따라 영역별로 점수를 메기고</a:t>
            </a:r>
            <a:r>
              <a:rPr lang="en-US" altLang="ko-KR" smtClean="0"/>
              <a:t>,</a:t>
            </a:r>
            <a:br>
              <a:rPr lang="en-US" altLang="ko-KR" smtClean="0"/>
            </a:br>
            <a:r>
              <a:rPr lang="ko-KR" altLang="en-US" smtClean="0"/>
              <a:t>그 점수에 따라 분기를 나눠서 엔딩을 보여주는 것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86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조건의 복수계 또는 단수계의 연계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퀘스트 </a:t>
            </a:r>
            <a:r>
              <a:rPr lang="en-US" altLang="ko-KR" smtClean="0"/>
              <a:t>= </a:t>
            </a:r>
            <a:r>
              <a:rPr lang="ko-KR" altLang="en-US" smtClean="0"/>
              <a:t>조건의 복수계 또는 단수계의 집합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07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퀘스트의 진행단계별로 연출 동반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아이템</a:t>
            </a:r>
            <a:r>
              <a:rPr lang="en-US" altLang="ko-KR" smtClean="0"/>
              <a:t>/</a:t>
            </a:r>
            <a:r>
              <a:rPr lang="ko-KR" altLang="en-US" smtClean="0"/>
              <a:t>게임머니</a:t>
            </a:r>
            <a:r>
              <a:rPr lang="en-US" altLang="ko-KR" smtClean="0"/>
              <a:t>/</a:t>
            </a:r>
            <a:r>
              <a:rPr lang="ko-KR" altLang="en-US" smtClean="0"/>
              <a:t>경험치같은 보상이 아니라 영화같은 동영상을 보상으로 틀어준다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[</a:t>
            </a:r>
            <a:r>
              <a:rPr lang="ko-KR" altLang="en-US" smtClean="0"/>
              <a:t>라스트 오브 어스</a:t>
            </a:r>
            <a:r>
              <a:rPr lang="en-US" altLang="ko-KR" smtClean="0"/>
              <a:t>]</a:t>
            </a:r>
            <a:r>
              <a:rPr lang="ko-KR" altLang="en-US" smtClean="0"/>
              <a:t>같은 뛰어난 연출력을 가진 영상을 말한다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동영상이나 하이 폴리곤의 뛰어난 모델링이 아니더라도</a:t>
            </a:r>
            <a:endParaRPr lang="en-US" altLang="ko-KR" smtClean="0"/>
          </a:p>
          <a:p>
            <a:r>
              <a:rPr lang="en-US" altLang="ko-KR" smtClean="0"/>
              <a:t>[</a:t>
            </a:r>
            <a:r>
              <a:rPr lang="ko-KR" altLang="en-US" smtClean="0"/>
              <a:t>산나비</a:t>
            </a:r>
            <a:r>
              <a:rPr lang="en-US" altLang="ko-KR" smtClean="0"/>
              <a:t>] – ‘</a:t>
            </a:r>
            <a:r>
              <a:rPr lang="ko-KR" altLang="en-US" smtClean="0"/>
              <a:t>사이버펑크 조선의 모두를 경악시킨 산나비의 정체</a:t>
            </a:r>
            <a:r>
              <a:rPr lang="en-US" altLang="ko-KR" smtClean="0"/>
              <a:t>‘ </a:t>
            </a:r>
            <a:r>
              <a:rPr lang="ko-KR" altLang="en-US" smtClean="0"/>
              <a:t>유튜브 영상 </a:t>
            </a:r>
            <a:r>
              <a:rPr lang="en-US" altLang="ko-KR" smtClean="0"/>
              <a:t>– </a:t>
            </a:r>
            <a:r>
              <a:rPr lang="ko-KR" altLang="en-US" smtClean="0"/>
              <a:t>말풍선이 진짜 타자기로 치는 것처럼 연출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953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상황에 대한 </a:t>
            </a:r>
            <a:r>
              <a:rPr lang="en-US" altLang="ko-KR" smtClean="0"/>
              <a:t>/ </a:t>
            </a:r>
            <a:r>
              <a:rPr lang="ko-KR" altLang="en-US" smtClean="0"/>
              <a:t>어떤 이야기를 그 상황에 넣을 지 </a:t>
            </a:r>
            <a:r>
              <a:rPr lang="en-US" altLang="ko-KR" smtClean="0"/>
              <a:t>/ </a:t>
            </a:r>
            <a:r>
              <a:rPr lang="ko-KR" altLang="en-US" smtClean="0"/>
              <a:t>어떤 상황의 다음에 어떤 이야기를 넣을 지</a:t>
            </a:r>
            <a:endParaRPr lang="en-US" altLang="ko-KR" smtClean="0"/>
          </a:p>
          <a:p>
            <a:r>
              <a:rPr lang="ko-KR" altLang="en-US" smtClean="0"/>
              <a:t>이에 대한 생각과 이해가 없으면 안 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스토리텔링에 대한 경험이 게임을 잊지 못하게 만든다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565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고객을 오해하게 만들기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이 부분은 살짝 어렵다고 선생님께서 말씀하셨다</a:t>
            </a:r>
            <a:r>
              <a:rPr lang="en-US" altLang="ko-KR" smtClean="0"/>
              <a:t>…</a:t>
            </a:r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84" y="2628299"/>
            <a:ext cx="6825916" cy="422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949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렐름 </a:t>
            </a:r>
            <a:r>
              <a:rPr lang="en-US" altLang="ko-KR" smtClean="0"/>
              <a:t>vs </a:t>
            </a:r>
            <a:r>
              <a:rPr lang="ko-KR" altLang="en-US" smtClean="0"/>
              <a:t>렐름 </a:t>
            </a:r>
            <a:r>
              <a:rPr lang="en-US" altLang="ko-KR" smtClean="0"/>
              <a:t>=&gt; RvR </a:t>
            </a:r>
            <a:r>
              <a:rPr lang="ko-KR" altLang="en-US" smtClean="0"/>
              <a:t>게임</a:t>
            </a:r>
            <a:endParaRPr lang="en-US" altLang="ko-KR" smtClean="0"/>
          </a:p>
          <a:p>
            <a:r>
              <a:rPr lang="ko-KR" altLang="en-US" smtClean="0"/>
              <a:t>모든 스테이지가 장기판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퀘스트 설계 </a:t>
            </a:r>
            <a:r>
              <a:rPr lang="en-US" altLang="ko-KR" smtClean="0"/>
              <a:t>=&gt; </a:t>
            </a:r>
            <a:r>
              <a:rPr lang="ko-KR" altLang="en-US" smtClean="0"/>
              <a:t>영화 감독에 비유할 수 있다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모든 영역을 다 알고 있어야 하기 때문에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b="1" smtClean="0">
                <a:solidFill>
                  <a:schemeClr val="accent4"/>
                </a:solidFill>
              </a:rPr>
              <a:t>퀘스트 디자이너는 많이 뽑는다</a:t>
            </a:r>
            <a:r>
              <a:rPr lang="en-US" altLang="ko-KR" b="1" smtClean="0">
                <a:solidFill>
                  <a:schemeClr val="accent4"/>
                </a:solidFill>
              </a:rPr>
              <a:t>.</a:t>
            </a:r>
          </a:p>
          <a:p>
            <a:r>
              <a:rPr lang="ko-KR" altLang="en-US" b="1" smtClean="0">
                <a:solidFill>
                  <a:schemeClr val="accent4"/>
                </a:solidFill>
              </a:rPr>
              <a:t>게임 디자이너가 거의 다 해야 해서</a:t>
            </a:r>
            <a:r>
              <a:rPr lang="en-US" altLang="ko-KR" b="1" smtClean="0">
                <a:solidFill>
                  <a:schemeClr val="accent4"/>
                </a:solidFill>
              </a:rPr>
              <a:t>, </a:t>
            </a:r>
            <a:r>
              <a:rPr lang="ko-KR" altLang="en-US" b="1" smtClean="0">
                <a:solidFill>
                  <a:schemeClr val="accent4"/>
                </a:solidFill>
              </a:rPr>
              <a:t>대체 불가능하기 때문</a:t>
            </a:r>
            <a:r>
              <a:rPr lang="en-US" altLang="ko-KR" b="1" smtClean="0">
                <a:solidFill>
                  <a:schemeClr val="accent4"/>
                </a:solidFill>
              </a:rPr>
              <a:t>.</a:t>
            </a:r>
            <a:endParaRPr lang="ko-KR" altLang="en-US" b="1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7284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스케치업 </a:t>
            </a:r>
            <a:r>
              <a:rPr lang="en-US" altLang="ko-KR" smtClean="0"/>
              <a:t>-&gt; </a:t>
            </a:r>
            <a:r>
              <a:rPr lang="ko-KR" altLang="en-US" smtClean="0"/>
              <a:t>유니티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스케치업 파일을 컨버트 프로그램으로 유니티 파일로 바꿔서 해보자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4" name="폭발 1 3"/>
          <p:cNvSpPr/>
          <p:nvPr/>
        </p:nvSpPr>
        <p:spPr>
          <a:xfrm>
            <a:off x="8277726" y="3209298"/>
            <a:ext cx="2743200" cy="1583991"/>
          </a:xfrm>
          <a:prstGeom prst="irregularSeal1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900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암기</a:t>
            </a:r>
            <a:r>
              <a:rPr lang="en-US" altLang="ko-KR" smtClean="0"/>
              <a:t>! </a:t>
            </a:r>
            <a:r>
              <a:rPr lang="ko-KR" altLang="en-US" smtClean="0"/>
              <a:t>연습</a:t>
            </a:r>
            <a:r>
              <a:rPr lang="en-US" altLang="ko-KR" smtClean="0"/>
              <a:t>!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763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‘</a:t>
            </a:r>
            <a:r>
              <a:rPr lang="ko-KR" altLang="en-US" smtClean="0"/>
              <a:t>게임이 지닌 상황을 리드하고 리딩한다</a:t>
            </a:r>
            <a:r>
              <a:rPr lang="en-US" altLang="ko-KR" smtClean="0"/>
              <a:t>.’</a:t>
            </a:r>
          </a:p>
          <a:p>
            <a:r>
              <a:rPr lang="ko-KR" altLang="en-US" smtClean="0"/>
              <a:t>상황 </a:t>
            </a:r>
            <a:r>
              <a:rPr lang="en-US" altLang="ko-KR" smtClean="0"/>
              <a:t>= </a:t>
            </a:r>
            <a:r>
              <a:rPr lang="ko-KR" altLang="en-US" smtClean="0"/>
              <a:t>등장인물 </a:t>
            </a:r>
            <a:r>
              <a:rPr lang="en-US" altLang="ko-KR" smtClean="0"/>
              <a:t>+ </a:t>
            </a:r>
            <a:r>
              <a:rPr lang="ko-KR" altLang="en-US" smtClean="0"/>
              <a:t>등장무대 </a:t>
            </a:r>
            <a:r>
              <a:rPr lang="en-US" altLang="ko-KR" smtClean="0"/>
              <a:t>+</a:t>
            </a:r>
            <a:r>
              <a:rPr lang="ko-KR" altLang="en-US"/>
              <a:t> </a:t>
            </a:r>
            <a:r>
              <a:rPr lang="ko-KR" altLang="en-US" smtClean="0"/>
              <a:t>대본</a:t>
            </a:r>
            <a:endParaRPr lang="en-US" altLang="ko-KR" smtClean="0"/>
          </a:p>
          <a:p>
            <a:r>
              <a:rPr lang="en-US" altLang="ko-KR" smtClean="0"/>
              <a:t>‘</a:t>
            </a:r>
            <a:r>
              <a:rPr lang="ko-KR" altLang="en-US" smtClean="0"/>
              <a:t>조건</a:t>
            </a:r>
            <a:r>
              <a:rPr lang="en-US" altLang="ko-KR" smtClean="0"/>
              <a:t>＇</a:t>
            </a:r>
            <a:r>
              <a:rPr lang="ko-KR" altLang="en-US" smtClean="0"/>
              <a:t>이 중요</a:t>
            </a:r>
            <a:endParaRPr lang="en-US" altLang="ko-KR" smtClean="0"/>
          </a:p>
          <a:p>
            <a:endParaRPr lang="en-US" altLang="ko-KR"/>
          </a:p>
          <a:p>
            <a:r>
              <a:rPr lang="en-US" altLang="ko-KR" smtClean="0"/>
              <a:t>Game Design – Game system/Game tutorial/</a:t>
            </a:r>
            <a:r>
              <a:rPr lang="ko-KR" altLang="en-US" smtClean="0"/>
              <a:t>킬러 콘텐츠</a:t>
            </a:r>
            <a:endParaRPr lang="en-US" altLang="ko-KR" smtClean="0"/>
          </a:p>
          <a:p>
            <a:r>
              <a:rPr lang="ko-KR" altLang="en-US" smtClean="0"/>
              <a:t>연출 </a:t>
            </a:r>
            <a:r>
              <a:rPr lang="en-US" altLang="ko-KR" smtClean="0"/>
              <a:t>– </a:t>
            </a:r>
            <a:r>
              <a:rPr lang="ko-KR" altLang="en-US" smtClean="0"/>
              <a:t>프로젝트의 규모 및 구현 수준 </a:t>
            </a:r>
            <a:r>
              <a:rPr lang="en-US" altLang="ko-KR" smtClean="0"/>
              <a:t>/ Cinematic + Narrative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418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 구성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시나리오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설정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레벨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콘텐츠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밸런스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시스템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웃음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이벤트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944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시나리오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콘텐츠의 당위성을 부여하는 영역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보스 </a:t>
            </a:r>
            <a:r>
              <a:rPr lang="en-US" altLang="ko-KR" smtClean="0"/>
              <a:t>– </a:t>
            </a:r>
            <a:r>
              <a:rPr lang="ko-KR" altLang="en-US" smtClean="0"/>
              <a:t>과거</a:t>
            </a:r>
            <a:endParaRPr lang="en-US" altLang="ko-KR" smtClean="0"/>
          </a:p>
          <a:p>
            <a:r>
              <a:rPr lang="en-US" altLang="ko-KR" smtClean="0"/>
              <a:t>NPC Hero – </a:t>
            </a:r>
            <a:r>
              <a:rPr lang="ko-KR" altLang="en-US" smtClean="0"/>
              <a:t>현재</a:t>
            </a:r>
            <a:endParaRPr lang="en-US" altLang="ko-KR" smtClean="0"/>
          </a:p>
          <a:p>
            <a:r>
              <a:rPr lang="en-US" altLang="ko-KR" smtClean="0"/>
              <a:t>PC </a:t>
            </a:r>
            <a:r>
              <a:rPr lang="ko-KR" altLang="en-US" smtClean="0"/>
              <a:t>액션 </a:t>
            </a:r>
            <a:r>
              <a:rPr lang="en-US" altLang="ko-KR" smtClean="0"/>
              <a:t>– </a:t>
            </a:r>
            <a:r>
              <a:rPr lang="ko-KR" altLang="en-US" smtClean="0"/>
              <a:t>미래</a:t>
            </a:r>
            <a:endParaRPr lang="en-US" altLang="ko-KR" smtClean="0"/>
          </a:p>
        </p:txBody>
      </p:sp>
    </p:spTree>
    <p:extLst>
      <p:ext uri="{BB962C8B-B14F-4D97-AF65-F5344CB8AC3E}">
        <p14:creationId xmlns:p14="http://schemas.microsoft.com/office/powerpoint/2010/main" val="1564240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설정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선정의 이유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맵의 특성</a:t>
            </a:r>
            <a:endParaRPr lang="en-US" altLang="ko-KR" smtClean="0"/>
          </a:p>
          <a:p>
            <a:r>
              <a:rPr lang="ko-KR" altLang="en-US" smtClean="0"/>
              <a:t>몬스터의 특성</a:t>
            </a:r>
            <a:endParaRPr lang="en-US" altLang="ko-KR" smtClean="0"/>
          </a:p>
          <a:p>
            <a:r>
              <a:rPr lang="en-US" altLang="ko-KR" smtClean="0"/>
              <a:t>NPC</a:t>
            </a:r>
            <a:r>
              <a:rPr lang="ko-KR" altLang="en-US" smtClean="0"/>
              <a:t>의 특성</a:t>
            </a:r>
            <a:endParaRPr lang="en-US" altLang="ko-KR" smtClean="0"/>
          </a:p>
          <a:p>
            <a:r>
              <a:rPr lang="ko-KR" altLang="en-US" smtClean="0"/>
              <a:t>오브젝트의 특성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418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레벨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콘텐츠 제시의 순서</a:t>
            </a:r>
            <a:endParaRPr lang="en-US" altLang="ko-KR" smtClean="0"/>
          </a:p>
          <a:p>
            <a:r>
              <a:rPr lang="ko-KR" altLang="en-US" smtClean="0"/>
              <a:t>레벨 소모를 리드해야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스토리텔링</a:t>
            </a:r>
            <a:endParaRPr lang="en-US" altLang="ko-KR" smtClean="0"/>
          </a:p>
          <a:p>
            <a:r>
              <a:rPr lang="ko-KR" altLang="en-US" smtClean="0"/>
              <a:t>맵</a:t>
            </a:r>
            <a:endParaRPr lang="en-US" altLang="ko-KR" smtClean="0"/>
          </a:p>
          <a:p>
            <a:r>
              <a:rPr lang="ko-KR" altLang="en-US" smtClean="0"/>
              <a:t>몬스터</a:t>
            </a:r>
            <a:endParaRPr lang="en-US" altLang="ko-KR" smtClean="0"/>
          </a:p>
          <a:p>
            <a:r>
              <a:rPr lang="ko-KR" altLang="en-US" smtClean="0"/>
              <a:t>아이템</a:t>
            </a:r>
            <a:endParaRPr lang="en-US" altLang="ko-KR" smtClean="0"/>
          </a:p>
          <a:p>
            <a:r>
              <a:rPr lang="ko-KR" altLang="en-US" smtClean="0"/>
              <a:t>스킬 등등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659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콘텐츠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소모필요 콘텐츠 </a:t>
            </a:r>
            <a:r>
              <a:rPr lang="en-US" altLang="ko-KR" smtClean="0"/>
              <a:t>: </a:t>
            </a:r>
            <a:r>
              <a:rPr lang="ko-KR" altLang="en-US" smtClean="0"/>
              <a:t>성장에 필수인 콘텐츠</a:t>
            </a:r>
            <a:endParaRPr lang="en-US" altLang="ko-KR" smtClean="0"/>
          </a:p>
          <a:p>
            <a:r>
              <a:rPr lang="ko-KR" altLang="en-US" smtClean="0"/>
              <a:t>킬러 콘텐츠 </a:t>
            </a:r>
            <a:r>
              <a:rPr lang="en-US" altLang="ko-KR" smtClean="0"/>
              <a:t>: </a:t>
            </a:r>
            <a:r>
              <a:rPr lang="ko-KR" altLang="en-US" smtClean="0"/>
              <a:t>유저가 우리 게임을 떠나지 못할 정도로 재밌는 콘텐츠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메인 </a:t>
            </a:r>
            <a:r>
              <a:rPr lang="en-US" altLang="ko-KR" smtClean="0"/>
              <a:t>/ </a:t>
            </a:r>
            <a:r>
              <a:rPr lang="ko-KR" altLang="en-US" smtClean="0"/>
              <a:t>서브 퀘스트</a:t>
            </a:r>
            <a:endParaRPr lang="en-US" altLang="ko-KR" smtClean="0"/>
          </a:p>
          <a:p>
            <a:r>
              <a:rPr lang="ko-KR" altLang="en-US" smtClean="0"/>
              <a:t>이 둘의 내용은 서로 독립적이어도 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6103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smtClean="0"/>
              <a:t>라이프 사이클 </a:t>
            </a:r>
            <a:r>
              <a:rPr lang="en-US" altLang="ko-KR" smtClean="0"/>
              <a:t>(</a:t>
            </a:r>
            <a:r>
              <a:rPr lang="ko-KR" altLang="en-US" smtClean="0"/>
              <a:t>생명 주기</a:t>
            </a:r>
            <a:r>
              <a:rPr lang="en-US" altLang="ko-KR" smtClean="0"/>
              <a:t>)</a:t>
            </a:r>
          </a:p>
          <a:p>
            <a:r>
              <a:rPr lang="ko-KR" altLang="en-US" smtClean="0"/>
              <a:t>얼마 만큼의 시간 동안 어느 정도의 난이도로 할 지 정하는 영역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소모 난이도 </a:t>
            </a:r>
            <a:r>
              <a:rPr lang="en-US" altLang="ko-KR" smtClean="0"/>
              <a:t>+ </a:t>
            </a:r>
            <a:r>
              <a:rPr lang="ko-KR" altLang="en-US" smtClean="0"/>
              <a:t>재미있는 시간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게임 머니 보상</a:t>
            </a:r>
            <a:endParaRPr lang="en-US" altLang="ko-KR" smtClean="0"/>
          </a:p>
          <a:p>
            <a:r>
              <a:rPr lang="ko-KR" altLang="en-US" smtClean="0"/>
              <a:t>게임 경험치 보상</a:t>
            </a:r>
            <a:endParaRPr lang="en-US" altLang="ko-KR" smtClean="0"/>
          </a:p>
          <a:p>
            <a:r>
              <a:rPr lang="ko-KR" altLang="en-US" smtClean="0"/>
              <a:t>필수 요구 아이템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165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시스템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유기성 디자인</a:t>
            </a:r>
            <a:endParaRPr lang="en-US" altLang="ko-KR" smtClean="0"/>
          </a:p>
          <a:p>
            <a:r>
              <a:rPr lang="ko-KR" altLang="en-US" smtClean="0"/>
              <a:t>시스템과 콘텐츠가 서로 잘 맞물리도록 </a:t>
            </a:r>
            <a:r>
              <a:rPr lang="en-US" altLang="ko-KR" smtClean="0"/>
              <a:t>‘</a:t>
            </a:r>
            <a:r>
              <a:rPr lang="ko-KR" altLang="en-US" smtClean="0"/>
              <a:t>약속을 설계</a:t>
            </a:r>
            <a:r>
              <a:rPr lang="en-US" altLang="ko-KR" smtClean="0"/>
              <a:t>’</a:t>
            </a:r>
          </a:p>
          <a:p>
            <a:endParaRPr lang="en-US" altLang="ko-KR"/>
          </a:p>
          <a:p>
            <a:r>
              <a:rPr lang="en-US" altLang="ko-KR" smtClean="0"/>
              <a:t>[WOW] – </a:t>
            </a:r>
            <a:r>
              <a:rPr lang="ko-KR" altLang="en-US" smtClean="0"/>
              <a:t>옷감 예시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b="1" smtClean="0">
                <a:solidFill>
                  <a:srgbClr val="FF0000"/>
                </a:solidFill>
              </a:rPr>
              <a:t>사용법 학습</a:t>
            </a:r>
            <a:r>
              <a:rPr lang="en-US" altLang="ko-KR" b="1" smtClean="0">
                <a:solidFill>
                  <a:srgbClr val="FF0000"/>
                </a:solidFill>
              </a:rPr>
              <a:t>(</a:t>
            </a:r>
            <a:r>
              <a:rPr lang="ko-KR" altLang="en-US" b="1" smtClean="0">
                <a:solidFill>
                  <a:srgbClr val="FF0000"/>
                </a:solidFill>
              </a:rPr>
              <a:t>튜토리얼</a:t>
            </a:r>
            <a:r>
              <a:rPr lang="en-US" altLang="ko-KR" b="1" smtClean="0">
                <a:solidFill>
                  <a:srgbClr val="FF0000"/>
                </a:solidFill>
              </a:rPr>
              <a:t>)</a:t>
            </a:r>
          </a:p>
          <a:p>
            <a:r>
              <a:rPr lang="ko-KR" altLang="en-US" b="1" smtClean="0">
                <a:solidFill>
                  <a:srgbClr val="FF0000"/>
                </a:solidFill>
              </a:rPr>
              <a:t>활용</a:t>
            </a:r>
            <a:endParaRPr lang="en-US" altLang="ko-KR" b="1" smtClean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836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웃음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개발자의 유희</a:t>
            </a:r>
            <a:endParaRPr lang="en-US" altLang="ko-KR" smtClean="0"/>
          </a:p>
          <a:p>
            <a:r>
              <a:rPr lang="ko-KR" altLang="en-US" smtClean="0"/>
              <a:t>사회 풍자</a:t>
            </a:r>
            <a:endParaRPr lang="en-US" altLang="ko-KR" smtClean="0"/>
          </a:p>
          <a:p>
            <a:r>
              <a:rPr lang="ko-KR" altLang="en-US" smtClean="0"/>
              <a:t>오마쥬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23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이벤트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CRM – </a:t>
            </a:r>
            <a:r>
              <a:rPr lang="ko-KR" altLang="en-US" smtClean="0"/>
              <a:t>고객과의 관계를 관리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국가별 로컬라이징 </a:t>
            </a:r>
            <a:r>
              <a:rPr lang="en-US" altLang="ko-KR" b="1" smtClean="0">
                <a:solidFill>
                  <a:srgbClr val="FF0000"/>
                </a:solidFill>
              </a:rPr>
              <a:t>=&gt; </a:t>
            </a:r>
            <a:r>
              <a:rPr lang="ko-KR" altLang="en-US" b="1" smtClean="0">
                <a:solidFill>
                  <a:srgbClr val="FF0000"/>
                </a:solidFill>
              </a:rPr>
              <a:t>국가별 특색 수렴</a:t>
            </a:r>
            <a:endParaRPr lang="en-US" altLang="ko-KR" b="1" smtClean="0">
              <a:solidFill>
                <a:srgbClr val="FF0000"/>
              </a:solidFill>
            </a:endParaRPr>
          </a:p>
          <a:p>
            <a:r>
              <a:rPr lang="ko-KR" altLang="en-US" smtClean="0"/>
              <a:t>국내 고객 유치</a:t>
            </a:r>
            <a:r>
              <a:rPr lang="en-US" altLang="ko-KR" smtClean="0"/>
              <a:t>	     </a:t>
            </a:r>
            <a:r>
              <a:rPr lang="en-US" altLang="ko-KR" b="1" smtClean="0">
                <a:solidFill>
                  <a:srgbClr val="FF0000"/>
                </a:solidFill>
              </a:rPr>
              <a:t>=&gt; </a:t>
            </a:r>
            <a:r>
              <a:rPr lang="ko-KR" altLang="en-US" b="1" smtClean="0">
                <a:solidFill>
                  <a:srgbClr val="FF0000"/>
                </a:solidFill>
              </a:rPr>
              <a:t>킬러 콘텐츠와의 접근성</a:t>
            </a:r>
            <a:endParaRPr lang="en-US" altLang="ko-KR" b="1" smtClean="0">
              <a:solidFill>
                <a:srgbClr val="FF0000"/>
              </a:solidFill>
            </a:endParaRPr>
          </a:p>
          <a:p>
            <a:r>
              <a:rPr lang="ko-KR" altLang="en-US" smtClean="0"/>
              <a:t>시즌 부여</a:t>
            </a:r>
            <a:endParaRPr lang="en-US" altLang="ko-KR" smtClean="0"/>
          </a:p>
          <a:p>
            <a:r>
              <a:rPr lang="en-US" altLang="ko-KR" smtClean="0"/>
              <a:t>BM</a:t>
            </a:r>
            <a:r>
              <a:rPr lang="ko-KR" altLang="en-US" smtClean="0"/>
              <a:t>용 이벤트</a:t>
            </a:r>
            <a:endParaRPr lang="en-US" altLang="ko-KR" smtClean="0"/>
          </a:p>
          <a:p>
            <a:r>
              <a:rPr lang="ko-KR" altLang="en-US" smtClean="0"/>
              <a:t>출석 체크 이벤트 같은 타입화된 이벤트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112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퀘스트의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부여조건</a:t>
            </a:r>
            <a:endParaRPr lang="en-US" altLang="ko-KR" smtClean="0"/>
          </a:p>
          <a:p>
            <a:r>
              <a:rPr lang="ko-KR" altLang="en-US" smtClean="0"/>
              <a:t>발동조건</a:t>
            </a:r>
            <a:endParaRPr lang="en-US" altLang="ko-KR" smtClean="0"/>
          </a:p>
          <a:p>
            <a:r>
              <a:rPr lang="ko-KR" altLang="en-US" smtClean="0"/>
              <a:t>진행조건</a:t>
            </a:r>
            <a:endParaRPr lang="en-US" altLang="ko-KR" smtClean="0"/>
          </a:p>
          <a:p>
            <a:r>
              <a:rPr lang="ko-KR" altLang="en-US" smtClean="0"/>
              <a:t>완료조건</a:t>
            </a:r>
            <a:endParaRPr lang="en-US" altLang="ko-KR" smtClean="0"/>
          </a:p>
          <a:p>
            <a:r>
              <a:rPr lang="ko-KR" altLang="en-US" smtClean="0"/>
              <a:t>완료보상조건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868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부여조건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smtClean="0"/>
              <a:t>직업 </a:t>
            </a:r>
            <a:r>
              <a:rPr lang="en-US" altLang="ko-KR" smtClean="0"/>
              <a:t>– </a:t>
            </a:r>
            <a:r>
              <a:rPr lang="ko-KR" altLang="en-US" smtClean="0"/>
              <a:t>승급</a:t>
            </a:r>
            <a:r>
              <a:rPr lang="en-US" altLang="ko-KR" smtClean="0"/>
              <a:t>/</a:t>
            </a:r>
            <a:r>
              <a:rPr lang="ko-KR" altLang="en-US" smtClean="0"/>
              <a:t>전직</a:t>
            </a:r>
            <a:endParaRPr lang="en-US" altLang="ko-KR" smtClean="0"/>
          </a:p>
          <a:p>
            <a:r>
              <a:rPr lang="ko-KR" altLang="en-US" smtClean="0"/>
              <a:t>레벨</a:t>
            </a:r>
            <a:endParaRPr lang="en-US" altLang="ko-KR" smtClean="0"/>
          </a:p>
          <a:p>
            <a:r>
              <a:rPr lang="ko-KR" altLang="en-US" smtClean="0"/>
              <a:t>몬스터 킬 상태 </a:t>
            </a:r>
            <a:r>
              <a:rPr lang="en-US" altLang="ko-KR" b="1" smtClean="0">
                <a:solidFill>
                  <a:srgbClr val="FF0000"/>
                </a:solidFill>
              </a:rPr>
              <a:t>– </a:t>
            </a:r>
            <a:r>
              <a:rPr lang="ko-KR" altLang="en-US" b="1" smtClean="0">
                <a:solidFill>
                  <a:srgbClr val="FF0000"/>
                </a:solidFill>
              </a:rPr>
              <a:t>던전 공략 상태 </a:t>
            </a:r>
            <a:r>
              <a:rPr lang="en-US" altLang="ko-KR" b="1" smtClean="0">
                <a:solidFill>
                  <a:srgbClr val="FF0000"/>
                </a:solidFill>
              </a:rPr>
              <a:t>/ </a:t>
            </a:r>
            <a:r>
              <a:rPr lang="ko-KR" altLang="en-US" b="1" smtClean="0">
                <a:solidFill>
                  <a:srgbClr val="FF0000"/>
                </a:solidFill>
              </a:rPr>
              <a:t>몬스터 </a:t>
            </a:r>
            <a:r>
              <a:rPr lang="en-US" altLang="ko-KR" b="1" smtClean="0">
                <a:solidFill>
                  <a:srgbClr val="FF0000"/>
                </a:solidFill>
              </a:rPr>
              <a:t>HP(%) </a:t>
            </a:r>
            <a:r>
              <a:rPr lang="ko-KR" altLang="en-US" b="1" smtClean="0">
                <a:solidFill>
                  <a:srgbClr val="FF0000"/>
                </a:solidFill>
              </a:rPr>
              <a:t>체크</a:t>
            </a:r>
            <a:endParaRPr lang="en-US" altLang="ko-KR" b="1" smtClean="0">
              <a:solidFill>
                <a:srgbClr val="FF0000"/>
              </a:solidFill>
            </a:endParaRPr>
          </a:p>
          <a:p>
            <a:r>
              <a:rPr lang="ko-KR" altLang="en-US" smtClean="0"/>
              <a:t>이전 퀘스트 완료 및 진행 상태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위치 정보 </a:t>
            </a:r>
            <a:r>
              <a:rPr lang="en-US" altLang="ko-KR" b="1" smtClean="0">
                <a:solidFill>
                  <a:srgbClr val="FF0000"/>
                </a:solidFill>
              </a:rPr>
              <a:t>– Dummy Check (Volume In/Out)</a:t>
            </a:r>
          </a:p>
          <a:p>
            <a:r>
              <a:rPr lang="ko-KR" altLang="en-US" smtClean="0"/>
              <a:t>업적</a:t>
            </a:r>
            <a:r>
              <a:rPr lang="en-US" altLang="ko-KR" smtClean="0"/>
              <a:t>/</a:t>
            </a:r>
            <a:r>
              <a:rPr lang="ko-KR" altLang="en-US" smtClean="0"/>
              <a:t>칭호 상태</a:t>
            </a:r>
            <a:endParaRPr lang="en-US" altLang="ko-KR" smtClean="0"/>
          </a:p>
          <a:p>
            <a:r>
              <a:rPr lang="ko-KR" altLang="en-US" smtClean="0"/>
              <a:t>인벤토리 및 창고 아이템 습득 상태</a:t>
            </a:r>
            <a:endParaRPr lang="en-US" altLang="ko-KR" smtClean="0"/>
          </a:p>
          <a:p>
            <a:pPr lvl="1"/>
            <a:r>
              <a:rPr lang="ko-KR" altLang="en-US" b="1" smtClean="0">
                <a:solidFill>
                  <a:srgbClr val="FF0000"/>
                </a:solidFill>
              </a:rPr>
              <a:t>소모아이템 사용 상태</a:t>
            </a:r>
            <a:r>
              <a:rPr lang="en-US" altLang="ko-KR" b="1" smtClean="0">
                <a:solidFill>
                  <a:srgbClr val="FF0000"/>
                </a:solidFill>
              </a:rPr>
              <a:t>(=</a:t>
            </a:r>
            <a:r>
              <a:rPr lang="ko-KR" altLang="en-US" b="1" smtClean="0">
                <a:solidFill>
                  <a:srgbClr val="FF0000"/>
                </a:solidFill>
              </a:rPr>
              <a:t>스킬</a:t>
            </a:r>
            <a:r>
              <a:rPr lang="en-US" altLang="ko-KR" b="1" smtClean="0">
                <a:solidFill>
                  <a:srgbClr val="FF0000"/>
                </a:solidFill>
              </a:rPr>
              <a:t>)</a:t>
            </a:r>
          </a:p>
          <a:p>
            <a:pPr lvl="1"/>
            <a:r>
              <a:rPr lang="ko-KR" altLang="en-US" b="1" smtClean="0">
                <a:solidFill>
                  <a:srgbClr val="FF0000"/>
                </a:solidFill>
              </a:rPr>
              <a:t>아이템 보유</a:t>
            </a:r>
            <a:r>
              <a:rPr lang="en-US" altLang="ko-KR" b="1" smtClean="0">
                <a:solidFill>
                  <a:srgbClr val="FF0000"/>
                </a:solidFill>
              </a:rPr>
              <a:t>/</a:t>
            </a:r>
            <a:r>
              <a:rPr lang="ko-KR" altLang="en-US" b="1" smtClean="0">
                <a:solidFill>
                  <a:srgbClr val="FF0000"/>
                </a:solidFill>
              </a:rPr>
              <a:t>거래 상태</a:t>
            </a:r>
            <a:endParaRPr lang="en-US" altLang="ko-KR" b="1" smtClean="0">
              <a:solidFill>
                <a:srgbClr val="FF0000"/>
              </a:solidFill>
            </a:endParaRPr>
          </a:p>
          <a:p>
            <a:pPr lvl="1"/>
            <a:r>
              <a:rPr lang="ko-KR" altLang="en-US" b="1" smtClean="0">
                <a:solidFill>
                  <a:srgbClr val="FF0000"/>
                </a:solidFill>
              </a:rPr>
              <a:t>가상의 아이템</a:t>
            </a:r>
            <a:endParaRPr lang="en-US" altLang="ko-KR" b="1" smtClean="0">
              <a:solidFill>
                <a:srgbClr val="FF0000"/>
              </a:solidFill>
            </a:endParaRPr>
          </a:p>
          <a:p>
            <a:r>
              <a:rPr lang="ko-KR" altLang="en-US" smtClean="0"/>
              <a:t>스킬 습득 및 사용 상태</a:t>
            </a:r>
            <a:r>
              <a:rPr lang="en-US" altLang="ko-KR" smtClean="0"/>
              <a:t>, </a:t>
            </a:r>
            <a:r>
              <a:rPr lang="ko-KR" altLang="en-US" smtClean="0"/>
              <a:t>버프</a:t>
            </a:r>
            <a:r>
              <a:rPr lang="en-US" altLang="ko-KR" smtClean="0"/>
              <a:t>/</a:t>
            </a:r>
            <a:r>
              <a:rPr lang="ko-KR" altLang="en-US" smtClean="0"/>
              <a:t>디버프</a:t>
            </a:r>
            <a:endParaRPr lang="en-US" altLang="ko-KR" smtClean="0"/>
          </a:p>
          <a:p>
            <a:r>
              <a:rPr lang="ko-KR" altLang="en-US" b="1" smtClean="0">
                <a:solidFill>
                  <a:srgbClr val="FF0000"/>
                </a:solidFill>
              </a:rPr>
              <a:t>국가나 종족 등의 소속 및 평판 데이터 등을 통한 귀속상태여부 체크</a:t>
            </a:r>
            <a:endParaRPr lang="ko-KR" alt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6901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발동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NPC </a:t>
            </a:r>
            <a:r>
              <a:rPr lang="ko-KR" altLang="en-US" smtClean="0"/>
              <a:t>대화</a:t>
            </a:r>
            <a:endParaRPr lang="en-US" altLang="ko-KR" smtClean="0"/>
          </a:p>
          <a:p>
            <a:r>
              <a:rPr lang="ko-KR" altLang="en-US" smtClean="0"/>
              <a:t>우편물 시스템</a:t>
            </a:r>
            <a:endParaRPr lang="en-US" altLang="ko-KR" smtClean="0"/>
          </a:p>
          <a:p>
            <a:r>
              <a:rPr lang="en-US" altLang="ko-KR" smtClean="0"/>
              <a:t>UI Event</a:t>
            </a:r>
          </a:p>
          <a:p>
            <a:r>
              <a:rPr lang="ko-KR" altLang="en-US" smtClean="0"/>
              <a:t>아이템</a:t>
            </a:r>
            <a:r>
              <a:rPr lang="en-US" altLang="ko-KR" b="1" smtClean="0">
                <a:solidFill>
                  <a:srgbClr val="FF0000"/>
                </a:solidFill>
              </a:rPr>
              <a:t>(=</a:t>
            </a:r>
            <a:r>
              <a:rPr lang="ko-KR" altLang="en-US" b="1" smtClean="0">
                <a:solidFill>
                  <a:srgbClr val="FF0000"/>
                </a:solidFill>
              </a:rPr>
              <a:t>스킬</a:t>
            </a:r>
            <a:r>
              <a:rPr lang="en-US" altLang="ko-KR" b="1" smtClean="0">
                <a:solidFill>
                  <a:srgbClr val="FF0000"/>
                </a:solidFill>
              </a:rPr>
              <a:t>) </a:t>
            </a:r>
            <a:r>
              <a:rPr lang="ko-KR" altLang="en-US" b="1" smtClean="0">
                <a:solidFill>
                  <a:srgbClr val="FF0000"/>
                </a:solidFill>
              </a:rPr>
              <a:t>획득 및 사용</a:t>
            </a:r>
            <a:endParaRPr lang="en-US" altLang="ko-KR" b="1" smtClean="0">
              <a:solidFill>
                <a:srgbClr val="FF0000"/>
              </a:solidFill>
            </a:endParaRPr>
          </a:p>
          <a:p>
            <a:r>
              <a:rPr lang="en-US" altLang="ko-KR" smtClean="0"/>
              <a:t>Event Dummy</a:t>
            </a:r>
          </a:p>
          <a:p>
            <a:r>
              <a:rPr lang="en-US" altLang="ko-KR" smtClean="0"/>
              <a:t>TIME</a:t>
            </a:r>
          </a:p>
          <a:p>
            <a:r>
              <a:rPr lang="en-US" altLang="ko-KR" b="1" smtClean="0">
                <a:solidFill>
                  <a:srgbClr val="FF0000"/>
                </a:solidFill>
              </a:rPr>
              <a:t>Event</a:t>
            </a:r>
          </a:p>
          <a:p>
            <a:r>
              <a:rPr lang="en-US" altLang="ko-KR" smtClean="0"/>
              <a:t>AI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743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진행조건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직렬식 </a:t>
            </a:r>
            <a:r>
              <a:rPr lang="en-US" altLang="ko-KR" smtClean="0"/>
              <a:t>: </a:t>
            </a:r>
            <a:r>
              <a:rPr lang="ko-KR" altLang="en-US" smtClean="0"/>
              <a:t>이전 조건을 완료하지 못하면 다음 조건을 시작할 수 </a:t>
            </a:r>
            <a:r>
              <a:rPr lang="en-US" altLang="ko-KR" smtClean="0"/>
              <a:t>x</a:t>
            </a:r>
          </a:p>
          <a:p>
            <a:r>
              <a:rPr lang="ko-KR" altLang="en-US" smtClean="0"/>
              <a:t>병렬식 </a:t>
            </a:r>
            <a:r>
              <a:rPr lang="en-US" altLang="ko-KR" smtClean="0"/>
              <a:t>: </a:t>
            </a:r>
            <a:r>
              <a:rPr lang="ko-KR" altLang="en-US" smtClean="0"/>
              <a:t>어떤 조건을 먼저 시작해도 상관 </a:t>
            </a:r>
            <a:r>
              <a:rPr lang="en-US" altLang="ko-KR" smtClean="0"/>
              <a:t>x. </a:t>
            </a:r>
            <a:r>
              <a:rPr lang="ko-KR" altLang="en-US" smtClean="0"/>
              <a:t>즉</a:t>
            </a:r>
            <a:r>
              <a:rPr lang="en-US" altLang="ko-KR" smtClean="0"/>
              <a:t>, </a:t>
            </a:r>
            <a:r>
              <a:rPr lang="ko-KR" altLang="en-US" smtClean="0"/>
              <a:t>조건의 진행 순서는 상관</a:t>
            </a:r>
            <a:r>
              <a:rPr lang="en-US" altLang="ko-KR"/>
              <a:t> </a:t>
            </a:r>
            <a:r>
              <a:rPr lang="en-US" altLang="ko-KR" smtClean="0"/>
              <a:t>x.</a:t>
            </a:r>
          </a:p>
          <a:p>
            <a:endParaRPr lang="en-US" altLang="ko-KR"/>
          </a:p>
          <a:p>
            <a:r>
              <a:rPr lang="ko-KR" altLang="en-US" smtClean="0"/>
              <a:t>다만</a:t>
            </a:r>
            <a:r>
              <a:rPr lang="en-US" altLang="ko-KR" smtClean="0"/>
              <a:t>, </a:t>
            </a:r>
            <a:r>
              <a:rPr lang="ko-KR" altLang="en-US" smtClean="0"/>
              <a:t>조건 달성 실패 시 어디부터 다시 시작할 지에 대해서 잘 설계할 필요가 있다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15049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완료조건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던전</a:t>
            </a:r>
            <a:r>
              <a:rPr lang="en-US" altLang="ko-KR" smtClean="0"/>
              <a:t>/</a:t>
            </a:r>
            <a:r>
              <a:rPr lang="ko-KR" altLang="en-US" smtClean="0"/>
              <a:t>투기장</a:t>
            </a:r>
            <a:r>
              <a:rPr lang="en-US" altLang="ko-KR" smtClean="0"/>
              <a:t>/</a:t>
            </a:r>
            <a:r>
              <a:rPr lang="ko-KR" altLang="en-US" smtClean="0"/>
              <a:t>레이드 </a:t>
            </a:r>
            <a:r>
              <a:rPr lang="en-US" altLang="ko-KR" smtClean="0"/>
              <a:t>=&gt; </a:t>
            </a:r>
            <a:r>
              <a:rPr lang="ko-KR" altLang="en-US" smtClean="0"/>
              <a:t>성공</a:t>
            </a:r>
            <a:r>
              <a:rPr lang="en-US" altLang="ko-KR" smtClean="0"/>
              <a:t>/</a:t>
            </a:r>
            <a:r>
              <a:rPr lang="ko-KR" altLang="en-US" smtClean="0"/>
              <a:t>실패</a:t>
            </a:r>
            <a:r>
              <a:rPr lang="en-US" altLang="ko-KR" smtClean="0"/>
              <a:t>/</a:t>
            </a:r>
            <a:r>
              <a:rPr lang="ko-KR" altLang="en-US" smtClean="0"/>
              <a:t>무승부 여부 체크</a:t>
            </a:r>
            <a:endParaRPr lang="en-US" altLang="ko-KR" smtClean="0"/>
          </a:p>
          <a:p>
            <a:r>
              <a:rPr lang="ko-KR" altLang="en-US" smtClean="0"/>
              <a:t>몬스터 킬 </a:t>
            </a:r>
            <a:r>
              <a:rPr lang="en-US" altLang="ko-KR" smtClean="0"/>
              <a:t>=&gt; </a:t>
            </a:r>
            <a:r>
              <a:rPr lang="ko-KR" altLang="en-US" smtClean="0"/>
              <a:t>파티 </a:t>
            </a:r>
            <a:r>
              <a:rPr lang="en-US" altLang="ko-KR" smtClean="0"/>
              <a:t>full / </a:t>
            </a:r>
            <a:r>
              <a:rPr lang="ko-KR" altLang="en-US" smtClean="0"/>
              <a:t>인원 수 체크</a:t>
            </a:r>
            <a:endParaRPr lang="en-US" altLang="ko-KR" smtClean="0"/>
          </a:p>
          <a:p>
            <a:r>
              <a:rPr lang="ko-KR" altLang="en-US" smtClean="0"/>
              <a:t>아이템 </a:t>
            </a:r>
            <a:r>
              <a:rPr lang="en-US" altLang="ko-KR" smtClean="0"/>
              <a:t>=&gt; </a:t>
            </a:r>
            <a:r>
              <a:rPr lang="ko-KR" altLang="en-US" smtClean="0"/>
              <a:t>습득 </a:t>
            </a:r>
            <a:r>
              <a:rPr lang="en-US" altLang="ko-KR" smtClean="0"/>
              <a:t>-&gt; </a:t>
            </a:r>
            <a:r>
              <a:rPr lang="ko-KR" altLang="en-US" smtClean="0"/>
              <a:t>착용</a:t>
            </a:r>
            <a:r>
              <a:rPr lang="en-US" altLang="ko-KR" smtClean="0"/>
              <a:t>/</a:t>
            </a:r>
            <a:r>
              <a:rPr lang="ko-KR" altLang="en-US" smtClean="0"/>
              <a:t>강화</a:t>
            </a:r>
            <a:endParaRPr lang="en-US" altLang="ko-KR" smtClean="0"/>
          </a:p>
          <a:p>
            <a:r>
              <a:rPr lang="ko-KR" altLang="en-US" smtClean="0"/>
              <a:t>위치 선정 </a:t>
            </a:r>
            <a:r>
              <a:rPr lang="en-US" altLang="ko-KR" smtClean="0"/>
              <a:t>(</a:t>
            </a:r>
            <a:r>
              <a:rPr lang="ko-KR" altLang="en-US" smtClean="0"/>
              <a:t>플레이어</a:t>
            </a:r>
            <a:r>
              <a:rPr lang="en-US" altLang="ko-KR" smtClean="0"/>
              <a:t>,NPC,</a:t>
            </a:r>
            <a:r>
              <a:rPr lang="ko-KR" altLang="en-US" smtClean="0"/>
              <a:t>몬스터</a:t>
            </a:r>
            <a:r>
              <a:rPr lang="en-US" altLang="ko-KR" smtClean="0"/>
              <a:t>,Event Object)</a:t>
            </a:r>
          </a:p>
          <a:p>
            <a:r>
              <a:rPr lang="ko-KR" altLang="en-US" smtClean="0"/>
              <a:t>스킬 사용 상태 </a:t>
            </a:r>
            <a:r>
              <a:rPr lang="en-US" altLang="ko-KR" smtClean="0"/>
              <a:t>(</a:t>
            </a:r>
            <a:r>
              <a:rPr lang="ko-KR" altLang="en-US" smtClean="0"/>
              <a:t>플레이어</a:t>
            </a:r>
            <a:r>
              <a:rPr lang="en-US" altLang="ko-KR" smtClean="0"/>
              <a:t>, NPC, </a:t>
            </a:r>
            <a:r>
              <a:rPr lang="ko-KR" altLang="en-US" smtClean="0"/>
              <a:t>몬스터</a:t>
            </a:r>
            <a:r>
              <a:rPr lang="en-US" altLang="ko-KR" smtClean="0"/>
              <a:t>, Event Object)</a:t>
            </a:r>
          </a:p>
          <a:p>
            <a:r>
              <a:rPr lang="ko-KR" altLang="en-US" smtClean="0"/>
              <a:t>기능 사용 </a:t>
            </a:r>
            <a:r>
              <a:rPr lang="en-US" altLang="ko-KR" smtClean="0"/>
              <a:t>(</a:t>
            </a:r>
            <a:r>
              <a:rPr lang="ko-KR" altLang="en-US" smtClean="0"/>
              <a:t>트리거 조작 상태</a:t>
            </a:r>
            <a:r>
              <a:rPr lang="en-US" altLang="ko-KR" smtClean="0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1900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완료 보상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완료 조건 달성 후 해당 퀘스트를 </a:t>
            </a:r>
            <a:r>
              <a:rPr lang="en-US" altLang="ko-KR" smtClean="0"/>
              <a:t>On</a:t>
            </a:r>
            <a:r>
              <a:rPr lang="ko-KR" altLang="en-US" smtClean="0"/>
              <a:t>으로 기록</a:t>
            </a:r>
            <a:endParaRPr lang="en-US" altLang="ko-KR" smtClean="0"/>
          </a:p>
          <a:p>
            <a:r>
              <a:rPr lang="en-US" altLang="ko-KR" smtClean="0"/>
              <a:t>On</a:t>
            </a:r>
            <a:r>
              <a:rPr lang="ko-KR" altLang="en-US" smtClean="0"/>
              <a:t>으로 기록된 퀘스트에 대해서 보상 지급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34126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추가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현실 시간을 </a:t>
            </a:r>
            <a:r>
              <a:rPr lang="en-US" altLang="ko-KR" smtClean="0"/>
              <a:t>in game</a:t>
            </a:r>
            <a:r>
              <a:rPr lang="ko-KR" altLang="en-US" smtClean="0"/>
              <a:t>에 적용</a:t>
            </a:r>
            <a:endParaRPr lang="en-US" altLang="ko-KR" smtClean="0"/>
          </a:p>
          <a:p>
            <a:pPr lvl="1"/>
            <a:r>
              <a:rPr lang="ko-KR" altLang="en-US" smtClean="0"/>
              <a:t>크리스마스 이벤트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파트너사와 협업</a:t>
            </a:r>
            <a:endParaRPr lang="en-US" altLang="ko-KR" smtClean="0"/>
          </a:p>
          <a:p>
            <a:pPr lvl="1"/>
            <a:r>
              <a:rPr lang="ko-KR" altLang="en-US" smtClean="0"/>
              <a:t>애니메이션 </a:t>
            </a:r>
            <a:r>
              <a:rPr lang="en-US" altLang="ko-KR" smtClean="0"/>
              <a:t>– </a:t>
            </a:r>
            <a:r>
              <a:rPr lang="ko-KR" altLang="en-US" smtClean="0"/>
              <a:t>캐릭터는 빌림</a:t>
            </a:r>
            <a:r>
              <a:rPr lang="en-US" altLang="ko-KR" smtClean="0"/>
              <a:t>, </a:t>
            </a:r>
            <a:r>
              <a:rPr lang="ko-KR" altLang="en-US" smtClean="0"/>
              <a:t>이야기는 </a:t>
            </a:r>
            <a:r>
              <a:rPr lang="en-US" altLang="ko-KR" smtClean="0"/>
              <a:t>x</a:t>
            </a:r>
          </a:p>
          <a:p>
            <a:pPr lvl="1"/>
            <a:r>
              <a:rPr lang="ko-KR" altLang="en-US" smtClean="0"/>
              <a:t>원래 이야기의 아이덴티티를 지키기 위해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440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기타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현실의 행사</a:t>
            </a:r>
            <a:r>
              <a:rPr lang="en-US" altLang="ko-KR" smtClean="0"/>
              <a:t>/</a:t>
            </a:r>
            <a:r>
              <a:rPr lang="ko-KR" altLang="en-US" smtClean="0"/>
              <a:t>축제에 유저가 직접 참여해서 현장에서 받은 쿠폰</a:t>
            </a:r>
            <a:endParaRPr lang="en-US" altLang="ko-KR" smtClean="0"/>
          </a:p>
          <a:p>
            <a:r>
              <a:rPr lang="ko-KR" altLang="en-US" smtClean="0"/>
              <a:t>편의점에 유저가 직접 가서 산 쿠폰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이 쿠폰을 </a:t>
            </a:r>
            <a:r>
              <a:rPr lang="en-US" altLang="ko-KR" smtClean="0"/>
              <a:t>in game</a:t>
            </a:r>
            <a:r>
              <a:rPr lang="ko-KR" altLang="en-US" smtClean="0"/>
              <a:t>에서 아이템을 사는 등 자원으로 사용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서브 컬쳐에서 많이 사용하는 조건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2776565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분기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단순히 스토리상의 이야기의 갈라짐이 아니다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스테이지별</a:t>
            </a:r>
            <a:r>
              <a:rPr lang="en-US" altLang="ko-KR"/>
              <a:t> </a:t>
            </a:r>
            <a:r>
              <a:rPr lang="ko-KR" altLang="en-US" smtClean="0"/>
              <a:t>점수를 산정하고</a:t>
            </a:r>
            <a:endParaRPr lang="en-US" altLang="ko-KR" smtClean="0"/>
          </a:p>
          <a:p>
            <a:r>
              <a:rPr lang="ko-KR" altLang="en-US" smtClean="0"/>
              <a:t>이를 통해 여러 가지</a:t>
            </a:r>
            <a:r>
              <a:rPr lang="en-US" altLang="ko-KR" smtClean="0"/>
              <a:t>(</a:t>
            </a:r>
            <a:r>
              <a:rPr lang="ko-KR" altLang="en-US" smtClean="0"/>
              <a:t>멀티</a:t>
            </a:r>
            <a:r>
              <a:rPr lang="en-US" altLang="ko-KR" smtClean="0"/>
              <a:t>) </a:t>
            </a:r>
            <a:r>
              <a:rPr lang="ko-KR" altLang="en-US" smtClean="0"/>
              <a:t>엔딩으로 보여줄 수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[</a:t>
            </a:r>
            <a:r>
              <a:rPr lang="ko-KR" altLang="en-US" smtClean="0"/>
              <a:t>프린세스 메이커 </a:t>
            </a:r>
            <a:r>
              <a:rPr lang="en-US" altLang="ko-KR" smtClean="0"/>
              <a:t>2]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765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조건의 복수계 또는 단수계의 집합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5935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퀘스트의 진행 단계별 연출 동반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퀘스트의 보상으로 수치나 아이템을 지급하는 게 </a:t>
            </a:r>
            <a:r>
              <a:rPr lang="en-US" altLang="ko-KR" smtClean="0"/>
              <a:t>x</a:t>
            </a:r>
          </a:p>
          <a:p>
            <a:r>
              <a:rPr lang="ko-KR" altLang="en-US" smtClean="0"/>
              <a:t>영상이나 애니메이션 등 연출로 플레이어에게</a:t>
            </a:r>
            <a:endParaRPr lang="en-US" altLang="ko-KR" smtClean="0"/>
          </a:p>
          <a:p>
            <a:r>
              <a:rPr lang="ko-KR" altLang="en-US" smtClean="0"/>
              <a:t>보상이라고 느끼게 하는 연출을 보여주는 것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그냥 영상 </a:t>
            </a:r>
            <a:r>
              <a:rPr lang="en-US" altLang="ko-KR" smtClean="0"/>
              <a:t>x</a:t>
            </a:r>
          </a:p>
          <a:p>
            <a:r>
              <a:rPr lang="ko-KR" altLang="en-US" smtClean="0"/>
              <a:t>연출이 좋아야</a:t>
            </a:r>
            <a:r>
              <a:rPr lang="en-US" altLang="ko-KR" smtClean="0"/>
              <a:t>/</a:t>
            </a:r>
            <a:r>
              <a:rPr lang="ko-KR" altLang="en-US" smtClean="0"/>
              <a:t>뛰어나야 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81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고객을 오해하게 만들자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개발 단계에서 구현하지 못한 걸</a:t>
            </a:r>
            <a:r>
              <a:rPr lang="en-US" altLang="ko-KR" smtClean="0"/>
              <a:t>, </a:t>
            </a:r>
            <a:r>
              <a:rPr lang="ko-KR" altLang="en-US" smtClean="0"/>
              <a:t>실제 유저들은 구현됐다고 느끼게 만드는 것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플레이어의 소속 국가를 구분하는 기능을 개발 단계에서 구현하지 못했을 때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- </a:t>
            </a:r>
            <a:r>
              <a:rPr lang="ko-KR" altLang="en-US" smtClean="0"/>
              <a:t>일정 퀘스트 이후에 </a:t>
            </a:r>
            <a:r>
              <a:rPr lang="en-US" altLang="ko-KR" smtClean="0"/>
              <a:t>NPC</a:t>
            </a:r>
            <a:r>
              <a:rPr lang="ko-KR" altLang="en-US" smtClean="0"/>
              <a:t>의 대사 중 </a:t>
            </a:r>
            <a:r>
              <a:rPr lang="en-US" altLang="ko-KR" smtClean="0"/>
              <a:t>‘</a:t>
            </a:r>
            <a:r>
              <a:rPr lang="ko-KR" altLang="en-US" smtClean="0"/>
              <a:t>너 첩자지</a:t>
            </a:r>
            <a:r>
              <a:rPr lang="en-US" altLang="ko-KR" smtClean="0"/>
              <a:t>? </a:t>
            </a:r>
            <a:r>
              <a:rPr lang="ko-KR" altLang="en-US" smtClean="0"/>
              <a:t>옷 왜그래</a:t>
            </a:r>
            <a:r>
              <a:rPr lang="en-US" altLang="ko-KR" smtClean="0"/>
              <a:t>!’ </a:t>
            </a:r>
            <a:r>
              <a:rPr lang="ko-KR" altLang="en-US" smtClean="0"/>
              <a:t>하는 대사를 랜덤하게 출력하게 만든다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- </a:t>
            </a:r>
            <a:r>
              <a:rPr lang="ko-KR" altLang="en-US" smtClean="0"/>
              <a:t>플레이어의 소속이 관계없는 퀘스트를 만든다</a:t>
            </a:r>
            <a:r>
              <a:rPr lang="en-US" altLang="ko-KR" smtClean="0"/>
              <a:t>.(</a:t>
            </a:r>
            <a:r>
              <a:rPr lang="ko-KR" altLang="en-US" smtClean="0"/>
              <a:t>영토 점령</a:t>
            </a:r>
            <a:r>
              <a:rPr lang="en-US" altLang="ko-KR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39058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913</Words>
  <Application>Microsoft Office PowerPoint</Application>
  <PresentationFormat>와이드스크린</PresentationFormat>
  <Paragraphs>210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8" baseType="lpstr">
      <vt:lpstr>맑은 고딕</vt:lpstr>
      <vt:lpstr>Arial</vt:lpstr>
      <vt:lpstr>Office 테마</vt:lpstr>
      <vt:lpstr>PowerPoint 프레젠테이션</vt:lpstr>
      <vt:lpstr>추가조건 / 기타조건</vt:lpstr>
      <vt:lpstr>추가조건</vt:lpstr>
      <vt:lpstr>기타 조건</vt:lpstr>
      <vt:lpstr>분기 조건</vt:lpstr>
      <vt:lpstr>분기 조건</vt:lpstr>
      <vt:lpstr>조건의 복수계 또는 단수계의 연계</vt:lpstr>
      <vt:lpstr>퀘스트의 진행단계별로 연출 동반</vt:lpstr>
      <vt:lpstr>퀘스트</vt:lpstr>
      <vt:lpstr>고객을 오해하게 만들기</vt:lpstr>
      <vt:lpstr>퀘스트</vt:lpstr>
      <vt:lpstr>스케치업 -&gt; 유니티</vt:lpstr>
      <vt:lpstr>암기! 연습!</vt:lpstr>
      <vt:lpstr>퀘스트</vt:lpstr>
      <vt:lpstr>퀘스트 구성</vt:lpstr>
      <vt:lpstr>시나리오</vt:lpstr>
      <vt:lpstr>설정</vt:lpstr>
      <vt:lpstr>레벨</vt:lpstr>
      <vt:lpstr>콘텐츠</vt:lpstr>
      <vt:lpstr>밸런스</vt:lpstr>
      <vt:lpstr>시스템</vt:lpstr>
      <vt:lpstr>웃음</vt:lpstr>
      <vt:lpstr>이벤트</vt:lpstr>
      <vt:lpstr>퀘스트의 조건</vt:lpstr>
      <vt:lpstr>부여조건</vt:lpstr>
      <vt:lpstr>발동 조건</vt:lpstr>
      <vt:lpstr>진행조건</vt:lpstr>
      <vt:lpstr>완료조건</vt:lpstr>
      <vt:lpstr>완료 보상 조건</vt:lpstr>
      <vt:lpstr>추가 조건</vt:lpstr>
      <vt:lpstr>기타 조건</vt:lpstr>
      <vt:lpstr>분기 조건</vt:lpstr>
      <vt:lpstr>퀘스트</vt:lpstr>
      <vt:lpstr>퀘스트의 진행 단계별 연출 동반</vt:lpstr>
      <vt:lpstr>고객을 오해하게 만들자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11</cp:revision>
  <dcterms:created xsi:type="dcterms:W3CDTF">2026-06-24T05:01:30Z</dcterms:created>
  <dcterms:modified xsi:type="dcterms:W3CDTF">2026-06-24T06:51:37Z</dcterms:modified>
</cp:coreProperties>
</file>