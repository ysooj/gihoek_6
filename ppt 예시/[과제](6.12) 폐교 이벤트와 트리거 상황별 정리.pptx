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57" y="8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EFAA7-B762-3943-D276-09AF039B2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AEDBF6-47AB-20E4-4E12-0D153C71A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300ACB-27DB-2658-5243-6D675E462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445BD9-8FCF-2CBB-DA89-BD8A2C69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7D8609-3D7F-477A-B4F6-B5E9C48C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55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9CCE0-6EC6-3DC6-D3BD-B08B7389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ECEE5D-8533-91C5-E888-8A221FCA3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B8E98A-2E45-1860-8731-59F09FA3A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99791-CA57-DDB7-A996-88DAE559D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658A7B-E65A-A9B5-82A6-D86EA376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65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71E79-0A68-3366-8DE1-3F7C91DB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9DCD54-5945-8BCC-5EDD-7DBCACE29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6DA601-DE11-FDBC-E14B-CCED9D7C4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C74A8C-C004-2F94-A168-EFE26A17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F425ED-873C-4CDE-6661-0698DF67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05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F1F10-428E-10C7-A191-A71F666EF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40AE5D-FE43-2055-762D-F6723EE7A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AA3F18-EA60-3F8F-B67D-5C4DDCFBE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FDAF7E-F980-8421-9CA1-6F56FF715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3CDD53-C07A-F10F-6ADC-C0505F1B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743BB-AB68-3C1A-89A4-776AF817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04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7B43B-0B6A-6E3C-87BA-30A793B9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47B6BF-3228-BF6F-E49C-9068D28B9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48D10B-72C5-4490-B1A8-A3EDB2A77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3DA136-FBBF-857B-341D-0A6A62CB7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C3EC51-A967-C302-A39A-5D4A2A379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5E637F-EFC6-1E8B-8317-A3749030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D2C2EC-EB39-F096-00A2-8A07F56D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C7FEAB-5B11-08F2-E4F5-9E589E65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62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08D1E-F57D-D274-FE12-33A439A1C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FB07AC-3E8A-BE70-173B-C724D41BF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23AFF5-92D7-3FE9-8D06-BDA40BB2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090436-0F77-F005-1261-B3AFC0B0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26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CB4730-47F2-0587-26CE-23279889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9DA9D8-6EEE-F861-62BB-95BC51E2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6F9AD6-E2CB-F5B8-454B-3D0871C3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992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D8743-FE1E-5910-7E25-F11A0A762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225DE-145C-C409-CE31-DAF585AD8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665316-06AC-517A-4371-89B1194DF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39F222-259D-B211-A344-2A8C633E3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DFC913-B540-6421-6B05-A2E3ACA4A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5776E-EF9C-BA1B-EA96-323A42E6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0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1F6AF-293A-8B3A-E692-E6F243E92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7A4EC4-74F6-8A1C-3589-893C50BF1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E76603-1A0F-7A6F-A8C8-9B6239250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1140B7-625D-625B-A9C3-510C96F2F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F6C9C8-7988-3B3E-1D20-C95D67A9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203A32-33D7-A68A-402F-C9C284FD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26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E02BC-A75D-000C-9EFF-3ED8584E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FC5D22-48DC-18E2-E405-144EDE932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0BB4D0-0B88-6942-2CA1-2A0AA9AE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4D2F1-94D2-7573-66B0-067F0148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26C86-4E80-AC4C-11C8-BD91C922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68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6F2B1B-19CE-25A5-BF5B-F3DA070ED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85B2CB-2BEC-CCCB-39E5-1CAF084DC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1D013-C501-A6EF-C4A6-0C2AEC85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315C13-D4C3-DD76-EA3D-297D9915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2D3CD3-8736-A2F2-F40D-A8A94F01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78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778CE6-AFD5-C854-311A-1FB6D164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280B95-4985-81BD-EAA4-2F4E92D5A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53EF11-2E37-DB64-541D-5D20AC9CF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28C38-424E-4D37-A78E-38CCF5D68261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C393F6-576B-C517-185A-DEFCFBF28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8B326B-4726-3600-4398-DA585F496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0CDEA-91D2-4B7F-A448-EA3E38009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57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F217F-17FF-E1C7-5101-CB806329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폐교 챕터 개요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611AF-2CB1-EC76-E730-E7CA37B93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ko-KR" b="1" dirty="0"/>
              <a:t>챕터 목표</a:t>
            </a:r>
          </a:p>
          <a:p>
            <a:pPr>
              <a:lnSpc>
                <a:spcPct val="170000"/>
              </a:lnSpc>
            </a:pPr>
            <a:r>
              <a:rPr lang="ko-KR" altLang="ko-KR" dirty="0"/>
              <a:t>플레이어가 폐교를 탐색하며 보스의 과거를 조사하고,</a:t>
            </a:r>
            <a:br>
              <a:rPr lang="en-US" altLang="ko-KR" dirty="0"/>
            </a:br>
            <a:r>
              <a:rPr lang="ko-KR" altLang="ko-KR" dirty="0"/>
              <a:t>기억을 직접 체험한 뒤 괴물이 된 친구를 구원하는 챕터</a:t>
            </a:r>
            <a:br>
              <a:rPr lang="ko-KR" altLang="ko-KR" dirty="0"/>
            </a:br>
            <a:endParaRPr lang="ko-KR" altLang="ko-KR" dirty="0"/>
          </a:p>
          <a:p>
            <a:pPr marL="0" indent="0">
              <a:lnSpc>
                <a:spcPct val="170000"/>
              </a:lnSpc>
              <a:buNone/>
            </a:pPr>
            <a:r>
              <a:rPr lang="ko-KR" altLang="ko-KR" b="1" dirty="0"/>
              <a:t>이야기 목적</a:t>
            </a:r>
          </a:p>
          <a:p>
            <a:pPr>
              <a:lnSpc>
                <a:spcPct val="170000"/>
              </a:lnSpc>
            </a:pPr>
            <a:r>
              <a:rPr lang="ko-KR" altLang="ko-KR" dirty="0"/>
              <a:t>보스가 학교폭력 피해자였음을 공개 </a:t>
            </a:r>
          </a:p>
          <a:p>
            <a:pPr>
              <a:lnSpc>
                <a:spcPct val="170000"/>
              </a:lnSpc>
            </a:pPr>
            <a:r>
              <a:rPr lang="ko-KR" altLang="ko-KR" dirty="0"/>
              <a:t>괴물의 정체가 인간임을 최초 공개 </a:t>
            </a:r>
          </a:p>
          <a:p>
            <a:pPr>
              <a:lnSpc>
                <a:spcPct val="170000"/>
              </a:lnSpc>
            </a:pPr>
            <a:r>
              <a:rPr lang="ko-KR" altLang="ko-KR" dirty="0"/>
              <a:t>주인공과 보스의 관계성 전달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19321AD-807F-403C-A0FB-AA43583D8AA6}"/>
              </a:ext>
            </a:extLst>
          </p:cNvPr>
          <p:cNvSpPr txBox="1">
            <a:spLocks/>
          </p:cNvSpPr>
          <p:nvPr/>
        </p:nvSpPr>
        <p:spPr>
          <a:xfrm>
            <a:off x="8084634" y="1690688"/>
            <a:ext cx="32691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ko-KR" b="1" dirty="0"/>
              <a:t>챕터 목표</a:t>
            </a:r>
            <a:endParaRPr lang="en-US" altLang="ko-KR" b="1" dirty="0"/>
          </a:p>
          <a:p>
            <a:pPr>
              <a:lnSpc>
                <a:spcPct val="170000"/>
              </a:lnSpc>
            </a:pPr>
            <a:r>
              <a:rPr lang="ko-KR" altLang="en-US" dirty="0"/>
              <a:t>조사</a:t>
            </a:r>
            <a:br>
              <a:rPr lang="en-US" altLang="ko-KR" dirty="0"/>
            </a:br>
            <a:r>
              <a:rPr lang="ko-KR" altLang="en-US" dirty="0"/>
              <a:t>↓</a:t>
            </a:r>
            <a:br>
              <a:rPr lang="en-US" altLang="ko-KR" dirty="0"/>
            </a:br>
            <a:r>
              <a:rPr lang="ko-KR" altLang="en-US" dirty="0"/>
              <a:t>추적</a:t>
            </a:r>
            <a:br>
              <a:rPr lang="en-US" altLang="ko-KR" dirty="0"/>
            </a:br>
            <a:r>
              <a:rPr lang="ko-KR" altLang="en-US" dirty="0"/>
              <a:t>↓</a:t>
            </a:r>
            <a:br>
              <a:rPr lang="en-US" altLang="ko-KR" dirty="0"/>
            </a:br>
            <a:r>
              <a:rPr lang="ko-KR" altLang="en-US" dirty="0"/>
              <a:t>학습</a:t>
            </a:r>
            <a:br>
              <a:rPr lang="en-US" altLang="ko-KR" dirty="0"/>
            </a:br>
            <a:r>
              <a:rPr lang="ko-KR" altLang="en-US" dirty="0"/>
              <a:t>↓</a:t>
            </a:r>
            <a:br>
              <a:rPr lang="en-US" altLang="ko-KR" dirty="0"/>
            </a:br>
            <a:r>
              <a:rPr lang="ko-KR" altLang="en-US" dirty="0"/>
              <a:t>응용</a:t>
            </a:r>
            <a:br>
              <a:rPr lang="en-US" altLang="ko-KR" dirty="0"/>
            </a:br>
            <a:r>
              <a:rPr lang="ko-KR" altLang="en-US" dirty="0"/>
              <a:t>↓</a:t>
            </a:r>
            <a:br>
              <a:rPr lang="en-US" altLang="ko-KR" dirty="0"/>
            </a:br>
            <a:r>
              <a:rPr lang="ko-KR" altLang="en-US" dirty="0"/>
              <a:t>체험</a:t>
            </a:r>
            <a:br>
              <a:rPr lang="en-US" altLang="ko-KR" dirty="0"/>
            </a:br>
            <a:r>
              <a:rPr lang="ko-KR" altLang="en-US" dirty="0"/>
              <a:t>↓</a:t>
            </a:r>
            <a:br>
              <a:rPr lang="en-US" altLang="ko-KR" dirty="0"/>
            </a:br>
            <a:r>
              <a:rPr lang="ko-KR" altLang="en-US" dirty="0"/>
              <a:t>구원</a:t>
            </a:r>
            <a:br>
              <a:rPr lang="en-US" altLang="ko-KR" dirty="0"/>
            </a:br>
            <a:r>
              <a:rPr lang="ko-KR" altLang="en-US" dirty="0"/>
              <a:t>↓</a:t>
            </a:r>
            <a:br>
              <a:rPr lang="en-US" altLang="ko-KR" dirty="0"/>
            </a:br>
            <a:r>
              <a:rPr lang="ko-KR" altLang="en-US" dirty="0"/>
              <a:t>반전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835132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BB29-E5B8-75D0-1AD4-34921947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9E1B8-FD33-7EC8-28DE-A9F4395D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플레이 동선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FD040D-32CE-EC26-516D-1AA78BE6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7909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b="1" dirty="0"/>
              <a:t>폐교 진입 → 본관 </a:t>
            </a:r>
            <a:r>
              <a:rPr lang="en-US" altLang="ko-KR" b="1" dirty="0"/>
              <a:t>1</a:t>
            </a:r>
            <a:r>
              <a:rPr lang="ko-KR" altLang="en-US" b="1" dirty="0"/>
              <a:t>층 </a:t>
            </a:r>
            <a:r>
              <a:rPr lang="en-US" altLang="ko-KR" b="1" dirty="0"/>
              <a:t>(</a:t>
            </a:r>
            <a:r>
              <a:rPr lang="ko-KR" altLang="en-US" b="1" dirty="0"/>
              <a:t>방송실 </a:t>
            </a:r>
            <a:r>
              <a:rPr lang="en-US" altLang="ko-KR" b="1" dirty="0"/>
              <a:t>/ </a:t>
            </a:r>
            <a:r>
              <a:rPr lang="ko-KR" altLang="en-US" b="1" dirty="0"/>
              <a:t>교무실 </a:t>
            </a:r>
            <a:r>
              <a:rPr lang="en-US" altLang="ko-KR" b="1" dirty="0"/>
              <a:t>/ </a:t>
            </a:r>
            <a:r>
              <a:rPr lang="ko-KR" altLang="en-US" b="1" dirty="0" err="1"/>
              <a:t>보건실</a:t>
            </a:r>
            <a:r>
              <a:rPr lang="en-US" altLang="ko-KR" b="1" dirty="0"/>
              <a:t>) </a:t>
            </a:r>
            <a:r>
              <a:rPr lang="ko-KR" altLang="en-US" b="1" dirty="0"/>
              <a:t>→ </a:t>
            </a:r>
            <a:r>
              <a:rPr lang="ko-KR" altLang="en-US" b="1" dirty="0" err="1"/>
              <a:t>환영체</a:t>
            </a:r>
            <a:r>
              <a:rPr lang="ko-KR" altLang="en-US" b="1" dirty="0"/>
              <a:t> 첫 조우 → 본관 </a:t>
            </a:r>
            <a:r>
              <a:rPr lang="en-US" altLang="ko-KR" b="1" dirty="0"/>
              <a:t>3</a:t>
            </a:r>
            <a:r>
              <a:rPr lang="ko-KR" altLang="en-US" b="1" dirty="0"/>
              <a:t>층 </a:t>
            </a:r>
            <a:r>
              <a:rPr lang="en-US" altLang="ko-KR" b="1" dirty="0"/>
              <a:t>(</a:t>
            </a:r>
            <a:r>
              <a:rPr lang="ko-KR" altLang="en-US" b="1" dirty="0"/>
              <a:t>화장실 </a:t>
            </a:r>
            <a:r>
              <a:rPr lang="en-US" altLang="ko-KR" b="1" dirty="0"/>
              <a:t>/ </a:t>
            </a:r>
            <a:r>
              <a:rPr lang="ko-KR" altLang="en-US" b="1" dirty="0"/>
              <a:t>과학실 </a:t>
            </a:r>
            <a:r>
              <a:rPr lang="en-US" altLang="ko-KR" b="1" dirty="0"/>
              <a:t>/ </a:t>
            </a:r>
            <a:r>
              <a:rPr lang="ko-KR" altLang="en-US" b="1" dirty="0"/>
              <a:t>음악실 </a:t>
            </a:r>
            <a:r>
              <a:rPr lang="en-US" altLang="ko-KR" b="1" dirty="0"/>
              <a:t>/ </a:t>
            </a:r>
            <a:r>
              <a:rPr lang="ko-KR" altLang="en-US" b="1" dirty="0"/>
              <a:t>컴퓨터실</a:t>
            </a:r>
            <a:r>
              <a:rPr lang="en-US" altLang="ko-KR" b="1" dirty="0"/>
              <a:t>) </a:t>
            </a:r>
            <a:r>
              <a:rPr lang="ko-KR" altLang="en-US" b="1" dirty="0"/>
              <a:t>→ 본관 </a:t>
            </a:r>
            <a:r>
              <a:rPr lang="en-US" altLang="ko-KR" b="1" dirty="0"/>
              <a:t>2</a:t>
            </a:r>
            <a:r>
              <a:rPr lang="ko-KR" altLang="en-US" b="1" dirty="0"/>
              <a:t>층 재진입 </a:t>
            </a:r>
            <a:r>
              <a:rPr lang="en-US" altLang="ko-KR" b="1" dirty="0"/>
              <a:t>(</a:t>
            </a:r>
            <a:r>
              <a:rPr lang="ko-KR" altLang="en-US" b="1" dirty="0"/>
              <a:t>정예 몬스터</a:t>
            </a:r>
            <a:r>
              <a:rPr lang="en-US" altLang="ko-KR" b="1" dirty="0"/>
              <a:t>) </a:t>
            </a:r>
            <a:r>
              <a:rPr lang="ko-KR" altLang="en-US" b="1" dirty="0"/>
              <a:t>→ </a:t>
            </a:r>
            <a:r>
              <a:rPr lang="en-US" altLang="ko-KR" b="1" dirty="0"/>
              <a:t>1</a:t>
            </a:r>
            <a:r>
              <a:rPr lang="ko-KR" altLang="en-US" b="1" dirty="0"/>
              <a:t>학년 </a:t>
            </a:r>
            <a:r>
              <a:rPr lang="en-US" altLang="ko-KR" b="1" dirty="0"/>
              <a:t>1</a:t>
            </a:r>
            <a:r>
              <a:rPr lang="ko-KR" altLang="en-US" b="1" dirty="0"/>
              <a:t>반 → </a:t>
            </a:r>
            <a:r>
              <a:rPr lang="en-US" altLang="ko-KR" b="1" dirty="0"/>
              <a:t>1</a:t>
            </a:r>
            <a:r>
              <a:rPr lang="ko-KR" altLang="en-US" b="1" dirty="0"/>
              <a:t>학년 </a:t>
            </a:r>
            <a:r>
              <a:rPr lang="en-US" altLang="ko-KR" b="1" dirty="0"/>
              <a:t>2</a:t>
            </a:r>
            <a:r>
              <a:rPr lang="ko-KR" altLang="en-US" b="1" dirty="0"/>
              <a:t>반 → </a:t>
            </a:r>
            <a:r>
              <a:rPr lang="en-US" altLang="ko-KR" b="1" dirty="0"/>
              <a:t>1</a:t>
            </a:r>
            <a:r>
              <a:rPr lang="ko-KR" altLang="en-US" b="1" dirty="0"/>
              <a:t>학년 </a:t>
            </a:r>
            <a:r>
              <a:rPr lang="en-US" altLang="ko-KR" b="1" dirty="0"/>
              <a:t>3</a:t>
            </a:r>
            <a:r>
              <a:rPr lang="ko-KR" altLang="en-US" b="1" dirty="0"/>
              <a:t>반 → 평범한 학교 → 강당 → </a:t>
            </a:r>
            <a:r>
              <a:rPr lang="ko-KR" altLang="en-US" b="1" dirty="0" err="1"/>
              <a:t>보스전</a:t>
            </a:r>
            <a:r>
              <a:rPr lang="ko-KR" altLang="en-US" b="1" dirty="0"/>
              <a:t> → 엔딩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79376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CA3F-8494-B5BD-C70B-F46AE6A7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3F698-E851-FAA3-4021-E44AB92A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학습 곡선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00389C8-2922-FB75-C6BD-C2E0A108974D}"/>
              </a:ext>
            </a:extLst>
          </p:cNvPr>
          <p:cNvSpPr txBox="1">
            <a:spLocks/>
          </p:cNvSpPr>
          <p:nvPr/>
        </p:nvSpPr>
        <p:spPr>
          <a:xfrm>
            <a:off x="6792686" y="1659597"/>
            <a:ext cx="496388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ko-KR" b="1" dirty="0"/>
              <a:t>설계 의도</a:t>
            </a:r>
          </a:p>
          <a:p>
            <a:pPr>
              <a:lnSpc>
                <a:spcPct val="150000"/>
              </a:lnSpc>
            </a:pPr>
            <a:r>
              <a:rPr lang="ko-KR" altLang="ko-KR" dirty="0"/>
              <a:t>모든 </a:t>
            </a:r>
            <a:r>
              <a:rPr lang="ko-KR" altLang="ko-KR" dirty="0" err="1"/>
              <a:t>기믹은</a:t>
            </a:r>
            <a:br>
              <a:rPr lang="en-US" altLang="ko-KR" dirty="0"/>
            </a:br>
            <a:r>
              <a:rPr lang="ko-KR" altLang="ko-KR" dirty="0"/>
              <a:t>학습 → 활용 → 응용</a:t>
            </a:r>
            <a:br>
              <a:rPr lang="en-US" altLang="ko-KR" dirty="0"/>
            </a:br>
            <a:r>
              <a:rPr lang="ko-KR" altLang="ko-KR" dirty="0"/>
              <a:t>구조로 설계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3406B07-C2D5-1513-A4D7-FBFF2C58D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318919"/>
              </p:ext>
            </p:extLst>
          </p:nvPr>
        </p:nvGraphicFramePr>
        <p:xfrm>
          <a:off x="838200" y="1565480"/>
          <a:ext cx="4822372" cy="40792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411186">
                  <a:extLst>
                    <a:ext uri="{9D8B030D-6E8A-4147-A177-3AD203B41FA5}">
                      <a16:colId xmlns:a16="http://schemas.microsoft.com/office/drawing/2014/main" val="1929697819"/>
                    </a:ext>
                  </a:extLst>
                </a:gridCol>
                <a:gridCol w="2411186">
                  <a:extLst>
                    <a:ext uri="{9D8B030D-6E8A-4147-A177-3AD203B41FA5}">
                      <a16:colId xmlns:a16="http://schemas.microsoft.com/office/drawing/2014/main" val="644010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구간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1500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폐교 입구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플래시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939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방송실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조사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10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보건실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숨기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40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환영체 조우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추격 대응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476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과학실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인간 형상 유도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89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음악실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균열 무기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173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정예 몬스터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전투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292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1학년 3반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기믹 응용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675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강당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점프 + 투척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189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보스전</a:t>
                      </a:r>
                      <a:r>
                        <a:rPr lang="ko-KR" dirty="0"/>
                        <a:t> Phase2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막기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88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797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0E14E-E921-84C9-003F-8767DE8B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A4A47-5217-1D08-B23C-2956FEFE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본관 1층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C960A61-295B-ED47-E37A-E04902025DAA}"/>
              </a:ext>
            </a:extLst>
          </p:cNvPr>
          <p:cNvSpPr txBox="1">
            <a:spLocks/>
          </p:cNvSpPr>
          <p:nvPr/>
        </p:nvSpPr>
        <p:spPr>
          <a:xfrm>
            <a:off x="6934200" y="365125"/>
            <a:ext cx="5257800" cy="612775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ko-KR" b="1" dirty="0"/>
              <a:t>주요 이벤트</a:t>
            </a:r>
            <a:r>
              <a:rPr lang="en-US" altLang="ko-KR" b="1" dirty="0"/>
              <a:t>]</a:t>
            </a:r>
            <a:endParaRPr lang="ko-KR" altLang="ko-KR" b="1" dirty="0"/>
          </a:p>
          <a:p>
            <a:pPr marL="0" indent="0">
              <a:buNone/>
            </a:pPr>
            <a:r>
              <a:rPr lang="ko-KR" altLang="ko-KR" b="1" dirty="0"/>
              <a:t>방송실</a:t>
            </a:r>
          </a:p>
          <a:p>
            <a:r>
              <a:rPr lang="ko-KR" altLang="ko-KR" dirty="0"/>
              <a:t>TV 이상 현상 </a:t>
            </a:r>
          </a:p>
          <a:p>
            <a:r>
              <a:rPr lang="ko-KR" altLang="ko-KR" dirty="0"/>
              <a:t>플래시 사용 유도</a:t>
            </a: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ko-KR" altLang="ko-KR" b="1" dirty="0"/>
              <a:t>교무실</a:t>
            </a:r>
          </a:p>
          <a:p>
            <a:r>
              <a:rPr lang="ko-KR" altLang="ko-KR" dirty="0"/>
              <a:t>생활기록부 </a:t>
            </a:r>
          </a:p>
          <a:p>
            <a:r>
              <a:rPr lang="ko-KR" altLang="ko-KR" dirty="0"/>
              <a:t>펜던트 조각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 err="1"/>
              <a:t>보건실</a:t>
            </a:r>
            <a:endParaRPr lang="ko-KR" altLang="ko-KR" b="1" dirty="0"/>
          </a:p>
          <a:p>
            <a:r>
              <a:rPr lang="ko-KR" altLang="ko-KR" dirty="0"/>
              <a:t>보건 기록 </a:t>
            </a:r>
          </a:p>
          <a:p>
            <a:r>
              <a:rPr lang="ko-KR" altLang="ko-KR" dirty="0"/>
              <a:t>숨기 학습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 err="1"/>
              <a:t>환영체</a:t>
            </a:r>
            <a:r>
              <a:rPr lang="ko-KR" altLang="ko-KR" b="1" dirty="0"/>
              <a:t> 첫 조우</a:t>
            </a:r>
          </a:p>
          <a:p>
            <a:r>
              <a:rPr lang="ko-KR" altLang="ko-KR" dirty="0" err="1"/>
              <a:t>환영체</a:t>
            </a:r>
            <a:r>
              <a:rPr lang="ko-KR" altLang="ko-KR" dirty="0"/>
              <a:t> 추격 </a:t>
            </a:r>
          </a:p>
          <a:p>
            <a:r>
              <a:rPr lang="ko-KR" altLang="ko-KR" dirty="0"/>
              <a:t>인간 형상 반응 관찰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플레이어 획득 정보</a:t>
            </a:r>
          </a:p>
          <a:p>
            <a:r>
              <a:rPr lang="ko-KR" altLang="ko-KR" dirty="0"/>
              <a:t>교사의 방관 </a:t>
            </a:r>
          </a:p>
          <a:p>
            <a:r>
              <a:rPr lang="ko-KR" altLang="ko-KR" dirty="0"/>
              <a:t>반복적인 폭력 </a:t>
            </a:r>
          </a:p>
          <a:p>
            <a:r>
              <a:rPr lang="ko-KR" altLang="ko-KR" dirty="0" err="1"/>
              <a:t>환영체</a:t>
            </a:r>
            <a:r>
              <a:rPr lang="ko-KR" altLang="ko-KR" dirty="0"/>
              <a:t> 특성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F947E74-BBFA-D365-E80E-D4895DF07661}"/>
              </a:ext>
            </a:extLst>
          </p:cNvPr>
          <p:cNvSpPr txBox="1">
            <a:spLocks/>
          </p:cNvSpPr>
          <p:nvPr/>
        </p:nvSpPr>
        <p:spPr>
          <a:xfrm>
            <a:off x="838200" y="1880054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ko-KR" sz="1500" dirty="0"/>
              <a:t>난이도 ★★☆☆☆</a:t>
            </a:r>
            <a:endParaRPr lang="en-US" altLang="ko-KR" sz="1500" b="1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500" b="1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ko-KR" sz="1500" b="1" dirty="0"/>
              <a:t>플레이 목적</a:t>
            </a:r>
          </a:p>
          <a:p>
            <a:pPr>
              <a:lnSpc>
                <a:spcPct val="150000"/>
              </a:lnSpc>
            </a:pPr>
            <a:r>
              <a:rPr lang="ko-KR" altLang="ko-KR" sz="1500" dirty="0"/>
              <a:t>조사 </a:t>
            </a:r>
          </a:p>
          <a:p>
            <a:pPr>
              <a:lnSpc>
                <a:spcPct val="150000"/>
              </a:lnSpc>
            </a:pPr>
            <a:r>
              <a:rPr lang="ko-KR" altLang="ko-KR" sz="1500" dirty="0"/>
              <a:t>은신 학습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ko-KR" altLang="ko-KR" sz="15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ko-KR" sz="1500" b="1" dirty="0"/>
              <a:t>이야기 목적</a:t>
            </a:r>
          </a:p>
          <a:p>
            <a:pPr>
              <a:lnSpc>
                <a:spcPct val="150000"/>
              </a:lnSpc>
            </a:pPr>
            <a:r>
              <a:rPr lang="ko-KR" altLang="ko-KR" sz="1500" dirty="0"/>
              <a:t>보스의 과거 조사 </a:t>
            </a:r>
          </a:p>
          <a:p>
            <a:pPr>
              <a:lnSpc>
                <a:spcPct val="150000"/>
              </a:lnSpc>
            </a:pPr>
            <a:r>
              <a:rPr lang="ko-KR" altLang="ko-KR" sz="1500" dirty="0"/>
              <a:t>학교폭력 암시 </a:t>
            </a:r>
          </a:p>
        </p:txBody>
      </p:sp>
    </p:spTree>
    <p:extLst>
      <p:ext uri="{BB962C8B-B14F-4D97-AF65-F5344CB8AC3E}">
        <p14:creationId xmlns:p14="http://schemas.microsoft.com/office/powerpoint/2010/main" val="334573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F175C-A549-85C1-B11F-A88B64F36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FAA91-5340-894D-F278-6117D173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본관 3층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760AD0-28C7-BB1D-9F80-09926C83B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80054"/>
            <a:ext cx="52578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ko-KR" altLang="ko-KR" sz="1500" dirty="0"/>
              <a:t>난이도 ★★★☆☆</a:t>
            </a:r>
            <a:endParaRPr lang="en-US" altLang="ko-KR" sz="1500" dirty="0"/>
          </a:p>
          <a:p>
            <a:pPr marL="0" indent="0">
              <a:lnSpc>
                <a:spcPct val="160000"/>
              </a:lnSpc>
              <a:buNone/>
            </a:pPr>
            <a:endParaRPr lang="en-US" altLang="ko-KR" sz="1500" b="1" dirty="0"/>
          </a:p>
          <a:p>
            <a:pPr marL="0" indent="0">
              <a:lnSpc>
                <a:spcPct val="160000"/>
              </a:lnSpc>
              <a:buNone/>
            </a:pPr>
            <a:r>
              <a:rPr lang="ko-KR" altLang="ko-KR" sz="1500" b="1" dirty="0"/>
              <a:t>플레이 목적</a:t>
            </a:r>
          </a:p>
          <a:p>
            <a:pPr>
              <a:lnSpc>
                <a:spcPct val="160000"/>
              </a:lnSpc>
            </a:pPr>
            <a:r>
              <a:rPr lang="ko-KR" altLang="ko-KR" sz="1500" dirty="0"/>
              <a:t>무기 획득 </a:t>
            </a:r>
          </a:p>
          <a:p>
            <a:pPr>
              <a:lnSpc>
                <a:spcPct val="160000"/>
              </a:lnSpc>
            </a:pPr>
            <a:r>
              <a:rPr lang="ko-KR" altLang="ko-KR" sz="1500" dirty="0" err="1"/>
              <a:t>환영체</a:t>
            </a:r>
            <a:r>
              <a:rPr lang="ko-KR" altLang="ko-KR" sz="1500" dirty="0"/>
              <a:t> 유도 학습 </a:t>
            </a:r>
            <a:br>
              <a:rPr lang="ko-KR" altLang="ko-KR" sz="1500" dirty="0"/>
            </a:br>
            <a:endParaRPr lang="ko-KR" altLang="ko-KR" sz="1500" dirty="0"/>
          </a:p>
          <a:p>
            <a:pPr marL="0" indent="0">
              <a:lnSpc>
                <a:spcPct val="160000"/>
              </a:lnSpc>
              <a:buNone/>
            </a:pPr>
            <a:r>
              <a:rPr lang="ko-KR" altLang="ko-KR" sz="1500" b="1" dirty="0"/>
              <a:t>이야기 목적</a:t>
            </a:r>
          </a:p>
          <a:p>
            <a:pPr>
              <a:lnSpc>
                <a:spcPct val="160000"/>
              </a:lnSpc>
            </a:pPr>
            <a:r>
              <a:rPr lang="ko-KR" altLang="ko-KR" sz="1500" dirty="0"/>
              <a:t>학교폭력의 심각성 전달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2C01ACC-D527-CCF6-7D81-B4CCB8CA580E}"/>
              </a:ext>
            </a:extLst>
          </p:cNvPr>
          <p:cNvSpPr txBox="1">
            <a:spLocks/>
          </p:cNvSpPr>
          <p:nvPr/>
        </p:nvSpPr>
        <p:spPr>
          <a:xfrm>
            <a:off x="6934200" y="365125"/>
            <a:ext cx="5257800" cy="6231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ko-KR" b="1" dirty="0"/>
              <a:t>주요 이벤트</a:t>
            </a:r>
            <a:r>
              <a:rPr lang="en-US" altLang="ko-KR" b="1" dirty="0"/>
              <a:t>]</a:t>
            </a:r>
            <a:endParaRPr lang="ko-KR" altLang="ko-KR" b="1" dirty="0"/>
          </a:p>
          <a:p>
            <a:pPr marL="0" indent="0">
              <a:buNone/>
            </a:pPr>
            <a:r>
              <a:rPr lang="ko-KR" altLang="ko-KR" b="1" dirty="0"/>
              <a:t>화장실</a:t>
            </a:r>
          </a:p>
          <a:p>
            <a:r>
              <a:rPr lang="ko-KR" altLang="ko-KR" dirty="0"/>
              <a:t>낙서 </a:t>
            </a:r>
          </a:p>
          <a:p>
            <a:r>
              <a:rPr lang="ko-KR" altLang="ko-KR" dirty="0"/>
              <a:t>썩은 도시락 </a:t>
            </a:r>
          </a:p>
          <a:p>
            <a:pPr marL="0" indent="0">
              <a:buNone/>
            </a:pP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과학실</a:t>
            </a:r>
          </a:p>
          <a:p>
            <a:r>
              <a:rPr lang="ko-KR" altLang="ko-KR" dirty="0"/>
              <a:t>인체모형 </a:t>
            </a:r>
          </a:p>
          <a:p>
            <a:r>
              <a:rPr lang="ko-KR" altLang="ko-KR" dirty="0" err="1"/>
              <a:t>환영체</a:t>
            </a:r>
            <a:r>
              <a:rPr lang="ko-KR" altLang="ko-KR" dirty="0"/>
              <a:t> 유도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음악실</a:t>
            </a:r>
          </a:p>
          <a:p>
            <a:r>
              <a:rPr lang="ko-KR" altLang="ko-KR" dirty="0"/>
              <a:t>리코더 획득 </a:t>
            </a:r>
          </a:p>
          <a:p>
            <a:r>
              <a:rPr lang="ko-KR" altLang="ko-KR" dirty="0"/>
              <a:t>균열 무기 학습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컴퓨터실</a:t>
            </a:r>
          </a:p>
          <a:p>
            <a:r>
              <a:rPr lang="ko-KR" altLang="ko-KR" dirty="0"/>
              <a:t>온라인 괴롭힘 흔적 </a:t>
            </a:r>
          </a:p>
          <a:p>
            <a:r>
              <a:rPr lang="ko-KR" altLang="ko-KR" dirty="0"/>
              <a:t>펜던트 조각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플레이어 획득 정보</a:t>
            </a:r>
          </a:p>
          <a:p>
            <a:r>
              <a:rPr lang="ko-KR" altLang="ko-KR" dirty="0"/>
              <a:t>집단 따돌림 </a:t>
            </a:r>
          </a:p>
          <a:p>
            <a:r>
              <a:rPr lang="ko-KR" altLang="ko-KR" dirty="0"/>
              <a:t>사이버 괴롭힘 </a:t>
            </a:r>
          </a:p>
          <a:p>
            <a:r>
              <a:rPr lang="ko-KR" altLang="ko-KR" dirty="0" err="1"/>
              <a:t>환영체</a:t>
            </a:r>
            <a:r>
              <a:rPr lang="ko-KR" altLang="ko-KR" dirty="0"/>
              <a:t> 유도 방법</a:t>
            </a:r>
          </a:p>
        </p:txBody>
      </p:sp>
    </p:spTree>
    <p:extLst>
      <p:ext uri="{BB962C8B-B14F-4D97-AF65-F5344CB8AC3E}">
        <p14:creationId xmlns:p14="http://schemas.microsoft.com/office/powerpoint/2010/main" val="20999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8E6FE-A033-222A-B077-32D78EC4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FE8AD-31C6-2174-14FE-5D7A7F2E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본관 2층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CCE28C-875F-8A05-172F-1870ADD7D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80054"/>
            <a:ext cx="52578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ko-KR" sz="1500" dirty="0"/>
              <a:t>난이도 ★★★★☆</a:t>
            </a:r>
            <a:endParaRPr lang="en-US" altLang="ko-KR" sz="15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5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ko-KR" sz="1500" b="1" dirty="0"/>
              <a:t>플레이 목적</a:t>
            </a:r>
          </a:p>
          <a:p>
            <a:pPr>
              <a:lnSpc>
                <a:spcPct val="150000"/>
              </a:lnSpc>
            </a:pPr>
            <a:r>
              <a:rPr lang="ko-KR" altLang="ko-KR" sz="1500" dirty="0"/>
              <a:t>정예 몬스터 처치 </a:t>
            </a:r>
          </a:p>
          <a:p>
            <a:pPr>
              <a:lnSpc>
                <a:spcPct val="150000"/>
              </a:lnSpc>
            </a:pPr>
            <a:r>
              <a:rPr lang="ko-KR" altLang="ko-KR" sz="1500" dirty="0"/>
              <a:t>기억 세계 진입 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ko-KR" altLang="ko-KR" sz="1500" dirty="0"/>
            </a:br>
            <a:endParaRPr lang="ko-KR" altLang="ko-KR" sz="15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ko-KR" sz="1500" b="1" dirty="0"/>
              <a:t>이야기 목적</a:t>
            </a:r>
          </a:p>
          <a:p>
            <a:pPr>
              <a:lnSpc>
                <a:spcPct val="150000"/>
              </a:lnSpc>
            </a:pPr>
            <a:r>
              <a:rPr lang="ko-KR" altLang="ko-KR" sz="1500" dirty="0"/>
              <a:t>가해 학생들의 흔적 공개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9792B2A-DB19-185D-0FD6-10B845C48EA4}"/>
              </a:ext>
            </a:extLst>
          </p:cNvPr>
          <p:cNvSpPr txBox="1">
            <a:spLocks/>
          </p:cNvSpPr>
          <p:nvPr/>
        </p:nvSpPr>
        <p:spPr>
          <a:xfrm>
            <a:off x="6934200" y="365125"/>
            <a:ext cx="5257800" cy="6231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ko-KR" b="1" dirty="0"/>
              <a:t>주요 이벤트</a:t>
            </a:r>
            <a:r>
              <a:rPr lang="en-US" altLang="ko-KR" b="1" dirty="0"/>
              <a:t>]</a:t>
            </a:r>
            <a:endParaRPr lang="ko-KR" altLang="ko-KR" b="1" dirty="0"/>
          </a:p>
          <a:p>
            <a:pPr marL="0" indent="0">
              <a:buNone/>
            </a:pPr>
            <a:r>
              <a:rPr lang="ko-KR" altLang="ko-KR" b="1" dirty="0"/>
              <a:t>정예 몬스터</a:t>
            </a:r>
          </a:p>
          <a:p>
            <a:r>
              <a:rPr lang="ko-KR" altLang="ko-KR" dirty="0"/>
              <a:t>무기 활용 전투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1학년 1반</a:t>
            </a:r>
          </a:p>
          <a:p>
            <a:r>
              <a:rPr lang="ko-KR" altLang="ko-KR" dirty="0"/>
              <a:t>불량 학생 아지트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1학년 2반</a:t>
            </a:r>
          </a:p>
          <a:p>
            <a:r>
              <a:rPr lang="ko-KR" altLang="ko-KR" dirty="0"/>
              <a:t>펜던트 조각 </a:t>
            </a:r>
          </a:p>
          <a:p>
            <a:r>
              <a:rPr lang="ko-KR" altLang="ko-KR" dirty="0"/>
              <a:t>보스 책상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1학년 3반</a:t>
            </a:r>
          </a:p>
          <a:p>
            <a:r>
              <a:rPr lang="ko-KR" altLang="ko-KR" dirty="0" err="1"/>
              <a:t>환영체</a:t>
            </a:r>
            <a:r>
              <a:rPr lang="ko-KR" altLang="ko-KR" dirty="0"/>
              <a:t> 유도 퍼즐 </a:t>
            </a:r>
          </a:p>
          <a:p>
            <a:r>
              <a:rPr lang="ko-KR" altLang="ko-KR" dirty="0"/>
              <a:t>기억 세계 진입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플레이어 획득 정보</a:t>
            </a:r>
          </a:p>
          <a:p>
            <a:r>
              <a:rPr lang="ko-KR" altLang="ko-KR" dirty="0"/>
              <a:t>가해자의 존재 </a:t>
            </a:r>
          </a:p>
          <a:p>
            <a:r>
              <a:rPr lang="ko-KR" altLang="ko-KR" dirty="0"/>
              <a:t>폭력의 규모</a:t>
            </a:r>
          </a:p>
        </p:txBody>
      </p:sp>
    </p:spTree>
    <p:extLst>
      <p:ext uri="{BB962C8B-B14F-4D97-AF65-F5344CB8AC3E}">
        <p14:creationId xmlns:p14="http://schemas.microsoft.com/office/powerpoint/2010/main" val="3798650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B0F77-596B-6E24-0859-9B594730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99AC8-C968-D025-2A21-21597AEB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평범한 학교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935239-B130-AFA5-FC44-63CD20DF1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80054"/>
            <a:ext cx="52578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ko-KR" sz="1600" dirty="0"/>
              <a:t>난이도 ★★☆☆☆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500" b="1" dirty="0"/>
          </a:p>
          <a:p>
            <a:pPr marL="0" indent="0">
              <a:buNone/>
            </a:pPr>
            <a:r>
              <a:rPr lang="ko-KR" altLang="ko-KR" sz="1600" b="1" dirty="0"/>
              <a:t>플레이 목적</a:t>
            </a:r>
          </a:p>
          <a:p>
            <a:r>
              <a:rPr lang="ko-KR" altLang="ko-KR" sz="1600" dirty="0"/>
              <a:t>보스의 기억 체험 </a:t>
            </a:r>
          </a:p>
          <a:p>
            <a:pPr marL="0" indent="0">
              <a:buNone/>
            </a:pPr>
            <a:br>
              <a:rPr lang="ko-KR" altLang="ko-KR" sz="1600" dirty="0"/>
            </a:br>
            <a:endParaRPr lang="ko-KR" altLang="ko-KR" sz="1600" dirty="0"/>
          </a:p>
          <a:p>
            <a:pPr marL="0" indent="0">
              <a:buNone/>
            </a:pPr>
            <a:r>
              <a:rPr lang="ko-KR" altLang="ko-KR" sz="1600" b="1" dirty="0"/>
              <a:t>이야기 목적</a:t>
            </a:r>
          </a:p>
          <a:p>
            <a:r>
              <a:rPr lang="ko-KR" altLang="ko-KR" sz="1600" dirty="0"/>
              <a:t>플레이어의 감정 이입 유도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F0D44B4-9754-4CD1-006F-69E6BB4FE2B3}"/>
              </a:ext>
            </a:extLst>
          </p:cNvPr>
          <p:cNvSpPr txBox="1">
            <a:spLocks/>
          </p:cNvSpPr>
          <p:nvPr/>
        </p:nvSpPr>
        <p:spPr>
          <a:xfrm>
            <a:off x="6934200" y="365125"/>
            <a:ext cx="5257800" cy="6231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ko-KR" b="1" dirty="0"/>
              <a:t>주요 이벤트</a:t>
            </a:r>
            <a:r>
              <a:rPr lang="en-US" altLang="ko-KR" b="1" dirty="0"/>
              <a:t>]</a:t>
            </a:r>
            <a:endParaRPr lang="ko-KR" altLang="ko-KR" b="1" dirty="0"/>
          </a:p>
          <a:p>
            <a:pPr marL="0" indent="0">
              <a:buNone/>
            </a:pPr>
            <a:r>
              <a:rPr lang="ko-KR" altLang="ko-KR" b="1" dirty="0"/>
              <a:t>급식소</a:t>
            </a:r>
          </a:p>
          <a:p>
            <a:r>
              <a:rPr lang="ko-KR" altLang="ko-KR" dirty="0"/>
              <a:t>줄서기 이벤트 </a:t>
            </a:r>
          </a:p>
          <a:p>
            <a:r>
              <a:rPr lang="ko-KR" altLang="ko-KR" dirty="0"/>
              <a:t>선생님 지시 수행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불량 학생</a:t>
            </a:r>
          </a:p>
          <a:p>
            <a:r>
              <a:rPr lang="ko-KR" altLang="ko-KR" dirty="0"/>
              <a:t>급식 셔틀 </a:t>
            </a:r>
          </a:p>
          <a:p>
            <a:r>
              <a:rPr lang="ko-KR" altLang="ko-KR" dirty="0"/>
              <a:t>반찬 강탈 </a:t>
            </a:r>
          </a:p>
          <a:p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 err="1"/>
              <a:t>식판</a:t>
            </a:r>
            <a:r>
              <a:rPr lang="ko-KR" altLang="ko-KR" b="1" dirty="0"/>
              <a:t> 정리</a:t>
            </a:r>
          </a:p>
          <a:p>
            <a:r>
              <a:rPr lang="ko-KR" altLang="ko-KR" dirty="0" err="1"/>
              <a:t>고립감</a:t>
            </a:r>
            <a:r>
              <a:rPr lang="ko-KR" altLang="ko-KR" dirty="0"/>
              <a:t> 체험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화장실</a:t>
            </a:r>
          </a:p>
          <a:p>
            <a:r>
              <a:rPr lang="ko-KR" altLang="ko-KR" dirty="0"/>
              <a:t>거울 확인 </a:t>
            </a:r>
          </a:p>
          <a:p>
            <a:r>
              <a:rPr lang="ko-KR" altLang="ko-KR" dirty="0"/>
              <a:t>보스 시점 공개 </a:t>
            </a:r>
          </a:p>
          <a:p>
            <a:pPr marL="0" indent="0"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buNone/>
            </a:pPr>
            <a:r>
              <a:rPr lang="ko-KR" altLang="ko-KR" b="1" dirty="0"/>
              <a:t>플레이어 획득 정보</a:t>
            </a:r>
          </a:p>
          <a:p>
            <a:r>
              <a:rPr lang="ko-KR" altLang="ko-KR" dirty="0"/>
              <a:t>피해자의 일상 </a:t>
            </a:r>
          </a:p>
          <a:p>
            <a:r>
              <a:rPr lang="ko-KR" altLang="ko-KR" dirty="0"/>
              <a:t>사회적 고립</a:t>
            </a:r>
          </a:p>
        </p:txBody>
      </p:sp>
    </p:spTree>
    <p:extLst>
      <p:ext uri="{BB962C8B-B14F-4D97-AF65-F5344CB8AC3E}">
        <p14:creationId xmlns:p14="http://schemas.microsoft.com/office/powerpoint/2010/main" val="365277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AFBF-957F-A239-6F71-32B5E6FE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43455-D178-F519-6A29-63B48F75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강당 </a:t>
            </a:r>
            <a:r>
              <a:rPr lang="ko-KR" altLang="ko-KR" dirty="0" err="1"/>
              <a:t>보스전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B4180-CDD5-DBD2-03A6-3162A116C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80054"/>
            <a:ext cx="52578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ko-KR" sz="1600" dirty="0"/>
              <a:t>난이도 ★★★★★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500" b="1" dirty="0"/>
          </a:p>
          <a:p>
            <a:pPr marL="0" indent="0">
              <a:buNone/>
            </a:pPr>
            <a:r>
              <a:rPr lang="ko-KR" altLang="ko-KR" sz="1600" b="1" dirty="0"/>
              <a:t>플레이 목적</a:t>
            </a:r>
          </a:p>
          <a:p>
            <a:r>
              <a:rPr lang="ko-KR" altLang="ko-KR" sz="1600" dirty="0"/>
              <a:t>보스 처치 </a:t>
            </a:r>
          </a:p>
          <a:p>
            <a:r>
              <a:rPr lang="ko-KR" altLang="ko-KR" sz="1600" dirty="0"/>
              <a:t>친구 구원 </a:t>
            </a:r>
          </a:p>
          <a:p>
            <a:pPr marL="0" indent="0">
              <a:buNone/>
            </a:pPr>
            <a:br>
              <a:rPr lang="ko-KR" altLang="ko-KR" sz="1600" dirty="0"/>
            </a:br>
            <a:endParaRPr lang="ko-KR" altLang="ko-KR" sz="1600" dirty="0"/>
          </a:p>
          <a:p>
            <a:pPr marL="0" indent="0">
              <a:buNone/>
            </a:pPr>
            <a:r>
              <a:rPr lang="ko-KR" altLang="ko-KR" sz="1600" b="1" dirty="0"/>
              <a:t>이야기 목적</a:t>
            </a:r>
          </a:p>
          <a:p>
            <a:r>
              <a:rPr lang="ko-KR" altLang="ko-KR" sz="1600" dirty="0"/>
              <a:t>괴물이 된 친구와 재회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63D8EF5-5E25-1586-E00A-7747A3F70071}"/>
              </a:ext>
            </a:extLst>
          </p:cNvPr>
          <p:cNvSpPr txBox="1">
            <a:spLocks/>
          </p:cNvSpPr>
          <p:nvPr/>
        </p:nvSpPr>
        <p:spPr>
          <a:xfrm>
            <a:off x="6934200" y="365125"/>
            <a:ext cx="5257800" cy="6231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ko-KR" b="1" dirty="0"/>
              <a:t>[</a:t>
            </a:r>
            <a:r>
              <a:rPr lang="ko-KR" altLang="ko-KR" b="1" dirty="0" err="1"/>
              <a:t>Phase</a:t>
            </a:r>
            <a:r>
              <a:rPr lang="ko-KR" altLang="ko-KR" b="1" dirty="0"/>
              <a:t> 1</a:t>
            </a:r>
            <a:r>
              <a:rPr lang="en-US" altLang="ko-KR" b="1" dirty="0"/>
              <a:t>]</a:t>
            </a:r>
            <a:endParaRPr lang="ko-KR" altLang="ko-KR" b="1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ko-KR" b="1" dirty="0"/>
              <a:t>괴물 형태</a:t>
            </a:r>
          </a:p>
          <a:p>
            <a:pPr>
              <a:lnSpc>
                <a:spcPct val="120000"/>
              </a:lnSpc>
            </a:pPr>
            <a:r>
              <a:rPr lang="ko-KR" altLang="ko-KR" dirty="0"/>
              <a:t>농구공 활용 </a:t>
            </a:r>
          </a:p>
          <a:p>
            <a:pPr>
              <a:lnSpc>
                <a:spcPct val="120000"/>
              </a:lnSpc>
            </a:pPr>
            <a:r>
              <a:rPr lang="ko-KR" altLang="ko-KR" dirty="0" err="1"/>
              <a:t>점프대</a:t>
            </a:r>
            <a:r>
              <a:rPr lang="ko-KR" altLang="ko-KR" dirty="0"/>
              <a:t> </a:t>
            </a:r>
            <a:r>
              <a:rPr lang="ko-KR" altLang="ko-KR" dirty="0" err="1"/>
              <a:t>기믹</a:t>
            </a:r>
            <a:r>
              <a:rPr lang="ko-KR" altLang="ko-KR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ko-KR" b="1" dirty="0"/>
              <a:t>핵심 연출</a:t>
            </a:r>
          </a:p>
          <a:p>
            <a:pPr>
              <a:lnSpc>
                <a:spcPct val="120000"/>
              </a:lnSpc>
            </a:pPr>
            <a:r>
              <a:rPr lang="ko-KR" altLang="ko-KR" dirty="0"/>
              <a:t>보스 몸속 진입</a:t>
            </a:r>
            <a:br>
              <a:rPr lang="en-US" altLang="ko-KR" dirty="0"/>
            </a:br>
            <a:r>
              <a:rPr lang="ko-KR" altLang="ko-KR" dirty="0"/>
              <a:t>↓</a:t>
            </a:r>
            <a:br>
              <a:rPr lang="en-US" altLang="ko-KR" dirty="0"/>
            </a:br>
            <a:r>
              <a:rPr lang="ko-KR" altLang="ko-KR" dirty="0"/>
              <a:t>펜던트 심장 발견</a:t>
            </a:r>
            <a:br>
              <a:rPr lang="en-US" altLang="ko-KR" dirty="0"/>
            </a:br>
            <a:r>
              <a:rPr lang="ko-KR" altLang="ko-KR" dirty="0"/>
              <a:t>↓</a:t>
            </a:r>
            <a:br>
              <a:rPr lang="en-US" altLang="ko-KR" dirty="0"/>
            </a:br>
            <a:r>
              <a:rPr lang="ko-KR" altLang="ko-KR" dirty="0"/>
              <a:t>괴물 형태 붕괴</a:t>
            </a:r>
          </a:p>
          <a:p>
            <a:pPr marL="0" indent="0">
              <a:lnSpc>
                <a:spcPct val="120000"/>
              </a:lnSpc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/>
              <a:t>[</a:t>
            </a:r>
            <a:r>
              <a:rPr lang="ko-KR" altLang="ko-KR" b="1" dirty="0" err="1"/>
              <a:t>Phase</a:t>
            </a:r>
            <a:r>
              <a:rPr lang="ko-KR" altLang="ko-KR" b="1" dirty="0"/>
              <a:t> 2</a:t>
            </a:r>
            <a:r>
              <a:rPr lang="en-US" altLang="ko-KR" b="1" dirty="0"/>
              <a:t>]</a:t>
            </a:r>
            <a:endParaRPr lang="ko-KR" altLang="ko-KR" b="1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ko-KR" b="1" dirty="0"/>
              <a:t>인간 형태</a:t>
            </a:r>
          </a:p>
          <a:p>
            <a:pPr>
              <a:lnSpc>
                <a:spcPct val="120000"/>
              </a:lnSpc>
            </a:pPr>
            <a:r>
              <a:rPr lang="ko-KR" altLang="ko-KR" dirty="0"/>
              <a:t>막기 학습 </a:t>
            </a:r>
          </a:p>
          <a:p>
            <a:pPr>
              <a:lnSpc>
                <a:spcPct val="120000"/>
              </a:lnSpc>
            </a:pPr>
            <a:r>
              <a:rPr lang="ko-KR" altLang="ko-KR" dirty="0"/>
              <a:t>비눗방울 패턴 </a:t>
            </a:r>
          </a:p>
          <a:p>
            <a:pPr marL="0" indent="0">
              <a:lnSpc>
                <a:spcPct val="120000"/>
              </a:lnSpc>
              <a:buNone/>
            </a:pPr>
            <a:br>
              <a:rPr lang="ko-KR" altLang="ko-KR" dirty="0"/>
            </a:br>
            <a:endParaRPr lang="ko-KR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ko-KR" b="1" dirty="0"/>
              <a:t>핵심 연출</a:t>
            </a:r>
          </a:p>
          <a:p>
            <a:pPr>
              <a:lnSpc>
                <a:spcPct val="120000"/>
              </a:lnSpc>
            </a:pPr>
            <a:r>
              <a:rPr lang="ko-KR" altLang="ko-KR" dirty="0" err="1"/>
              <a:t>비눗방울을</a:t>
            </a:r>
            <a:r>
              <a:rPr lang="ko-KR" altLang="ko-KR" dirty="0"/>
              <a:t> 통해 과거 추억 표현</a:t>
            </a:r>
          </a:p>
        </p:txBody>
      </p:sp>
    </p:spTree>
    <p:extLst>
      <p:ext uri="{BB962C8B-B14F-4D97-AF65-F5344CB8AC3E}">
        <p14:creationId xmlns:p14="http://schemas.microsoft.com/office/powerpoint/2010/main" val="82330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1F6CA-5B2A-4C99-80DD-3F0A3F81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8FDD5-8FC3-556B-28B5-47C90E20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챕터 엔딩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5960D6-CDA9-ABBE-2524-7CF3CD3F1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80054"/>
            <a:ext cx="5257800" cy="4351338"/>
          </a:xfrm>
        </p:spPr>
        <p:txBody>
          <a:bodyPr>
            <a:normAutofit/>
          </a:bodyPr>
          <a:lstStyle/>
          <a:p>
            <a:r>
              <a:rPr lang="ko-KR" altLang="ko-KR" sz="1600" b="1" dirty="0"/>
              <a:t>주요 연출</a:t>
            </a:r>
          </a:p>
          <a:p>
            <a:pPr marL="0" indent="0">
              <a:buNone/>
            </a:pPr>
            <a:r>
              <a:rPr lang="ko-KR" altLang="ko-KR" sz="1600" dirty="0"/>
              <a:t>보스</a:t>
            </a:r>
          </a:p>
          <a:p>
            <a:pPr marL="0" indent="0">
              <a:buNone/>
            </a:pPr>
            <a:r>
              <a:rPr lang="en-US" altLang="ko-KR" sz="1600" dirty="0"/>
              <a:t>-----------------------------------------</a:t>
            </a:r>
          </a:p>
          <a:p>
            <a:pPr marL="0" indent="0">
              <a:buNone/>
            </a:pPr>
            <a:r>
              <a:rPr lang="ko-KR" altLang="ko-KR" sz="1600" dirty="0"/>
              <a:t>"괜찮아... 쉬고 싶었어..."</a:t>
            </a:r>
          </a:p>
          <a:p>
            <a:pPr marL="0" indent="0">
              <a:buNone/>
            </a:pPr>
            <a:r>
              <a:rPr lang="en-US" altLang="ko-KR" sz="1600" dirty="0"/>
              <a:t>-----------------------------------------</a:t>
            </a:r>
            <a:br>
              <a:rPr lang="ko-KR" altLang="ko-KR" sz="1600" dirty="0"/>
            </a:br>
            <a:endParaRPr lang="ko-KR" altLang="ko-KR" sz="1600" dirty="0"/>
          </a:p>
          <a:p>
            <a:pPr marL="0" indent="0">
              <a:buNone/>
            </a:pPr>
            <a:r>
              <a:rPr lang="ko-KR" altLang="ko-KR" sz="1600" dirty="0"/>
              <a:t>보스 소멸</a:t>
            </a:r>
          </a:p>
          <a:p>
            <a:pPr marL="0" indent="0">
              <a:buNone/>
            </a:pPr>
            <a:r>
              <a:rPr lang="ko-KR" altLang="ko-KR" sz="1600" dirty="0"/>
              <a:t>↓</a:t>
            </a:r>
          </a:p>
          <a:p>
            <a:pPr marL="0" indent="0">
              <a:buNone/>
            </a:pPr>
            <a:r>
              <a:rPr lang="ko-KR" altLang="ko-KR" sz="1600" dirty="0"/>
              <a:t>괴물의 정체 공개</a:t>
            </a:r>
          </a:p>
          <a:p>
            <a:pPr marL="0" indent="0">
              <a:buNone/>
            </a:pPr>
            <a:r>
              <a:rPr lang="ko-KR" altLang="ko-KR" sz="1600" dirty="0"/>
              <a:t>↓</a:t>
            </a:r>
          </a:p>
          <a:p>
            <a:pPr marL="0" indent="0">
              <a:buNone/>
            </a:pPr>
            <a:r>
              <a:rPr lang="ko-KR" altLang="ko-KR" sz="1600" dirty="0"/>
              <a:t>전국 생중계</a:t>
            </a:r>
          </a:p>
          <a:p>
            <a:pPr marL="0" indent="0">
              <a:buNone/>
            </a:pPr>
            <a:r>
              <a:rPr lang="ko-KR" altLang="ko-KR" sz="1600" dirty="0"/>
              <a:t>↓</a:t>
            </a:r>
          </a:p>
          <a:p>
            <a:pPr marL="0" indent="0">
              <a:buNone/>
            </a:pPr>
            <a:r>
              <a:rPr lang="ko-KR" altLang="ko-KR" sz="1600" dirty="0"/>
              <a:t>선의관리청 호출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F1F781F-495E-1F5D-108A-59E58118D7B3}"/>
              </a:ext>
            </a:extLst>
          </p:cNvPr>
          <p:cNvSpPr txBox="1">
            <a:spLocks/>
          </p:cNvSpPr>
          <p:nvPr/>
        </p:nvSpPr>
        <p:spPr>
          <a:xfrm>
            <a:off x="6934200" y="365125"/>
            <a:ext cx="5257800" cy="6231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500" b="1" dirty="0"/>
              <a:t>[</a:t>
            </a:r>
            <a:r>
              <a:rPr lang="ko-KR" altLang="ko-KR" sz="1500" b="1" dirty="0"/>
              <a:t>챕터 결과</a:t>
            </a:r>
            <a:r>
              <a:rPr lang="en-US" altLang="ko-KR" sz="1500" b="1" dirty="0"/>
              <a:t>]</a:t>
            </a:r>
            <a:endParaRPr lang="ko-KR" altLang="ko-KR" sz="1500" b="1" dirty="0"/>
          </a:p>
          <a:p>
            <a:pPr marL="0" indent="0">
              <a:buNone/>
            </a:pPr>
            <a:r>
              <a:rPr lang="ko-KR" altLang="ko-KR" sz="1500" b="1" dirty="0"/>
              <a:t>플레이어</a:t>
            </a:r>
          </a:p>
          <a:p>
            <a:r>
              <a:rPr lang="ko-KR" altLang="ko-KR" sz="1500" dirty="0"/>
              <a:t>괴물이 인간이었다는 사실 확인</a:t>
            </a:r>
          </a:p>
          <a:p>
            <a:pPr marL="0" indent="0">
              <a:buNone/>
            </a:pPr>
            <a:br>
              <a:rPr lang="ko-KR" altLang="ko-KR" sz="1500" dirty="0"/>
            </a:br>
            <a:endParaRPr lang="ko-KR" altLang="ko-KR" sz="1500" dirty="0"/>
          </a:p>
          <a:p>
            <a:pPr marL="0" indent="0">
              <a:buNone/>
            </a:pPr>
            <a:r>
              <a:rPr lang="ko-KR" altLang="ko-KR" sz="1500" b="1" dirty="0"/>
              <a:t>세계관</a:t>
            </a:r>
          </a:p>
          <a:p>
            <a:r>
              <a:rPr lang="ko-KR" altLang="ko-KR" sz="1500" dirty="0"/>
              <a:t>균열 현상에 대한 기존 상식 붕괴</a:t>
            </a:r>
          </a:p>
          <a:p>
            <a:pPr marL="0" indent="0">
              <a:buNone/>
            </a:pPr>
            <a:br>
              <a:rPr lang="ko-KR" altLang="ko-KR" sz="1500" dirty="0"/>
            </a:br>
            <a:endParaRPr lang="ko-KR" altLang="ko-KR" sz="1500" dirty="0"/>
          </a:p>
          <a:p>
            <a:pPr marL="0" indent="0">
              <a:buNone/>
            </a:pPr>
            <a:r>
              <a:rPr lang="ko-KR" altLang="ko-KR" sz="1500" b="1" dirty="0"/>
              <a:t>다음 목표</a:t>
            </a:r>
          </a:p>
          <a:p>
            <a:r>
              <a:rPr lang="ko-KR" altLang="ko-KR" sz="1500" dirty="0"/>
              <a:t>선의관리청 복귀</a:t>
            </a:r>
          </a:p>
        </p:txBody>
      </p:sp>
    </p:spTree>
    <p:extLst>
      <p:ext uri="{BB962C8B-B14F-4D97-AF65-F5344CB8AC3E}">
        <p14:creationId xmlns:p14="http://schemas.microsoft.com/office/powerpoint/2010/main" val="3181385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147A5-4B95-2FCF-E3D0-84EB8490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01F1D-1A1D-93B7-7DD3-EC60B4282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감정 곡선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BF4E6E-67DE-B143-E897-66B21E0EE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80054"/>
            <a:ext cx="10123448" cy="82519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500" dirty="0"/>
              <a:t>불안 → 호기심 → 긴장 → 공포 → 성취 → 불쾌함 → 안타까움 → 결의 → 슬픔 → 충격</a:t>
            </a:r>
            <a:endParaRPr lang="ko-KR" altLang="ko-KR" sz="15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80D7878-2786-78A2-3E60-1DB0DD9F846D}"/>
              </a:ext>
            </a:extLst>
          </p:cNvPr>
          <p:cNvSpPr txBox="1">
            <a:spLocks/>
          </p:cNvSpPr>
          <p:nvPr/>
        </p:nvSpPr>
        <p:spPr>
          <a:xfrm>
            <a:off x="838200" y="3153655"/>
            <a:ext cx="10123448" cy="8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ko-KR" sz="1500" b="1" dirty="0"/>
              <a:t>설계 의도</a:t>
            </a:r>
          </a:p>
          <a:p>
            <a:r>
              <a:rPr lang="ko-KR" altLang="ko-KR" sz="1500" dirty="0"/>
              <a:t>플레이어가 보스를 단순한 적이 아닌</a:t>
            </a:r>
            <a:r>
              <a:rPr lang="en-US" altLang="ko-KR" sz="1500" dirty="0"/>
              <a:t> </a:t>
            </a:r>
            <a:r>
              <a:rPr lang="ko-KR" altLang="ko-KR" sz="1500" dirty="0"/>
              <a:t>"구원해야 할 </a:t>
            </a:r>
            <a:r>
              <a:rPr lang="ko-KR" altLang="ko-KR" sz="1500" dirty="0" err="1"/>
              <a:t>친구“로</a:t>
            </a:r>
            <a:r>
              <a:rPr lang="ko-KR" altLang="ko-KR" sz="1500" dirty="0"/>
              <a:t> 인식하도록 설계</a:t>
            </a:r>
          </a:p>
        </p:txBody>
      </p:sp>
    </p:spTree>
    <p:extLst>
      <p:ext uri="{BB962C8B-B14F-4D97-AF65-F5344CB8AC3E}">
        <p14:creationId xmlns:p14="http://schemas.microsoft.com/office/powerpoint/2010/main" val="1340913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560</Words>
  <Application>Microsoft Office PowerPoint</Application>
  <PresentationFormat>와이드스크린</PresentationFormat>
  <Paragraphs>200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폐교 챕터 개요</vt:lpstr>
      <vt:lpstr>플레이 동선</vt:lpstr>
      <vt:lpstr>학습 곡선</vt:lpstr>
      <vt:lpstr>본관 1층</vt:lpstr>
      <vt:lpstr>본관 3층</vt:lpstr>
      <vt:lpstr>본관 2층</vt:lpstr>
      <vt:lpstr>평범한 학교</vt:lpstr>
      <vt:lpstr>강당 보스전</vt:lpstr>
      <vt:lpstr>챕터 엔딩</vt:lpstr>
      <vt:lpstr>감정 곡선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2026-06-12T14:09:07Z</dcterms:created>
  <dcterms:modified xsi:type="dcterms:W3CDTF">2026-06-12T14:33:21Z</dcterms:modified>
</cp:coreProperties>
</file>