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1" r:id="rId5"/>
    <p:sldId id="260" r:id="rId6"/>
    <p:sldId id="262" r:id="rId7"/>
    <p:sldId id="263" r:id="rId8"/>
    <p:sldId id="264" r:id="rId9"/>
    <p:sldId id="265" r:id="rId10"/>
    <p:sldId id="282" r:id="rId11"/>
    <p:sldId id="266" r:id="rId12"/>
    <p:sldId id="267" r:id="rId13"/>
    <p:sldId id="268" r:id="rId14"/>
    <p:sldId id="269" r:id="rId15"/>
    <p:sldId id="271" r:id="rId16"/>
    <p:sldId id="270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34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28354-B743-43C3-B390-84B1DA6E2C4C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F4D35-6B89-4BF7-AD38-2E44950D94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1090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28354-B743-43C3-B390-84B1DA6E2C4C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F4D35-6B89-4BF7-AD38-2E44950D94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5919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28354-B743-43C3-B390-84B1DA6E2C4C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F4D35-6B89-4BF7-AD38-2E44950D94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556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28354-B743-43C3-B390-84B1DA6E2C4C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F4D35-6B89-4BF7-AD38-2E44950D94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3256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28354-B743-43C3-B390-84B1DA6E2C4C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F4D35-6B89-4BF7-AD38-2E44950D94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1607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28354-B743-43C3-B390-84B1DA6E2C4C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F4D35-6B89-4BF7-AD38-2E44950D94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0891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28354-B743-43C3-B390-84B1DA6E2C4C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F4D35-6B89-4BF7-AD38-2E44950D94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0448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28354-B743-43C3-B390-84B1DA6E2C4C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F4D35-6B89-4BF7-AD38-2E44950D94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5745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28354-B743-43C3-B390-84B1DA6E2C4C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F4D35-6B89-4BF7-AD38-2E44950D94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7013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28354-B743-43C3-B390-84B1DA6E2C4C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F4D35-6B89-4BF7-AD38-2E44950D94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7640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28354-B743-43C3-B390-84B1DA6E2C4C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F4D35-6B89-4BF7-AD38-2E44950D94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0408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628354-B743-43C3-B390-84B1DA6E2C4C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FF4D35-6B89-4BF7-AD38-2E44950D94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6904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상호작용 구조물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65747" y="1825625"/>
            <a:ext cx="10860506" cy="4351338"/>
          </a:xfrm>
        </p:spPr>
        <p:txBody>
          <a:bodyPr/>
          <a:lstStyle/>
          <a:p>
            <a:r>
              <a:rPr lang="ko-KR" altLang="en-US" smtClean="0"/>
              <a:t>트리거</a:t>
            </a:r>
            <a:r>
              <a:rPr lang="en-US" altLang="ko-KR" smtClean="0"/>
              <a:t>1</a:t>
            </a:r>
            <a:r>
              <a:rPr lang="ko-KR" altLang="en-US" smtClean="0"/>
              <a:t>과 트리거</a:t>
            </a:r>
            <a:r>
              <a:rPr lang="en-US" altLang="ko-KR" smtClean="0"/>
              <a:t>2</a:t>
            </a:r>
            <a:endParaRPr lang="en-US" altLang="ko-KR"/>
          </a:p>
          <a:p>
            <a:pPr lvl="1"/>
            <a:r>
              <a:rPr lang="ko-KR" altLang="en-US" smtClean="0"/>
              <a:t>각각의 트리거 상태 </a:t>
            </a:r>
            <a:r>
              <a:rPr lang="en-US" altLang="ko-KR" smtClean="0"/>
              <a:t>(</a:t>
            </a:r>
            <a:r>
              <a:rPr lang="ko-KR" altLang="en-US" smtClean="0"/>
              <a:t>예 </a:t>
            </a:r>
            <a:r>
              <a:rPr lang="en-US" altLang="ko-KR" smtClean="0"/>
              <a:t>: on/off)</a:t>
            </a:r>
            <a:r>
              <a:rPr lang="ko-KR" altLang="en-US" smtClean="0"/>
              <a:t>에 따라 </a:t>
            </a:r>
            <a:r>
              <a:rPr lang="en-US" altLang="ko-KR" smtClean="0"/>
              <a:t>=&gt; </a:t>
            </a:r>
            <a:r>
              <a:rPr lang="ko-KR" altLang="en-US" smtClean="0"/>
              <a:t>이것이 바로 퀘스트의 조건</a:t>
            </a:r>
            <a:endParaRPr lang="en-US" altLang="ko-KR" smtClean="0"/>
          </a:p>
          <a:p>
            <a:pPr lvl="1"/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트리거</a:t>
            </a:r>
            <a:r>
              <a:rPr lang="en-US" altLang="ko-KR" smtClean="0"/>
              <a:t>1</a:t>
            </a:r>
            <a:r>
              <a:rPr lang="ko-KR" altLang="en-US" smtClean="0"/>
              <a:t>이 </a:t>
            </a:r>
            <a:r>
              <a:rPr lang="en-US" altLang="ko-KR" smtClean="0"/>
              <a:t>on</a:t>
            </a:r>
            <a:r>
              <a:rPr lang="ko-KR" altLang="en-US" smtClean="0"/>
              <a:t>돼있는지 </a:t>
            </a:r>
            <a:r>
              <a:rPr lang="en-US" altLang="ko-KR" smtClean="0"/>
              <a:t>– yes &gt; </a:t>
            </a:r>
            <a:r>
              <a:rPr lang="ko-KR" altLang="en-US" smtClean="0"/>
              <a:t>트리거 </a:t>
            </a:r>
            <a:r>
              <a:rPr lang="en-US" altLang="ko-KR" smtClean="0"/>
              <a:t>2</a:t>
            </a:r>
            <a:r>
              <a:rPr lang="ko-KR" altLang="en-US" smtClean="0"/>
              <a:t>를 어떻게 해야 하는지</a:t>
            </a:r>
            <a:r>
              <a:rPr lang="en-US" altLang="ko-KR"/>
              <a:t/>
            </a:r>
            <a:br>
              <a:rPr lang="en-US" altLang="ko-KR"/>
            </a:br>
            <a:r>
              <a:rPr lang="en-US" altLang="ko-KR" smtClean="0"/>
              <a:t>				       - no &gt; </a:t>
            </a:r>
            <a:r>
              <a:rPr lang="ko-KR" altLang="en-US" smtClean="0"/>
              <a:t>트리거 </a:t>
            </a:r>
            <a:r>
              <a:rPr lang="en-US" altLang="ko-KR" smtClean="0"/>
              <a:t>1</a:t>
            </a:r>
            <a:r>
              <a:rPr lang="ko-KR" altLang="en-US" smtClean="0"/>
              <a:t>을 </a:t>
            </a:r>
            <a:r>
              <a:rPr lang="en-US" altLang="ko-KR" smtClean="0"/>
              <a:t>on </a:t>
            </a:r>
            <a:r>
              <a:rPr lang="ko-KR" altLang="en-US" smtClean="0"/>
              <a:t>해야 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모델링 디자이너들</a:t>
            </a:r>
            <a:endParaRPr lang="en-US" altLang="ko-KR" smtClean="0"/>
          </a:p>
          <a:p>
            <a:pPr lvl="1"/>
            <a:r>
              <a:rPr lang="en-US" altLang="ko-KR" smtClean="0"/>
              <a:t>Before</a:t>
            </a:r>
            <a:r>
              <a:rPr lang="ko-KR" altLang="en-US" smtClean="0"/>
              <a:t>와 </a:t>
            </a:r>
            <a:r>
              <a:rPr lang="en-US" altLang="ko-KR" smtClean="0"/>
              <a:t>After</a:t>
            </a:r>
            <a:r>
              <a:rPr lang="ko-KR" altLang="en-US" smtClean="0"/>
              <a:t>의 모델링을 각각 그려낸다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동작하는 모델과 그냥 모델을 각각 그려준다</a:t>
            </a:r>
            <a:r>
              <a:rPr lang="en-US" altLang="ko-KR" smtClean="0"/>
              <a:t>.</a:t>
            </a:r>
            <a:endParaRPr lang="en-US" altLang="ko-KR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5600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어제까지 배운 내용들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65747" y="1825625"/>
            <a:ext cx="10860506" cy="4351338"/>
          </a:xfrm>
        </p:spPr>
        <p:txBody>
          <a:bodyPr/>
          <a:lstStyle/>
          <a:p>
            <a:r>
              <a:rPr lang="ko-KR" altLang="en-US" smtClean="0"/>
              <a:t>발동 조건들의 세부 내용들까지 암기하자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7644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진행 조건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ko-KR" altLang="en-US" smtClean="0"/>
              <a:t>직렬식 조건 </a:t>
            </a:r>
            <a:r>
              <a:rPr lang="en-US" altLang="ko-KR" smtClean="0"/>
              <a:t>(Direct) : </a:t>
            </a:r>
            <a:r>
              <a:rPr lang="ko-KR" altLang="en-US" smtClean="0"/>
              <a:t>순서상</a:t>
            </a:r>
            <a:r>
              <a:rPr lang="en-US" altLang="ko-KR" smtClean="0"/>
              <a:t>, </a:t>
            </a:r>
            <a:r>
              <a:rPr lang="ko-KR" altLang="en-US" smtClean="0"/>
              <a:t>이전의 조건을 달성해야 다음 조건을 수행할 수 있는 조건</a:t>
            </a:r>
            <a:endParaRPr lang="en-US" altLang="ko-KR" smtClean="0"/>
          </a:p>
          <a:p>
            <a:pPr lvl="1"/>
            <a:r>
              <a:rPr lang="ko-KR" altLang="en-US" smtClean="0"/>
              <a:t>예</a:t>
            </a:r>
            <a:r>
              <a:rPr lang="en-US" altLang="ko-KR" smtClean="0"/>
              <a:t>1) </a:t>
            </a:r>
            <a:r>
              <a:rPr lang="ko-KR" altLang="en-US" smtClean="0"/>
              <a:t>조건</a:t>
            </a:r>
            <a:r>
              <a:rPr lang="en-US" altLang="ko-KR" smtClean="0"/>
              <a:t>1 </a:t>
            </a:r>
            <a:r>
              <a:rPr lang="ko-KR" altLang="en-US" smtClean="0"/>
              <a:t>성공 후 조건</a:t>
            </a:r>
            <a:r>
              <a:rPr lang="en-US" altLang="ko-KR" smtClean="0"/>
              <a:t>2 </a:t>
            </a:r>
            <a:r>
              <a:rPr lang="ko-KR" altLang="en-US" smtClean="0"/>
              <a:t>실패 시</a:t>
            </a:r>
            <a:r>
              <a:rPr lang="en-US" altLang="ko-KR"/>
              <a:t/>
            </a:r>
            <a:br>
              <a:rPr lang="en-US" altLang="ko-KR"/>
            </a:br>
            <a:r>
              <a:rPr lang="en-US" altLang="ko-KR" smtClean="0"/>
              <a:t>	   =&gt; </a:t>
            </a:r>
            <a:r>
              <a:rPr lang="ko-KR" altLang="en-US" smtClean="0"/>
              <a:t>조건</a:t>
            </a:r>
            <a:r>
              <a:rPr lang="en-US" altLang="ko-KR" smtClean="0"/>
              <a:t>1</a:t>
            </a:r>
            <a:r>
              <a:rPr lang="ko-KR" altLang="en-US" smtClean="0"/>
              <a:t>부터 다시</a:t>
            </a:r>
            <a:r>
              <a:rPr lang="en-US" altLang="ko-KR"/>
              <a:t/>
            </a:r>
            <a:br>
              <a:rPr lang="en-US" altLang="ko-KR"/>
            </a:br>
            <a:r>
              <a:rPr lang="en-US" altLang="ko-KR" smtClean="0"/>
              <a:t>	   =&gt; </a:t>
            </a:r>
            <a:r>
              <a:rPr lang="ko-KR" altLang="en-US" smtClean="0"/>
              <a:t>조건</a:t>
            </a:r>
            <a:r>
              <a:rPr lang="en-US" altLang="ko-KR" smtClean="0"/>
              <a:t>2 </a:t>
            </a:r>
            <a:r>
              <a:rPr lang="ko-KR" altLang="en-US" smtClean="0"/>
              <a:t>앞에서부터 다시</a:t>
            </a:r>
            <a:endParaRPr lang="en-US" altLang="ko-KR" smtClean="0"/>
          </a:p>
          <a:p>
            <a:pPr lvl="1"/>
            <a:r>
              <a:rPr lang="ko-KR" altLang="en-US" smtClean="0"/>
              <a:t>예</a:t>
            </a:r>
            <a:r>
              <a:rPr lang="en-US" altLang="ko-KR" smtClean="0"/>
              <a:t>2) 5</a:t>
            </a:r>
            <a:r>
              <a:rPr lang="ko-KR" altLang="en-US" smtClean="0"/>
              <a:t>분 안에 조건 </a:t>
            </a:r>
            <a:r>
              <a:rPr lang="en-US" altLang="ko-KR" smtClean="0"/>
              <a:t>3</a:t>
            </a:r>
            <a:r>
              <a:rPr lang="ko-KR" altLang="en-US" smtClean="0"/>
              <a:t>개 달성하기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mtClean="0"/>
              <a:t>	   =&gt; </a:t>
            </a:r>
            <a:r>
              <a:rPr lang="ko-KR" altLang="en-US" smtClean="0"/>
              <a:t>조건</a:t>
            </a:r>
            <a:r>
              <a:rPr lang="en-US" altLang="ko-KR" smtClean="0"/>
              <a:t>3</a:t>
            </a:r>
            <a:r>
              <a:rPr lang="ko-KR" altLang="en-US" smtClean="0"/>
              <a:t>을 실패하면 </a:t>
            </a:r>
            <a:r>
              <a:rPr lang="en-US" altLang="ko-KR" smtClean="0"/>
              <a:t>-&gt; </a:t>
            </a:r>
            <a:r>
              <a:rPr lang="ko-KR" altLang="en-US" smtClean="0"/>
              <a:t>조건</a:t>
            </a:r>
            <a:r>
              <a:rPr lang="en-US" altLang="ko-KR" smtClean="0"/>
              <a:t>1</a:t>
            </a:r>
            <a:r>
              <a:rPr lang="ko-KR" altLang="en-US" smtClean="0"/>
              <a:t>부터 다시</a:t>
            </a:r>
            <a:endParaRPr lang="en-US" altLang="ko-KR" smtClean="0"/>
          </a:p>
          <a:p>
            <a:r>
              <a:rPr lang="ko-KR" altLang="en-US" smtClean="0"/>
              <a:t>병렬식 조건 </a:t>
            </a:r>
            <a:r>
              <a:rPr lang="en-US" altLang="ko-KR" smtClean="0"/>
              <a:t>: </a:t>
            </a:r>
            <a:r>
              <a:rPr lang="ko-KR" altLang="en-US" smtClean="0"/>
              <a:t>조건</a:t>
            </a:r>
            <a:r>
              <a:rPr lang="en-US" altLang="ko-KR" smtClean="0"/>
              <a:t>1~3 </a:t>
            </a:r>
            <a:r>
              <a:rPr lang="ko-KR" altLang="en-US" smtClean="0"/>
              <a:t>중 어떤 조건을 먼저 시작하든 상관업다</a:t>
            </a:r>
            <a:r>
              <a:rPr lang="en-US" altLang="ko-KR" smtClean="0"/>
              <a:t>. </a:t>
            </a:r>
            <a:r>
              <a:rPr lang="ko-KR" altLang="en-US" smtClean="0"/>
              <a:t>조건 </a:t>
            </a:r>
            <a:r>
              <a:rPr lang="en-US" altLang="ko-KR" smtClean="0"/>
              <a:t>3</a:t>
            </a:r>
            <a:r>
              <a:rPr lang="ko-KR" altLang="en-US" smtClean="0"/>
              <a:t>개를 모두 달성하기만 하면 된다</a:t>
            </a:r>
            <a:r>
              <a:rPr lang="en-US" altLang="ko-KR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15555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진행 조건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r>
              <a:rPr lang="ko-KR" altLang="en-US" smtClean="0"/>
              <a:t>진행 조건은 직렬과 병렬 구성</a:t>
            </a:r>
            <a:r>
              <a:rPr lang="en-US" altLang="ko-KR" smtClean="0"/>
              <a:t>, </a:t>
            </a:r>
            <a:r>
              <a:rPr lang="ko-KR" altLang="en-US" smtClean="0"/>
              <a:t>실패 시 어디서부터 다시 시작할 지를 구성하는 게 중요</a:t>
            </a:r>
            <a:endParaRPr lang="en-US" altLang="ko-KR" smtClean="0"/>
          </a:p>
          <a:p>
            <a:r>
              <a:rPr lang="ko-KR" altLang="en-US" smtClean="0"/>
              <a:t>실패했을 때 분기가 달라지는 경우도 있다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온라인 게임은 경쟁과 협동을 주요 요소로 하기 때문에</a:t>
            </a:r>
            <a:r>
              <a:rPr lang="en-US" altLang="ko-KR" smtClean="0"/>
              <a:t>, </a:t>
            </a:r>
            <a:r>
              <a:rPr lang="ko-KR" altLang="en-US" smtClean="0"/>
              <a:t>실패를 통해 분기를 만들어놓으면 상대적 박탈감을 느낄 수 있다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따라서 보상에 차등을 준다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But </a:t>
            </a:r>
            <a:r>
              <a:rPr lang="ko-KR" altLang="en-US" smtClean="0"/>
              <a:t>형평성 문제를 제시한다</a:t>
            </a:r>
            <a:r>
              <a:rPr lang="en-US" altLang="ko-KR" smtClean="0"/>
              <a:t>. </a:t>
            </a:r>
            <a:r>
              <a:rPr lang="ko-KR" altLang="en-US" smtClean="0"/>
              <a:t>따라서 온라인 게임은 분기를 안 만드는 게 좋다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분기가 있는 척 하고</a:t>
            </a:r>
            <a:r>
              <a:rPr lang="en-US" altLang="ko-KR" smtClean="0"/>
              <a:t>, </a:t>
            </a:r>
            <a:r>
              <a:rPr lang="ko-KR" altLang="en-US" smtClean="0"/>
              <a:t>어떤 루트로 가든 보상이 같게 해야 한다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콘솔 게임은 실패를 체크한다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2089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완료조건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ko-KR" altLang="en-US" smtClean="0"/>
              <a:t>콘텐츠를 수행했니</a:t>
            </a:r>
            <a:r>
              <a:rPr lang="en-US" altLang="ko-KR" smtClean="0"/>
              <a:t>? </a:t>
            </a:r>
            <a:r>
              <a:rPr lang="ko-KR" altLang="en-US" smtClean="0"/>
              <a:t>시스템을 수행하는 경험을 했니</a:t>
            </a:r>
            <a:r>
              <a:rPr lang="en-US" altLang="ko-KR" smtClean="0"/>
              <a:t>?</a:t>
            </a:r>
          </a:p>
          <a:p>
            <a:endParaRPr lang="en-US" altLang="ko-KR" smtClean="0"/>
          </a:p>
          <a:p>
            <a:r>
              <a:rPr lang="ko-KR" altLang="en-US" smtClean="0"/>
              <a:t>던전</a:t>
            </a:r>
            <a:r>
              <a:rPr lang="en-US" altLang="ko-KR" smtClean="0"/>
              <a:t>/</a:t>
            </a:r>
            <a:r>
              <a:rPr lang="ko-KR" altLang="en-US" smtClean="0"/>
              <a:t>투기장을 경험해봤니</a:t>
            </a:r>
            <a:r>
              <a:rPr lang="en-US" altLang="ko-KR" smtClean="0"/>
              <a:t>?</a:t>
            </a:r>
          </a:p>
          <a:p>
            <a:pPr lvl="1"/>
            <a:r>
              <a:rPr lang="en-US" altLang="ko-KR" smtClean="0"/>
              <a:t>Detail(</a:t>
            </a:r>
            <a:r>
              <a:rPr lang="ko-KR" altLang="en-US" smtClean="0"/>
              <a:t>승리</a:t>
            </a:r>
            <a:r>
              <a:rPr lang="en-US" altLang="ko-KR" smtClean="0"/>
              <a:t>/</a:t>
            </a:r>
            <a:r>
              <a:rPr lang="ko-KR" altLang="en-US" smtClean="0"/>
              <a:t>실패</a:t>
            </a:r>
            <a:r>
              <a:rPr lang="en-US" altLang="ko-KR" smtClean="0"/>
              <a:t>/</a:t>
            </a:r>
            <a:r>
              <a:rPr lang="ko-KR" altLang="en-US" smtClean="0"/>
              <a:t>무승부</a:t>
            </a:r>
            <a:r>
              <a:rPr lang="en-US" altLang="ko-KR" smtClean="0"/>
              <a:t>)</a:t>
            </a:r>
            <a:r>
              <a:rPr lang="ko-KR" altLang="en-US" smtClean="0"/>
              <a:t>이 유저마다 너무 다르다</a:t>
            </a:r>
            <a:r>
              <a:rPr lang="en-US" altLang="ko-KR" smtClean="0"/>
              <a:t>. </a:t>
            </a:r>
            <a:r>
              <a:rPr lang="ko-KR" altLang="en-US" smtClean="0"/>
              <a:t>따라서 참여 여부만 묻는 경우가 많다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개발자는 유저가 콘텐츠를 경험하게 하고</a:t>
            </a:r>
            <a:r>
              <a:rPr lang="en-US" altLang="ko-KR" smtClean="0"/>
              <a:t>, </a:t>
            </a:r>
            <a:r>
              <a:rPr lang="ko-KR" altLang="en-US" smtClean="0"/>
              <a:t>유저가 재미를 느끼게 하기 위해서 참여를 유도하는 게 매우 중요하다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승리</a:t>
            </a:r>
            <a:r>
              <a:rPr lang="en-US" altLang="ko-KR" smtClean="0"/>
              <a:t>/</a:t>
            </a:r>
            <a:r>
              <a:rPr lang="ko-KR" altLang="en-US" smtClean="0"/>
              <a:t>실패</a:t>
            </a:r>
            <a:r>
              <a:rPr lang="en-US" altLang="ko-KR" smtClean="0"/>
              <a:t>(</a:t>
            </a:r>
            <a:r>
              <a:rPr lang="ko-KR" altLang="en-US" smtClean="0"/>
              <a:t>콘솔 게임 외에는 </a:t>
            </a:r>
            <a:r>
              <a:rPr lang="en-US" altLang="ko-KR" smtClean="0"/>
              <a:t>‘</a:t>
            </a:r>
            <a:r>
              <a:rPr lang="ko-KR" altLang="en-US" smtClean="0"/>
              <a:t>실패</a:t>
            </a:r>
            <a:r>
              <a:rPr lang="en-US" altLang="ko-KR" smtClean="0"/>
              <a:t>‘</a:t>
            </a:r>
            <a:r>
              <a:rPr lang="ko-KR" altLang="en-US" smtClean="0"/>
              <a:t>를 잘 체크하지 않는다</a:t>
            </a:r>
            <a:r>
              <a:rPr lang="en-US" altLang="ko-KR" smtClean="0"/>
              <a:t>.)/</a:t>
            </a:r>
            <a:r>
              <a:rPr lang="ko-KR" altLang="en-US" smtClean="0"/>
              <a:t>무승부 같은 디테일을 세부적으로 잘 만들어야 한다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실패를 체크하면</a:t>
            </a:r>
            <a:r>
              <a:rPr lang="en-US" altLang="ko-KR" smtClean="0"/>
              <a:t>, </a:t>
            </a:r>
            <a:r>
              <a:rPr lang="ko-KR" altLang="en-US" smtClean="0"/>
              <a:t>어뷰징 유저들이 늘어날 수 있다</a:t>
            </a:r>
            <a:r>
              <a:rPr lang="en-US" altLang="ko-KR" smtClean="0"/>
              <a:t>.</a:t>
            </a:r>
          </a:p>
          <a:p>
            <a:pPr lvl="2"/>
            <a:r>
              <a:rPr lang="ko-KR" altLang="en-US" smtClean="0"/>
              <a:t>유저는 </a:t>
            </a:r>
            <a:r>
              <a:rPr lang="en-US" altLang="ko-KR" smtClean="0"/>
              <a:t>‘</a:t>
            </a:r>
            <a:r>
              <a:rPr lang="ko-KR" altLang="en-US" smtClean="0"/>
              <a:t>성장</a:t>
            </a:r>
            <a:r>
              <a:rPr lang="en-US" altLang="ko-KR" smtClean="0"/>
              <a:t>＇</a:t>
            </a:r>
            <a:r>
              <a:rPr lang="ko-KR" altLang="en-US" smtClean="0"/>
              <a:t>이 더 중요하기 때문에 퀘스트 완수에 목표를 더 둔다</a:t>
            </a:r>
            <a:r>
              <a:rPr lang="en-US" altLang="ko-KR" smtClean="0"/>
              <a:t>.</a:t>
            </a: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7609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완료조건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r>
              <a:rPr lang="ko-KR" altLang="en-US" smtClean="0"/>
              <a:t>몬스터를 잡았니</a:t>
            </a:r>
            <a:r>
              <a:rPr lang="en-US" altLang="ko-KR" smtClean="0"/>
              <a:t>?</a:t>
            </a:r>
            <a:endParaRPr lang="en-US" altLang="ko-KR"/>
          </a:p>
          <a:p>
            <a:r>
              <a:rPr lang="ko-KR" altLang="en-US" smtClean="0"/>
              <a:t>소극적인 유저들에게 부담을 주지 않게 잘 설계해야 한다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예</a:t>
            </a:r>
            <a:r>
              <a:rPr lang="en-US" altLang="ko-KR" smtClean="0"/>
              <a:t>) ‘</a:t>
            </a:r>
            <a:r>
              <a:rPr lang="ko-KR" altLang="en-US" smtClean="0"/>
              <a:t>파티장</a:t>
            </a:r>
            <a:r>
              <a:rPr lang="en-US" altLang="ko-KR" smtClean="0"/>
              <a:t>/</a:t>
            </a:r>
            <a:r>
              <a:rPr lang="ko-KR" altLang="en-US" smtClean="0"/>
              <a:t>공대장</a:t>
            </a:r>
            <a:r>
              <a:rPr lang="en-US" altLang="ko-KR" smtClean="0"/>
              <a:t>/</a:t>
            </a:r>
            <a:r>
              <a:rPr lang="ko-KR" altLang="en-US" smtClean="0"/>
              <a:t>길드장</a:t>
            </a:r>
            <a:r>
              <a:rPr lang="en-US" altLang="ko-KR" smtClean="0"/>
              <a:t>’</a:t>
            </a:r>
            <a:r>
              <a:rPr lang="ko-KR" altLang="en-US" smtClean="0"/>
              <a:t>으로 몬스터를 킬했니</a:t>
            </a:r>
            <a:r>
              <a:rPr lang="en-US" altLang="ko-KR" smtClean="0"/>
              <a:t>?</a:t>
            </a:r>
          </a:p>
          <a:p>
            <a:pPr lvl="1"/>
            <a:r>
              <a:rPr lang="ko-KR" altLang="en-US" smtClean="0"/>
              <a:t>우리가 어떤 조건들을 설정하느냐에 따라서 플레이어들 간의 관계가 형성되기도 한다</a:t>
            </a:r>
            <a:r>
              <a:rPr lang="en-US" altLang="ko-KR" smtClean="0"/>
              <a:t>.</a:t>
            </a:r>
          </a:p>
          <a:p>
            <a:pPr lvl="1"/>
            <a:endParaRPr lang="en-US" altLang="ko-KR"/>
          </a:p>
          <a:p>
            <a:r>
              <a:rPr lang="ko-KR" altLang="en-US" smtClean="0"/>
              <a:t>아이템을 획득했니</a:t>
            </a:r>
            <a:r>
              <a:rPr lang="en-US" altLang="ko-KR" smtClean="0"/>
              <a:t>?</a:t>
            </a:r>
          </a:p>
          <a:p>
            <a:pPr lvl="1"/>
            <a:r>
              <a:rPr lang="en-US" altLang="ko-KR" smtClean="0"/>
              <a:t>‘</a:t>
            </a:r>
            <a:r>
              <a:rPr lang="ko-KR" altLang="en-US" smtClean="0"/>
              <a:t>누가</a:t>
            </a:r>
            <a:r>
              <a:rPr lang="en-US" altLang="ko-KR" smtClean="0"/>
              <a:t>’ </a:t>
            </a:r>
            <a:r>
              <a:rPr lang="ko-KR" altLang="en-US" smtClean="0"/>
              <a:t>만든 아이템을 가져와줄래</a:t>
            </a:r>
            <a:r>
              <a:rPr lang="en-US" altLang="ko-KR" smtClean="0"/>
              <a:t>? =&gt; </a:t>
            </a:r>
            <a:r>
              <a:rPr lang="ko-KR" altLang="en-US" smtClean="0"/>
              <a:t>커뮤니티</a:t>
            </a:r>
            <a:r>
              <a:rPr lang="en-US" altLang="ko-KR" smtClean="0"/>
              <a:t>/</a:t>
            </a:r>
            <a:r>
              <a:rPr lang="ko-KR" altLang="en-US" smtClean="0"/>
              <a:t>스토리가 된다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니가 획득한 아이템</a:t>
            </a:r>
            <a:r>
              <a:rPr lang="en-US" altLang="ko-KR" smtClean="0"/>
              <a:t>, </a:t>
            </a:r>
            <a:r>
              <a:rPr lang="ko-KR" altLang="en-US" smtClean="0"/>
              <a:t>착용도 했니</a:t>
            </a:r>
            <a:r>
              <a:rPr lang="en-US" altLang="ko-KR" smtClean="0"/>
              <a:t>? =&gt; </a:t>
            </a:r>
            <a:r>
              <a:rPr lang="ko-KR" altLang="en-US" smtClean="0"/>
              <a:t>착용 시 귀속되는 아이템</a:t>
            </a:r>
            <a:endParaRPr lang="en-US" altLang="ko-KR" smtClean="0"/>
          </a:p>
          <a:p>
            <a:pPr lvl="2"/>
            <a:r>
              <a:rPr lang="ko-KR" altLang="en-US" smtClean="0"/>
              <a:t>경매장에 팔지 말고</a:t>
            </a:r>
            <a:r>
              <a:rPr lang="en-US" altLang="ko-KR" smtClean="0"/>
              <a:t>, </a:t>
            </a:r>
            <a:r>
              <a:rPr lang="ko-KR" altLang="en-US" smtClean="0"/>
              <a:t>니가 착용해서 사용하라고</a:t>
            </a:r>
            <a:r>
              <a:rPr lang="en-US" altLang="ko-KR" smtClean="0"/>
              <a:t>.</a:t>
            </a:r>
            <a:endParaRPr lang="en-US" altLang="ko-KR"/>
          </a:p>
          <a:p>
            <a:pPr lvl="1"/>
            <a:r>
              <a:rPr lang="en-US" altLang="ko-KR" smtClean="0"/>
              <a:t>4</a:t>
            </a:r>
            <a:r>
              <a:rPr lang="ko-KR" altLang="en-US" smtClean="0"/>
              <a:t>단계 때 강화 실패 시 부서질 수도 있는 아이템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mtClean="0"/>
              <a:t>=&gt; 5</a:t>
            </a:r>
            <a:r>
              <a:rPr lang="ko-KR" altLang="en-US" smtClean="0"/>
              <a:t>단계까지 강화해오라는 퀘스트 설계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mtClean="0"/>
              <a:t>=&gt; </a:t>
            </a:r>
            <a:r>
              <a:rPr lang="ko-KR" altLang="en-US" smtClean="0"/>
              <a:t>강화 확률 올려주는 아이템</a:t>
            </a:r>
            <a:r>
              <a:rPr lang="en-US" altLang="ko-KR" smtClean="0"/>
              <a:t>, </a:t>
            </a:r>
            <a:r>
              <a:rPr lang="ko-KR" altLang="en-US" smtClean="0"/>
              <a:t>실패를 한 번 막아주는 아이템을 상점에 팔면</a:t>
            </a:r>
            <a:r>
              <a:rPr lang="en-US" altLang="ko-KR" smtClean="0"/>
              <a:t>, </a:t>
            </a:r>
            <a:r>
              <a:rPr lang="ko-KR" altLang="en-US" smtClean="0"/>
              <a:t>고객들은 돈을 쓰게 된다</a:t>
            </a:r>
            <a:r>
              <a:rPr lang="en-US" altLang="ko-KR" smtClean="0"/>
              <a:t>.</a:t>
            </a:r>
            <a:endParaRPr lang="en-US" altLang="ko-KR"/>
          </a:p>
          <a:p>
            <a:endParaRPr lang="en-US" altLang="ko-KR" smtClean="0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7236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완료조건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49179" y="1825624"/>
            <a:ext cx="11293642" cy="5032375"/>
          </a:xfrm>
        </p:spPr>
        <p:txBody>
          <a:bodyPr>
            <a:normAutofit/>
          </a:bodyPr>
          <a:lstStyle/>
          <a:p>
            <a:r>
              <a:rPr lang="ko-KR" altLang="en-US" smtClean="0"/>
              <a:t>위치 정보 만족</a:t>
            </a:r>
            <a:endParaRPr lang="en-US" altLang="ko-KR" smtClean="0"/>
          </a:p>
          <a:p>
            <a:pPr lvl="1"/>
            <a:r>
              <a:rPr lang="en-US" altLang="ko-KR" smtClean="0"/>
              <a:t>Player Character</a:t>
            </a:r>
            <a:r>
              <a:rPr lang="ko-KR" altLang="en-US" smtClean="0"/>
              <a:t>뿐만 아니라 </a:t>
            </a:r>
            <a:r>
              <a:rPr lang="en-US" altLang="ko-KR" smtClean="0"/>
              <a:t>NPC, Monster, Event Object</a:t>
            </a:r>
            <a:r>
              <a:rPr lang="ko-KR" altLang="en-US" smtClean="0"/>
              <a:t>의 위치까지 활용할 수 있다</a:t>
            </a:r>
            <a:r>
              <a:rPr lang="en-US" altLang="ko-KR" smtClean="0"/>
              <a:t>.</a:t>
            </a:r>
          </a:p>
          <a:p>
            <a:pPr lvl="2"/>
            <a:r>
              <a:rPr lang="ko-KR" altLang="en-US" smtClean="0"/>
              <a:t>예</a:t>
            </a:r>
            <a:r>
              <a:rPr lang="en-US" altLang="ko-KR" smtClean="0"/>
              <a:t>) PC</a:t>
            </a:r>
            <a:r>
              <a:rPr lang="ko-KR" altLang="en-US" smtClean="0"/>
              <a:t>가 먼저 함정 위치를 지나가고</a:t>
            </a:r>
            <a:r>
              <a:rPr lang="en-US" altLang="ko-KR" smtClean="0"/>
              <a:t>, </a:t>
            </a:r>
            <a:r>
              <a:rPr lang="ko-KR" altLang="en-US" smtClean="0"/>
              <a:t>그 다음에 몬스터가 함정 위치에 오면 함정 발동</a:t>
            </a:r>
            <a:endParaRPr lang="en-US" altLang="ko-KR"/>
          </a:p>
          <a:p>
            <a:endParaRPr lang="en-US" altLang="ko-KR" smtClean="0"/>
          </a:p>
          <a:p>
            <a:r>
              <a:rPr lang="ko-KR" altLang="en-US" smtClean="0"/>
              <a:t>스킬</a:t>
            </a:r>
            <a:r>
              <a:rPr lang="en-US" altLang="ko-KR" smtClean="0"/>
              <a:t> </a:t>
            </a:r>
            <a:r>
              <a:rPr lang="ko-KR" altLang="en-US" smtClean="0"/>
              <a:t>사용정보 만족</a:t>
            </a:r>
            <a:endParaRPr lang="en-US" altLang="ko-KR" smtClean="0"/>
          </a:p>
          <a:p>
            <a:pPr lvl="1"/>
            <a:r>
              <a:rPr lang="ko-KR" altLang="en-US" smtClean="0"/>
              <a:t>대상의 스킬 등의 버프 등의 부여 상태</a:t>
            </a:r>
            <a:endParaRPr lang="en-US" altLang="ko-KR"/>
          </a:p>
          <a:p>
            <a:endParaRPr lang="en-US" altLang="ko-KR" smtClean="0"/>
          </a:p>
          <a:p>
            <a:r>
              <a:rPr lang="ko-KR" altLang="en-US" smtClean="0"/>
              <a:t>기능 사용</a:t>
            </a:r>
            <a:endParaRPr lang="en-US" altLang="ko-KR" smtClean="0"/>
          </a:p>
          <a:p>
            <a:pPr lvl="1"/>
            <a:r>
              <a:rPr lang="ko-KR" altLang="en-US" smtClean="0"/>
              <a:t>그냥 공격이나 스킬을 사용해서 몬스터를 잡을 수도 있지만</a:t>
            </a:r>
            <a:r>
              <a:rPr lang="en-US" altLang="ko-KR" smtClean="0"/>
              <a:t>,</a:t>
            </a:r>
            <a:br>
              <a:rPr lang="en-US" altLang="ko-KR" smtClean="0"/>
            </a:br>
            <a:r>
              <a:rPr lang="ko-KR" altLang="en-US" smtClean="0"/>
              <a:t>트리거를 통해서 몬스터를 잡을 수도 있다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7984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완료보상조건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49179" y="1825624"/>
            <a:ext cx="11293642" cy="5032375"/>
          </a:xfrm>
        </p:spPr>
        <p:txBody>
          <a:bodyPr>
            <a:normAutofit/>
          </a:bodyPr>
          <a:lstStyle/>
          <a:p>
            <a:r>
              <a:rPr lang="ko-KR" altLang="en-US" smtClean="0"/>
              <a:t>퀘스트 </a:t>
            </a:r>
            <a:r>
              <a:rPr lang="en-US" altLang="ko-KR" smtClean="0"/>
              <a:t>‘</a:t>
            </a:r>
            <a:r>
              <a:rPr lang="ko-KR" altLang="en-US" smtClean="0"/>
              <a:t>완료조건</a:t>
            </a:r>
            <a:r>
              <a:rPr lang="en-US" altLang="ko-KR" smtClean="0"/>
              <a:t>’</a:t>
            </a:r>
            <a:r>
              <a:rPr lang="ko-KR" altLang="en-US" smtClean="0"/>
              <a:t>을 달성하고 나면</a:t>
            </a:r>
            <a:r>
              <a:rPr lang="en-US" altLang="ko-KR" smtClean="0"/>
              <a:t>,</a:t>
            </a:r>
            <a:br>
              <a:rPr lang="en-US" altLang="ko-KR" smtClean="0"/>
            </a:br>
            <a:r>
              <a:rPr lang="ko-KR" altLang="en-US" smtClean="0"/>
              <a:t>그 퀘스트에 대한 기록에 </a:t>
            </a:r>
            <a:r>
              <a:rPr lang="en-US" altLang="ko-KR" smtClean="0"/>
              <a:t>‘On’</a:t>
            </a:r>
            <a:r>
              <a:rPr lang="ko-KR" altLang="en-US" smtClean="0"/>
              <a:t>을 기록하게 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대부분의 퀘스트는 </a:t>
            </a:r>
            <a:r>
              <a:rPr lang="en-US" altLang="ko-KR" smtClean="0"/>
              <a:t>1</a:t>
            </a:r>
            <a:r>
              <a:rPr lang="ko-KR" altLang="en-US" smtClean="0"/>
              <a:t>회성이기 때문에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한 번 </a:t>
            </a:r>
            <a:r>
              <a:rPr lang="en-US" altLang="ko-KR" smtClean="0"/>
              <a:t>On</a:t>
            </a:r>
            <a:r>
              <a:rPr lang="ko-KR" altLang="en-US" smtClean="0"/>
              <a:t>으로 기록된 퀘스트는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다시는 할 수 없게 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이런 식으로 퀘스트를 관리할 수 있다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On</a:t>
            </a:r>
            <a:r>
              <a:rPr lang="ko-KR" altLang="en-US" smtClean="0"/>
              <a:t>으로 기록된 퀘스트에 대해 보상을 지급하게 할 수 있다</a:t>
            </a:r>
            <a:r>
              <a:rPr lang="en-US" altLang="ko-KR" smtClean="0"/>
              <a:t>.</a:t>
            </a: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9051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758" y="462554"/>
            <a:ext cx="11614484" cy="5932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083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복습 연습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08769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퀘스트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게임이 지닌 상황을 리드하고 리딩한다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상황 </a:t>
            </a:r>
            <a:r>
              <a:rPr lang="en-US" altLang="ko-KR" smtClean="0"/>
              <a:t>= </a:t>
            </a:r>
            <a:r>
              <a:rPr lang="ko-KR" altLang="en-US" smtClean="0"/>
              <a:t>등장인물 </a:t>
            </a:r>
            <a:r>
              <a:rPr lang="en-US" altLang="ko-KR" smtClean="0"/>
              <a:t>+ </a:t>
            </a:r>
            <a:r>
              <a:rPr lang="ko-KR" altLang="en-US" smtClean="0"/>
              <a:t>등장무대 </a:t>
            </a:r>
            <a:r>
              <a:rPr lang="en-US" altLang="ko-KR" smtClean="0"/>
              <a:t>+ </a:t>
            </a:r>
            <a:r>
              <a:rPr lang="ko-KR" altLang="en-US" smtClean="0"/>
              <a:t>대본</a:t>
            </a:r>
            <a:endParaRPr lang="en-US" altLang="ko-KR" smtClean="0"/>
          </a:p>
          <a:p>
            <a:r>
              <a:rPr lang="ko-KR" altLang="en-US" smtClean="0"/>
              <a:t>조건이 중요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게임디자인 </a:t>
            </a:r>
            <a:r>
              <a:rPr lang="en-US" altLang="ko-KR" smtClean="0"/>
              <a:t>– </a:t>
            </a:r>
            <a:r>
              <a:rPr lang="ko-KR" altLang="en-US" smtClean="0"/>
              <a:t>게임튜토리얼</a:t>
            </a:r>
            <a:r>
              <a:rPr lang="en-US" altLang="ko-KR" smtClean="0"/>
              <a:t>/</a:t>
            </a:r>
            <a:r>
              <a:rPr lang="ko-KR" altLang="en-US" smtClean="0"/>
              <a:t>킬러콘텐츠</a:t>
            </a:r>
            <a:r>
              <a:rPr lang="en-US" altLang="ko-KR" smtClean="0"/>
              <a:t>/</a:t>
            </a:r>
            <a:r>
              <a:rPr lang="ko-KR" altLang="en-US" smtClean="0"/>
              <a:t>게임시스템</a:t>
            </a:r>
            <a:endParaRPr lang="en-US" altLang="ko-KR" smtClean="0"/>
          </a:p>
          <a:p>
            <a:r>
              <a:rPr lang="ko-KR" altLang="en-US" smtClean="0"/>
              <a:t>연출</a:t>
            </a:r>
            <a:r>
              <a:rPr lang="en-US" altLang="ko-KR"/>
              <a:t> </a:t>
            </a:r>
            <a:r>
              <a:rPr lang="en-US" altLang="ko-KR" smtClean="0"/>
              <a:t>– </a:t>
            </a:r>
            <a:r>
              <a:rPr lang="ko-KR" altLang="en-US" smtClean="0"/>
              <a:t>프로젝트 규모와 구현 수준</a:t>
            </a:r>
            <a:r>
              <a:rPr lang="en-US" altLang="ko-KR" smtClean="0"/>
              <a:t>/Cinematic + narrative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43836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구성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시나리오</a:t>
            </a:r>
            <a:endParaRPr lang="en-US" altLang="ko-KR" smtClean="0"/>
          </a:p>
          <a:p>
            <a:r>
              <a:rPr lang="ko-KR" altLang="en-US" smtClean="0"/>
              <a:t>설정</a:t>
            </a:r>
            <a:endParaRPr lang="en-US" altLang="ko-KR" smtClean="0"/>
          </a:p>
          <a:p>
            <a:r>
              <a:rPr lang="ko-KR" altLang="en-US" smtClean="0"/>
              <a:t>레벨</a:t>
            </a:r>
            <a:endParaRPr lang="en-US" altLang="ko-KR" smtClean="0"/>
          </a:p>
          <a:p>
            <a:r>
              <a:rPr lang="ko-KR" altLang="en-US" smtClean="0"/>
              <a:t>콘텐츠</a:t>
            </a:r>
            <a:endParaRPr lang="en-US" altLang="ko-KR" smtClean="0"/>
          </a:p>
          <a:p>
            <a:r>
              <a:rPr lang="ko-KR" altLang="en-US" smtClean="0"/>
              <a:t>밸런스</a:t>
            </a:r>
            <a:endParaRPr lang="en-US" altLang="ko-KR" smtClean="0"/>
          </a:p>
          <a:p>
            <a:r>
              <a:rPr lang="ko-KR" altLang="en-US" smtClean="0"/>
              <a:t>시스템</a:t>
            </a:r>
            <a:endParaRPr lang="en-US" altLang="ko-KR" smtClean="0"/>
          </a:p>
          <a:p>
            <a:r>
              <a:rPr lang="ko-KR" altLang="en-US" smtClean="0"/>
              <a:t>웃음</a:t>
            </a:r>
            <a:endParaRPr lang="en-US" altLang="ko-KR" smtClean="0"/>
          </a:p>
          <a:p>
            <a:r>
              <a:rPr lang="ko-KR" altLang="en-US" smtClean="0"/>
              <a:t>이벤트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09458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시나리오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콘텐츠의 당위성을 부여하는 영역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보스 </a:t>
            </a:r>
            <a:r>
              <a:rPr lang="en-US" altLang="ko-KR" smtClean="0"/>
              <a:t>– </a:t>
            </a:r>
            <a:r>
              <a:rPr lang="ko-KR" altLang="en-US" smtClean="0"/>
              <a:t>과거</a:t>
            </a:r>
            <a:endParaRPr lang="en-US" altLang="ko-KR" smtClean="0"/>
          </a:p>
          <a:p>
            <a:r>
              <a:rPr lang="en-US" altLang="ko-KR" smtClean="0"/>
              <a:t>NPC Hero – </a:t>
            </a:r>
            <a:r>
              <a:rPr lang="ko-KR" altLang="en-US" smtClean="0"/>
              <a:t>현재</a:t>
            </a:r>
            <a:endParaRPr lang="en-US" altLang="ko-KR" smtClean="0"/>
          </a:p>
          <a:p>
            <a:r>
              <a:rPr lang="en-US" altLang="ko-KR" smtClean="0"/>
              <a:t>PC </a:t>
            </a:r>
            <a:r>
              <a:rPr lang="ko-KR" altLang="en-US" smtClean="0"/>
              <a:t>액션 </a:t>
            </a:r>
            <a:r>
              <a:rPr lang="en-US" altLang="ko-KR" smtClean="0"/>
              <a:t>- </a:t>
            </a:r>
            <a:r>
              <a:rPr lang="ko-KR" altLang="en-US" smtClean="0"/>
              <a:t>미래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44249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설정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선정의 이유</a:t>
            </a:r>
            <a:endParaRPr lang="en-US" altLang="ko-KR" smtClean="0"/>
          </a:p>
          <a:p>
            <a:r>
              <a:rPr lang="ko-KR" altLang="en-US" smtClean="0"/>
              <a:t>배경에 독특한 설정이 있다면 퀘스트에 활용해야 한다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맵의 특성</a:t>
            </a:r>
            <a:endParaRPr lang="en-US" altLang="ko-KR" smtClean="0"/>
          </a:p>
          <a:p>
            <a:r>
              <a:rPr lang="ko-KR" altLang="en-US" smtClean="0"/>
              <a:t>몬스터의 특성</a:t>
            </a:r>
            <a:endParaRPr lang="en-US" altLang="ko-KR" smtClean="0"/>
          </a:p>
          <a:p>
            <a:r>
              <a:rPr lang="en-US" altLang="ko-KR" smtClean="0"/>
              <a:t>NPC</a:t>
            </a:r>
            <a:r>
              <a:rPr lang="ko-KR" altLang="en-US" smtClean="0"/>
              <a:t>의 특성</a:t>
            </a:r>
            <a:endParaRPr lang="en-US" altLang="ko-KR" smtClean="0"/>
          </a:p>
          <a:p>
            <a:r>
              <a:rPr lang="ko-KR" altLang="en-US" smtClean="0"/>
              <a:t>오브젝트의 특성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72194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레벨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콘텐츠 제시의 순서</a:t>
            </a:r>
            <a:endParaRPr lang="en-US" altLang="ko-KR" smtClean="0"/>
          </a:p>
          <a:p>
            <a:r>
              <a:rPr lang="ko-KR" altLang="en-US" smtClean="0"/>
              <a:t>레벨 소모를 리드해야 한다</a:t>
            </a:r>
            <a:r>
              <a:rPr lang="en-US" altLang="ko-KR" smtClean="0"/>
              <a:t>.</a:t>
            </a:r>
          </a:p>
          <a:p>
            <a:endParaRPr lang="en-US" altLang="ko-KR" smtClean="0"/>
          </a:p>
          <a:p>
            <a:r>
              <a:rPr lang="ko-KR" altLang="en-US" smtClean="0"/>
              <a:t>스토리텔링</a:t>
            </a:r>
            <a:endParaRPr lang="en-US" altLang="ko-KR" smtClean="0"/>
          </a:p>
          <a:p>
            <a:r>
              <a:rPr lang="ko-KR" altLang="en-US" smtClean="0"/>
              <a:t>맵</a:t>
            </a:r>
            <a:endParaRPr lang="en-US" altLang="ko-KR" smtClean="0"/>
          </a:p>
          <a:p>
            <a:r>
              <a:rPr lang="ko-KR" altLang="en-US" smtClean="0"/>
              <a:t>몬스터</a:t>
            </a:r>
            <a:endParaRPr lang="en-US" altLang="ko-KR" smtClean="0"/>
          </a:p>
          <a:p>
            <a:r>
              <a:rPr lang="ko-KR" altLang="en-US" smtClean="0"/>
              <a:t>아이템</a:t>
            </a:r>
            <a:endParaRPr lang="en-US" altLang="ko-KR" smtClean="0"/>
          </a:p>
          <a:p>
            <a:r>
              <a:rPr lang="ko-KR" altLang="en-US" smtClean="0"/>
              <a:t>스킬 등등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593227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콘텐츠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킬러 콘텐츠 </a:t>
            </a:r>
            <a:r>
              <a:rPr lang="en-US" altLang="ko-KR" smtClean="0"/>
              <a:t>: </a:t>
            </a:r>
            <a:r>
              <a:rPr lang="ko-KR" altLang="en-US" smtClean="0"/>
              <a:t>유저가 게임을 떠나지 못하게 하는 우리 게임만의 재밌는 콘텐츠</a:t>
            </a:r>
            <a:endParaRPr lang="en-US" altLang="ko-KR" smtClean="0"/>
          </a:p>
          <a:p>
            <a:r>
              <a:rPr lang="ko-KR" altLang="en-US" smtClean="0"/>
              <a:t>소모필요 콘텐츠 </a:t>
            </a:r>
            <a:r>
              <a:rPr lang="en-US" altLang="ko-KR" smtClean="0"/>
              <a:t>: </a:t>
            </a:r>
            <a:r>
              <a:rPr lang="ko-KR" altLang="en-US" smtClean="0"/>
              <a:t>성장에 필수인 콘텐츠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메인</a:t>
            </a:r>
            <a:r>
              <a:rPr lang="en-US" altLang="ko-KR" smtClean="0"/>
              <a:t>/</a:t>
            </a:r>
            <a:r>
              <a:rPr lang="ko-KR" altLang="en-US" smtClean="0"/>
              <a:t>서브 퀘스트</a:t>
            </a:r>
            <a:endParaRPr lang="en-US" altLang="ko-KR" smtClean="0"/>
          </a:p>
          <a:p>
            <a:r>
              <a:rPr lang="ko-KR" altLang="en-US" smtClean="0"/>
              <a:t>둘은 내용이 독립적이어도 된다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3782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밸런스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smtClean="0"/>
              <a:t>라이프 사이클 </a:t>
            </a:r>
            <a:r>
              <a:rPr lang="en-US" altLang="ko-KR" smtClean="0"/>
              <a:t>(</a:t>
            </a:r>
            <a:r>
              <a:rPr lang="ko-KR" altLang="en-US" smtClean="0"/>
              <a:t>생명 주기</a:t>
            </a:r>
            <a:r>
              <a:rPr lang="en-US" altLang="ko-KR" smtClean="0"/>
              <a:t>)</a:t>
            </a:r>
          </a:p>
          <a:p>
            <a:r>
              <a:rPr lang="ko-KR" altLang="en-US" smtClean="0"/>
              <a:t>재미있는 시간 </a:t>
            </a:r>
            <a:r>
              <a:rPr lang="en-US" altLang="ko-KR" smtClean="0"/>
              <a:t>+ </a:t>
            </a:r>
            <a:r>
              <a:rPr lang="ko-KR" altLang="en-US" smtClean="0"/>
              <a:t>소모 난이도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얼마 만큼의 시간 동안 어느 정도의 난이도로 할 지 정하는 영역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게임 머니 보상</a:t>
            </a:r>
            <a:endParaRPr lang="en-US" altLang="ko-KR" smtClean="0"/>
          </a:p>
          <a:p>
            <a:r>
              <a:rPr lang="ko-KR" altLang="en-US" smtClean="0"/>
              <a:t>게임 경험치 보상</a:t>
            </a:r>
            <a:endParaRPr lang="en-US" altLang="ko-KR" smtClean="0"/>
          </a:p>
          <a:p>
            <a:r>
              <a:rPr lang="ko-KR" altLang="en-US" smtClean="0"/>
              <a:t>필요 아이템 보상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99097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시스템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유기성 디자인</a:t>
            </a:r>
            <a:endParaRPr lang="en-US" altLang="ko-KR" smtClean="0"/>
          </a:p>
          <a:p>
            <a:r>
              <a:rPr lang="ko-KR" altLang="en-US" smtClean="0"/>
              <a:t>시스템과 콘텐츠 간의 </a:t>
            </a:r>
            <a:r>
              <a:rPr lang="en-US" altLang="ko-KR" smtClean="0"/>
              <a:t>‘</a:t>
            </a:r>
            <a:r>
              <a:rPr lang="ko-KR" altLang="en-US" smtClean="0"/>
              <a:t>약속을 설계</a:t>
            </a:r>
            <a:r>
              <a:rPr lang="en-US" altLang="ko-KR" smtClean="0"/>
              <a:t>‘</a:t>
            </a:r>
          </a:p>
          <a:p>
            <a:endParaRPr lang="en-US" altLang="ko-KR"/>
          </a:p>
          <a:p>
            <a:r>
              <a:rPr lang="ko-KR" altLang="en-US" smtClean="0"/>
              <a:t>세계 안에서 약속이 어떻게 이루어지는지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en-US" altLang="ko-KR" smtClean="0"/>
              <a:t>[WOW] </a:t>
            </a:r>
            <a:r>
              <a:rPr lang="ko-KR" altLang="en-US" smtClean="0"/>
              <a:t>옷감 예시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6693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웃음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개발자의 유희</a:t>
            </a:r>
            <a:endParaRPr lang="en-US" altLang="ko-KR" smtClean="0"/>
          </a:p>
          <a:p>
            <a:r>
              <a:rPr lang="ko-KR" altLang="en-US" smtClean="0"/>
              <a:t>사회풍자</a:t>
            </a:r>
            <a:endParaRPr lang="en-US" altLang="ko-KR" smtClean="0"/>
          </a:p>
          <a:p>
            <a:r>
              <a:rPr lang="ko-KR" altLang="en-US" smtClean="0"/>
              <a:t>오마쥬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52892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이벤트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CRM – </a:t>
            </a:r>
            <a:r>
              <a:rPr lang="ko-KR" altLang="en-US" smtClean="0"/>
              <a:t>고객 관계 형성 관리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국가별 로컬라이징</a:t>
            </a:r>
            <a:endParaRPr lang="en-US" altLang="ko-KR" smtClean="0"/>
          </a:p>
          <a:p>
            <a:r>
              <a:rPr lang="ko-KR" altLang="en-US" smtClean="0"/>
              <a:t>국내 고객 유치</a:t>
            </a:r>
            <a:endParaRPr lang="en-US" altLang="ko-KR" smtClean="0"/>
          </a:p>
          <a:p>
            <a:r>
              <a:rPr lang="ko-KR" altLang="en-US" smtClean="0"/>
              <a:t>시즌 부여</a:t>
            </a:r>
            <a:endParaRPr lang="en-US" altLang="ko-KR" smtClean="0"/>
          </a:p>
          <a:p>
            <a:r>
              <a:rPr lang="en-US" altLang="ko-KR" smtClean="0"/>
              <a:t>BM</a:t>
            </a:r>
            <a:r>
              <a:rPr lang="ko-KR" altLang="en-US" smtClean="0"/>
              <a:t>용 이벤트</a:t>
            </a:r>
            <a:endParaRPr lang="en-US" altLang="ko-KR" smtClean="0"/>
          </a:p>
          <a:p>
            <a:r>
              <a:rPr lang="ko-KR" altLang="en-US" smtClean="0"/>
              <a:t>출석 이벤트같은 타입화된 이벤트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68872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퀘스트의 조건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부여</a:t>
            </a:r>
            <a:endParaRPr lang="en-US" altLang="ko-KR" smtClean="0"/>
          </a:p>
          <a:p>
            <a:r>
              <a:rPr lang="ko-KR" altLang="en-US" smtClean="0"/>
              <a:t>발동</a:t>
            </a:r>
            <a:endParaRPr lang="en-US" altLang="ko-KR" smtClean="0"/>
          </a:p>
          <a:p>
            <a:r>
              <a:rPr lang="ko-KR" altLang="en-US" smtClean="0"/>
              <a:t>진행</a:t>
            </a:r>
            <a:endParaRPr lang="en-US" altLang="ko-KR" smtClean="0"/>
          </a:p>
          <a:p>
            <a:r>
              <a:rPr lang="ko-KR" altLang="en-US" smtClean="0"/>
              <a:t>완료</a:t>
            </a:r>
            <a:endParaRPr lang="en-US" altLang="ko-KR" smtClean="0"/>
          </a:p>
          <a:p>
            <a:r>
              <a:rPr lang="ko-KR" altLang="en-US" smtClean="0"/>
              <a:t>완료보상</a:t>
            </a:r>
            <a:endParaRPr lang="en-US" altLang="ko-KR" smtClean="0"/>
          </a:p>
          <a:p>
            <a:pPr marL="0" indent="0">
              <a:buNone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20504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부여조건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smtClean="0"/>
              <a:t>직업 </a:t>
            </a:r>
            <a:r>
              <a:rPr lang="en-US" altLang="ko-KR" smtClean="0"/>
              <a:t>– </a:t>
            </a:r>
            <a:r>
              <a:rPr lang="ko-KR" altLang="en-US" smtClean="0"/>
              <a:t>승급</a:t>
            </a:r>
            <a:r>
              <a:rPr lang="en-US" altLang="ko-KR" smtClean="0"/>
              <a:t>/</a:t>
            </a:r>
            <a:r>
              <a:rPr lang="ko-KR" altLang="en-US" smtClean="0"/>
              <a:t>전직</a:t>
            </a:r>
            <a:endParaRPr lang="en-US" altLang="ko-KR" smtClean="0"/>
          </a:p>
          <a:p>
            <a:r>
              <a:rPr lang="ko-KR" altLang="en-US" smtClean="0"/>
              <a:t>레벨</a:t>
            </a:r>
            <a:endParaRPr lang="en-US" altLang="ko-KR" smtClean="0"/>
          </a:p>
          <a:p>
            <a:r>
              <a:rPr lang="ko-KR" altLang="en-US" smtClean="0"/>
              <a:t>몬스터 킬 여부</a:t>
            </a:r>
            <a:endParaRPr lang="en-US" altLang="ko-KR" smtClean="0"/>
          </a:p>
          <a:p>
            <a:r>
              <a:rPr lang="ko-KR" altLang="en-US" smtClean="0"/>
              <a:t>이전 퀘스트 달성 및 진행 상태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업적</a:t>
            </a:r>
            <a:r>
              <a:rPr lang="en-US" altLang="ko-KR" smtClean="0"/>
              <a:t>/</a:t>
            </a:r>
            <a:r>
              <a:rPr lang="ko-KR" altLang="en-US" smtClean="0"/>
              <a:t>칭호</a:t>
            </a:r>
            <a:endParaRPr lang="en-US" altLang="ko-KR" smtClean="0"/>
          </a:p>
          <a:p>
            <a:r>
              <a:rPr lang="ko-KR" altLang="en-US" smtClean="0"/>
              <a:t>인벤토리 및 창고 아이템</a:t>
            </a:r>
            <a:endParaRPr lang="en-US" altLang="ko-KR" smtClean="0"/>
          </a:p>
          <a:p>
            <a:r>
              <a:rPr lang="ko-KR" altLang="en-US" smtClean="0"/>
              <a:t>스킬 </a:t>
            </a:r>
            <a:r>
              <a:rPr lang="en-US" altLang="ko-KR" smtClean="0"/>
              <a:t>/ </a:t>
            </a:r>
            <a:r>
              <a:rPr lang="ko-KR" altLang="en-US" smtClean="0"/>
              <a:t>버프</a:t>
            </a:r>
            <a:r>
              <a:rPr lang="en-US" altLang="ko-KR" smtClean="0"/>
              <a:t>.</a:t>
            </a:r>
            <a:r>
              <a:rPr lang="ko-KR" altLang="en-US" smtClean="0"/>
              <a:t>디버프 습득</a:t>
            </a:r>
            <a:r>
              <a:rPr lang="en-US" altLang="ko-KR" smtClean="0"/>
              <a:t>.</a:t>
            </a:r>
            <a:r>
              <a:rPr lang="ko-KR" altLang="en-US" smtClean="0"/>
              <a:t>사용 상태</a:t>
            </a:r>
            <a:endParaRPr lang="en-US" altLang="ko-KR" smtClean="0"/>
          </a:p>
          <a:p>
            <a:r>
              <a:rPr lang="ko-KR" altLang="en-US" smtClean="0"/>
              <a:t>위치 정보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37368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발동 조건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NPC </a:t>
            </a:r>
            <a:r>
              <a:rPr lang="ko-KR" altLang="en-US" smtClean="0"/>
              <a:t>대화</a:t>
            </a:r>
            <a:endParaRPr lang="en-US" altLang="ko-KR" smtClean="0"/>
          </a:p>
          <a:p>
            <a:r>
              <a:rPr lang="ko-KR" altLang="en-US" smtClean="0"/>
              <a:t>우편물 시스템</a:t>
            </a:r>
            <a:endParaRPr lang="en-US" altLang="ko-KR" smtClean="0"/>
          </a:p>
          <a:p>
            <a:r>
              <a:rPr lang="en-US" altLang="ko-KR" smtClean="0"/>
              <a:t>UI Event</a:t>
            </a:r>
          </a:p>
          <a:p>
            <a:r>
              <a:rPr lang="en-US" altLang="ko-KR" smtClean="0"/>
              <a:t>Event Dummy</a:t>
            </a:r>
          </a:p>
          <a:p>
            <a:r>
              <a:rPr lang="en-US" altLang="ko-KR" smtClean="0"/>
              <a:t>AI</a:t>
            </a:r>
          </a:p>
          <a:p>
            <a:r>
              <a:rPr lang="en-US" altLang="ko-KR" smtClean="0"/>
              <a:t>TIME</a:t>
            </a:r>
          </a:p>
          <a:p>
            <a:r>
              <a:rPr lang="ko-KR" altLang="en-US" smtClean="0"/>
              <a:t>아이템</a:t>
            </a:r>
            <a:r>
              <a:rPr lang="en-US" altLang="ko-KR" smtClean="0"/>
              <a:t>/</a:t>
            </a:r>
            <a:r>
              <a:rPr lang="ko-KR" altLang="en-US" smtClean="0"/>
              <a:t>스킬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95353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진행조건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병렬식 </a:t>
            </a:r>
            <a:r>
              <a:rPr lang="en-US" altLang="ko-KR" smtClean="0"/>
              <a:t>– </a:t>
            </a:r>
            <a:r>
              <a:rPr lang="ko-KR" altLang="en-US" smtClean="0"/>
              <a:t>어떤 조건을 먼저 시작해도 상관</a:t>
            </a:r>
            <a:r>
              <a:rPr lang="en-US" altLang="ko-KR" smtClean="0"/>
              <a:t>x</a:t>
            </a:r>
          </a:p>
          <a:p>
            <a:endParaRPr lang="en-US" altLang="ko-KR"/>
          </a:p>
          <a:p>
            <a:r>
              <a:rPr lang="ko-KR" altLang="en-US" smtClean="0"/>
              <a:t>직렬식 </a:t>
            </a:r>
            <a:r>
              <a:rPr lang="en-US" altLang="ko-KR" smtClean="0"/>
              <a:t>– </a:t>
            </a:r>
            <a:r>
              <a:rPr lang="ko-KR" altLang="en-US" smtClean="0"/>
              <a:t>이전 조건을 먼저 달성해야 다음 조건 시작 가능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어떤 식으로 하든</a:t>
            </a:r>
            <a:r>
              <a:rPr lang="en-US" altLang="ko-KR" smtClean="0"/>
              <a:t>, </a:t>
            </a:r>
            <a:r>
              <a:rPr lang="ko-KR" altLang="en-US" smtClean="0"/>
              <a:t>실패 시 어디부터 시작할 지를 설계해야 함</a:t>
            </a:r>
            <a:endParaRPr lang="en-US" altLang="ko-KR" smtClean="0"/>
          </a:p>
          <a:p>
            <a:pPr marL="0" indent="0">
              <a:buNone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0772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완료 조건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던전</a:t>
            </a:r>
            <a:r>
              <a:rPr lang="en-US" altLang="ko-KR" smtClean="0"/>
              <a:t>/</a:t>
            </a:r>
            <a:r>
              <a:rPr lang="ko-KR" altLang="en-US" smtClean="0"/>
              <a:t>투기장</a:t>
            </a:r>
            <a:r>
              <a:rPr lang="en-US" altLang="ko-KR" smtClean="0"/>
              <a:t>/</a:t>
            </a:r>
            <a:r>
              <a:rPr lang="ko-KR" altLang="en-US" smtClean="0"/>
              <a:t>레이드 </a:t>
            </a:r>
            <a:r>
              <a:rPr lang="en-US" altLang="ko-KR" smtClean="0"/>
              <a:t>– </a:t>
            </a:r>
            <a:r>
              <a:rPr lang="ko-KR" altLang="en-US" smtClean="0"/>
              <a:t>승리</a:t>
            </a:r>
            <a:r>
              <a:rPr lang="en-US" altLang="ko-KR" smtClean="0"/>
              <a:t>/</a:t>
            </a:r>
            <a:r>
              <a:rPr lang="ko-KR" altLang="en-US" smtClean="0"/>
              <a:t>실패</a:t>
            </a:r>
            <a:r>
              <a:rPr lang="en-US" altLang="ko-KR" smtClean="0"/>
              <a:t>/</a:t>
            </a:r>
            <a:r>
              <a:rPr lang="ko-KR" altLang="en-US" smtClean="0"/>
              <a:t>무승부 여부</a:t>
            </a:r>
            <a:endParaRPr lang="en-US" altLang="ko-KR" smtClean="0"/>
          </a:p>
          <a:p>
            <a:r>
              <a:rPr lang="ko-KR" altLang="en-US" smtClean="0"/>
              <a:t>몬스터 킬 </a:t>
            </a:r>
            <a:r>
              <a:rPr lang="en-US" altLang="ko-KR" smtClean="0"/>
              <a:t>– </a:t>
            </a:r>
            <a:r>
              <a:rPr lang="ko-KR" altLang="en-US" smtClean="0"/>
              <a:t>파티 인원수 </a:t>
            </a:r>
            <a:r>
              <a:rPr lang="en-US" altLang="ko-KR" smtClean="0"/>
              <a:t>full </a:t>
            </a:r>
            <a:r>
              <a:rPr lang="ko-KR" altLang="en-US" smtClean="0"/>
              <a:t>체크</a:t>
            </a:r>
            <a:endParaRPr lang="en-US" altLang="ko-KR" smtClean="0"/>
          </a:p>
          <a:p>
            <a:r>
              <a:rPr lang="ko-KR" altLang="en-US" smtClean="0"/>
              <a:t>위치 정보</a:t>
            </a:r>
            <a:endParaRPr lang="en-US" altLang="ko-KR" smtClean="0"/>
          </a:p>
          <a:p>
            <a:r>
              <a:rPr lang="ko-KR" altLang="en-US" smtClean="0"/>
              <a:t>아이템 습득</a:t>
            </a:r>
            <a:r>
              <a:rPr lang="en-US" altLang="ko-KR" smtClean="0"/>
              <a:t>/</a:t>
            </a:r>
            <a:r>
              <a:rPr lang="ko-KR" altLang="en-US" smtClean="0"/>
              <a:t>강화</a:t>
            </a:r>
            <a:r>
              <a:rPr lang="en-US" altLang="ko-KR" smtClean="0"/>
              <a:t>/</a:t>
            </a:r>
            <a:r>
              <a:rPr lang="ko-KR" altLang="en-US" smtClean="0"/>
              <a:t>착용</a:t>
            </a:r>
            <a:endParaRPr lang="en-US" altLang="ko-KR" smtClean="0"/>
          </a:p>
          <a:p>
            <a:r>
              <a:rPr lang="ko-KR" altLang="en-US" smtClean="0"/>
              <a:t>스킬 습득</a:t>
            </a:r>
            <a:r>
              <a:rPr lang="en-US" altLang="ko-KR" smtClean="0"/>
              <a:t>/</a:t>
            </a:r>
            <a:r>
              <a:rPr lang="ko-KR" altLang="en-US" smtClean="0"/>
              <a:t>사용</a:t>
            </a:r>
            <a:endParaRPr lang="en-US" altLang="ko-KR" smtClean="0"/>
          </a:p>
          <a:p>
            <a:r>
              <a:rPr lang="ko-KR" altLang="en-US" smtClean="0"/>
              <a:t>기능 사용 </a:t>
            </a:r>
            <a:r>
              <a:rPr lang="en-US" altLang="ko-KR" smtClean="0"/>
              <a:t>- </a:t>
            </a:r>
            <a:r>
              <a:rPr lang="ko-KR" altLang="en-US" smtClean="0"/>
              <a:t>트리거</a:t>
            </a:r>
            <a:endParaRPr lang="en-US" altLang="ko-KR" smtClean="0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50183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완료보상 조건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완료 조건 달성 후 해당 퀘스트는 </a:t>
            </a:r>
            <a:r>
              <a:rPr lang="en-US" altLang="ko-KR" smtClean="0"/>
              <a:t>On </a:t>
            </a:r>
            <a:r>
              <a:rPr lang="ko-KR" altLang="en-US" smtClean="0"/>
              <a:t>기록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7659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739</Words>
  <Application>Microsoft Office PowerPoint</Application>
  <PresentationFormat>와이드스크린</PresentationFormat>
  <Paragraphs>171</Paragraphs>
  <Slides>26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29" baseType="lpstr">
      <vt:lpstr>맑은 고딕</vt:lpstr>
      <vt:lpstr>Arial</vt:lpstr>
      <vt:lpstr>Office 테마</vt:lpstr>
      <vt:lpstr>상호작용 구조물</vt:lpstr>
      <vt:lpstr>어제까지 배운 내용들</vt:lpstr>
      <vt:lpstr>진행 조건</vt:lpstr>
      <vt:lpstr>진행 조건</vt:lpstr>
      <vt:lpstr>완료조건</vt:lpstr>
      <vt:lpstr>완료조건</vt:lpstr>
      <vt:lpstr>완료조건</vt:lpstr>
      <vt:lpstr>완료보상조건</vt:lpstr>
      <vt:lpstr>PowerPoint 프레젠테이션</vt:lpstr>
      <vt:lpstr>복습 연습</vt:lpstr>
      <vt:lpstr>퀘스트</vt:lpstr>
      <vt:lpstr>구성</vt:lpstr>
      <vt:lpstr>시나리오</vt:lpstr>
      <vt:lpstr>설정</vt:lpstr>
      <vt:lpstr>레벨</vt:lpstr>
      <vt:lpstr>콘텐츠</vt:lpstr>
      <vt:lpstr>밸런스</vt:lpstr>
      <vt:lpstr>시스템</vt:lpstr>
      <vt:lpstr>웃음</vt:lpstr>
      <vt:lpstr>이벤트</vt:lpstr>
      <vt:lpstr>퀘스트의 조건</vt:lpstr>
      <vt:lpstr>부여조건</vt:lpstr>
      <vt:lpstr>발동 조건</vt:lpstr>
      <vt:lpstr>진행조건</vt:lpstr>
      <vt:lpstr>완료 조건</vt:lpstr>
      <vt:lpstr>완료보상 조건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상호작용 구조물</dc:title>
  <dc:creator>FullName</dc:creator>
  <cp:lastModifiedBy>FullName</cp:lastModifiedBy>
  <cp:revision>15</cp:revision>
  <dcterms:created xsi:type="dcterms:W3CDTF">2026-06-23T05:00:32Z</dcterms:created>
  <dcterms:modified xsi:type="dcterms:W3CDTF">2026-06-24T05:01:20Z</dcterms:modified>
</cp:coreProperties>
</file>