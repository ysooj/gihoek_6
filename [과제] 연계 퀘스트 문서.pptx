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3A1830-127A-4C1C-B552-0F93F2567A03}" v="1" dt="2026-06-29T02:47:46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addSld delSld modSld">
      <pc:chgData name="musukie52@gmail.com" userId="017bd91f96aa8751" providerId="LiveId" clId="{5B2C3894-F97E-4CAB-8812-5BB4D83AAC6A}" dt="2026-06-29T02:47:50.680" v="2" actId="47"/>
      <pc:docMkLst>
        <pc:docMk/>
      </pc:docMkLst>
      <pc:sldChg chg="new del">
        <pc:chgData name="musukie52@gmail.com" userId="017bd91f96aa8751" providerId="LiveId" clId="{5B2C3894-F97E-4CAB-8812-5BB4D83AAC6A}" dt="2026-06-29T02:47:50.680" v="2" actId="47"/>
        <pc:sldMkLst>
          <pc:docMk/>
          <pc:sldMk cId="3809974931" sldId="256"/>
        </pc:sldMkLst>
      </pc:sldChg>
      <pc:sldChg chg="add">
        <pc:chgData name="musukie52@gmail.com" userId="017bd91f96aa8751" providerId="LiveId" clId="{5B2C3894-F97E-4CAB-8812-5BB4D83AAC6A}" dt="2026-06-29T02:47:46.966" v="1"/>
        <pc:sldMkLst>
          <pc:docMk/>
          <pc:sldMk cId="0" sldId="258"/>
        </pc:sldMkLst>
      </pc:sldChg>
      <pc:sldChg chg="add">
        <pc:chgData name="musukie52@gmail.com" userId="017bd91f96aa8751" providerId="LiveId" clId="{5B2C3894-F97E-4CAB-8812-5BB4D83AAC6A}" dt="2026-06-29T02:47:46.966" v="1"/>
        <pc:sldMkLst>
          <pc:docMk/>
          <pc:sldMk cId="0" sldId="259"/>
        </pc:sldMkLst>
      </pc:sldChg>
      <pc:sldChg chg="add">
        <pc:chgData name="musukie52@gmail.com" userId="017bd91f96aa8751" providerId="LiveId" clId="{5B2C3894-F97E-4CAB-8812-5BB4D83AAC6A}" dt="2026-06-29T02:47:46.966" v="1"/>
        <pc:sldMkLst>
          <pc:docMk/>
          <pc:sldMk cId="0" sldId="260"/>
        </pc:sldMkLst>
      </pc:sldChg>
      <pc:sldChg chg="add">
        <pc:chgData name="musukie52@gmail.com" userId="017bd91f96aa8751" providerId="LiveId" clId="{5B2C3894-F97E-4CAB-8812-5BB4D83AAC6A}" dt="2026-06-29T02:47:46.966" v="1"/>
        <pc:sldMkLst>
          <pc:docMk/>
          <pc:sldMk cId="0" sldId="261"/>
        </pc:sldMkLst>
      </pc:sldChg>
      <pc:sldChg chg="add">
        <pc:chgData name="musukie52@gmail.com" userId="017bd91f96aa8751" providerId="LiveId" clId="{5B2C3894-F97E-4CAB-8812-5BB4D83AAC6A}" dt="2026-06-29T02:47:46.966" v="1"/>
        <pc:sldMkLst>
          <pc:docMk/>
          <pc:sldMk cId="0" sldId="262"/>
        </pc:sldMkLst>
      </pc:sldChg>
      <pc:sldChg chg="add">
        <pc:chgData name="musukie52@gmail.com" userId="017bd91f96aa8751" providerId="LiveId" clId="{5B2C3894-F97E-4CAB-8812-5BB4D83AAC6A}" dt="2026-06-29T02:47:46.966" v="1"/>
        <pc:sldMkLst>
          <pc:docMk/>
          <pc:sldMk cId="0" sldId="263"/>
        </pc:sldMkLst>
      </pc:sldChg>
      <pc:sldChg chg="add">
        <pc:chgData name="musukie52@gmail.com" userId="017bd91f96aa8751" providerId="LiveId" clId="{5B2C3894-F97E-4CAB-8812-5BB4D83AAC6A}" dt="2026-06-29T02:47:46.966" v="1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D18426-BA08-45C2-8BC6-54A261DED946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73E8A-ADEE-4903-B11A-CCFFD62DDA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471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26C03A-4AFA-628E-4766-D9FE3B10F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36549C-7D09-0E7D-428E-F64F703F8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37C1D4-537E-83B2-280A-5DD620522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C336-E931-4119-9D0A-8DED1C3F6FB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310020-77F8-C08F-1142-45CC0397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12A924-4AA7-1079-E93E-55BD368AE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22F7-C2D2-4668-9E5D-81BB0AF2E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13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75E873-9E1C-05F9-F1CE-118B397BA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9161C7-5933-A2D4-F65F-C1E51DEA5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D4E60B-4741-0811-8194-EB46DE06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C336-E931-4119-9D0A-8DED1C3F6FB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9B5ED6-C7CC-BB46-3724-02859F107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7B4C1D-C2EA-952B-017A-52EDBE8CE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22F7-C2D2-4668-9E5D-81BB0AF2E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692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C365F2-F9E7-895E-7EE4-F2E0F57BC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74DF15-5C47-C346-304D-EC2B1EB9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4E1FE6-B4A0-0BFF-9FF1-13D35EFB8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C336-E931-4119-9D0A-8DED1C3F6FB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A77C02-BB2F-996A-2A87-B5A1277D9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E77E96-1A0B-98B3-4BE5-06F3284A5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22F7-C2D2-4668-9E5D-81BB0AF2E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4826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01ABD2-3C94-D944-AD8F-E2DE72A65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18EA7A-D7F1-6C90-94FF-96CE5DD81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6D40FC-1299-D8D7-3432-8CD38C48E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D8654A-1E1C-7B6C-F3F0-8784C08E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C336-E931-4119-9D0A-8DED1C3F6FB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6DF7A0-A23F-0241-F80A-EC3951840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27C478-E153-BA00-BC6C-9A7B1C96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22F7-C2D2-4668-9E5D-81BB0AF2E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106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A69DFF-8EBD-12C5-7CEB-37DFF6075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09D4BC-DF3C-2AA4-4097-A8F19B915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A918EE-F7A0-EC67-C33F-C3EF9FF0B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059E9B9-8AE1-9621-30F4-6BBA5FEF47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36B544-B880-21EA-48D7-E354EE412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727417-273D-B6FB-ADFA-A407BE88C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C336-E931-4119-9D0A-8DED1C3F6FB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2BA525F-DBAD-8E1E-2F83-337A261B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500913-2781-3A60-5D3F-6AA89CC8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22F7-C2D2-4668-9E5D-81BB0AF2E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183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26FB7-B916-419E-F40B-5B00C390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AC91DFF-AB65-1455-2F0E-34090F0F4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C336-E931-4119-9D0A-8DED1C3F6FB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02252A-81D0-663E-F73E-3654E1145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4D4042-21FB-E8CC-B658-8D649BAA7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22F7-C2D2-4668-9E5D-81BB0AF2E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640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647E07-6443-F8A7-275D-DBFD86B2E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C336-E931-4119-9D0A-8DED1C3F6FB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3FC4895-5A57-0E58-D9AC-83A58F8A3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3C11DD-5162-56A6-F07E-710A1873B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22F7-C2D2-4668-9E5D-81BB0AF2E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991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DF7AAD-1479-6FB3-800E-5C9BDEFFE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6A5F66-D71F-FFCB-7E63-D3BD1695E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39E4D5-AB1F-2488-8F66-6AEA6ACFB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D5C3C4-7501-0B35-E313-B0D1FA6C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C336-E931-4119-9D0A-8DED1C3F6FB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54E02D-8156-66EE-C1E9-D85EFDBA5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5E5B80-963A-93F5-9476-71EDF5DF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22F7-C2D2-4668-9E5D-81BB0AF2E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289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6DA04F-12CD-23F6-E26F-574B66936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FAB8E86-1C8A-9FC8-C182-9D00E3553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86453E-797F-4754-F4AD-DF2424E6D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6F863A-5C5E-BD89-9496-7F93270F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C336-E931-4119-9D0A-8DED1C3F6FB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A01A95-1DA5-B61C-370D-EF663285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0E44C2-18B7-DF39-C3B3-7964038A4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22F7-C2D2-4668-9E5D-81BB0AF2E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161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25937B-2955-6DCF-FCCA-ED616314E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875583-AFEE-3B39-D34D-9D82070EF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22B6C5-FBCB-11BB-66E8-08107576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C336-E931-4119-9D0A-8DED1C3F6FB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142A17-B42B-1051-FEF5-59209601E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29AB69-5A47-650F-6CCD-1EB877E5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22F7-C2D2-4668-9E5D-81BB0AF2E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803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300421C-620C-5F06-E54F-9422CADBD4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C61005-E94D-0496-216C-D25E48541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779CAA-9922-B74F-10FA-B2D029CDB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C336-E931-4119-9D0A-8DED1C3F6FB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3A1283-209B-90F4-4825-1B3D32105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756436-B52E-C7FA-BD42-A2E398AD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22F7-C2D2-4668-9E5D-81BB0AF2E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438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1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942E505-B57E-0977-ECC0-2D9CE7E78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933DE6-B415-691B-5B63-B7F5A2514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2D9D41-F56B-9441-928C-921FB7BAC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5C336-E931-4119-9D0A-8DED1C3F6FB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3B332D-B5CA-B90A-346E-6D01A85256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032DC-96D2-5D39-E94B-A63EAAAEBA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722F7-C2D2-4668-9E5D-81BB0AF2E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874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QUEST FLOW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연계 퀘스트 전체 흐름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234440" cy="411480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챕터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74520" y="1371600"/>
            <a:ext cx="4434840" cy="411480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이야기의 목적 제시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1371600"/>
            <a:ext cx="4434840" cy="411480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플레이어의 목적 제시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44200" y="1371600"/>
            <a:ext cx="1325880" cy="411480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연결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234440" cy="704088"/>
          </a:xfrm>
          <a:prstGeom prst="rect">
            <a:avLst/>
          </a:prstGeom>
          <a:solidFill>
            <a:srgbClr val="FEF3C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동생 심부름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1783080"/>
            <a:ext cx="4434840" cy="7040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한해가 가족 안에서 당연한 노동을 맡는 인물임을 제시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6309360" y="1783080"/>
            <a:ext cx="4434840" cy="7040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흩어진 동선을 돌며 물품을 확보하고 귀가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0744200" y="1783080"/>
            <a:ext cx="1325880" cy="704088"/>
          </a:xfrm>
          <a:prstGeom prst="rect">
            <a:avLst/>
          </a:prstGeom>
          <a:solidFill>
            <a:srgbClr val="FEF3C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축제/공원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640080" y="2487168"/>
            <a:ext cx="1234440" cy="704088"/>
          </a:xfrm>
          <a:prstGeom prst="rect">
            <a:avLst/>
          </a:prstGeom>
          <a:solidFill>
            <a:srgbClr val="DCFCE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공원 청소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74520" y="2487168"/>
            <a:ext cx="4434840" cy="7040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선의가 타인의 무심함과 충돌하는 일상을 제시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6309360" y="2487168"/>
            <a:ext cx="4434840" cy="7040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쓰레기 수거·분리수거·추가 투기 NPC 대응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10744200" y="2487168"/>
            <a:ext cx="1325880" cy="704088"/>
          </a:xfrm>
          <a:prstGeom prst="rect">
            <a:avLst/>
          </a:prstGeom>
          <a:solidFill>
            <a:srgbClr val="DCFCE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균열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191256"/>
            <a:ext cx="1234440" cy="704088"/>
          </a:xfrm>
          <a:prstGeom prst="rect">
            <a:avLst/>
          </a:prstGeom>
          <a:solidFill>
            <a:srgbClr val="DBEAFE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재난 대응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74520" y="3191256"/>
            <a:ext cx="4434840" cy="7040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균열·괴물·선의 수치가 사회 질서로 재편됨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6309360" y="3191256"/>
            <a:ext cx="4434840" cy="7040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구조, 전투, 증언 수집, 선의 수치 공개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10744200" y="3191256"/>
            <a:ext cx="1325880" cy="704088"/>
          </a:xfrm>
          <a:prstGeom prst="rect">
            <a:avLst/>
          </a:prstGeom>
          <a:solidFill>
            <a:srgbClr val="DBEAFE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폐교 명령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640080" y="3895344"/>
            <a:ext cx="1234440" cy="704088"/>
          </a:xfrm>
          <a:prstGeom prst="rect">
            <a:avLst/>
          </a:prstGeom>
          <a:solidFill>
            <a:srgbClr val="EDE9FE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폐교 챕터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74520" y="3895344"/>
            <a:ext cx="4434840" cy="7040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괴물의 정체가 변이한 인간임을 처음 폭로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6309360" y="3895344"/>
            <a:ext cx="4434840" cy="7040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폐교 탐색, 환영 회피, 기억 공간, 2페이즈 보스전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10744200" y="3895344"/>
            <a:ext cx="1325880" cy="704088"/>
          </a:xfrm>
          <a:prstGeom prst="rect">
            <a:avLst/>
          </a:prstGeom>
          <a:solidFill>
            <a:srgbClr val="EDE9FE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사회 혼란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640080" y="4599432"/>
            <a:ext cx="1234440" cy="704088"/>
          </a:xfrm>
          <a:prstGeom prst="rect">
            <a:avLst/>
          </a:prstGeom>
          <a:solidFill>
            <a:srgbClr val="FFE4E6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 탐색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74520" y="4599432"/>
            <a:ext cx="4434840" cy="7040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한해의 출생과 희생 요구의 진실 제시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6309360" y="4599432"/>
            <a:ext cx="4434840" cy="7040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 내부 퍼즐·거울 미로·최종 선택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10744200" y="4599432"/>
            <a:ext cx="1325880" cy="704088"/>
          </a:xfrm>
          <a:prstGeom prst="rect">
            <a:avLst/>
          </a:prstGeom>
          <a:solidFill>
            <a:srgbClr val="FFE4E6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엔딩 분기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1188720" y="5623560"/>
            <a:ext cx="566928" cy="384048"/>
          </a:xfrm>
          <a:prstGeom prst="rect">
            <a:avLst/>
          </a:prstGeom>
          <a:solidFill>
            <a:srgbClr val="FDE68A"/>
          </a:solidFill>
          <a:ln w="13970">
            <a:solidFill>
              <a:srgbClr val="11182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783080" y="5806440"/>
            <a:ext cx="822960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2651760" y="5623560"/>
            <a:ext cx="566928" cy="384048"/>
          </a:xfrm>
          <a:prstGeom prst="rect">
            <a:avLst/>
          </a:prstGeom>
          <a:solidFill>
            <a:srgbClr val="BBF7D0"/>
          </a:solidFill>
          <a:ln w="13970">
            <a:solidFill>
              <a:srgbClr val="11182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46120" y="5806440"/>
            <a:ext cx="822960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4114800" y="5623560"/>
            <a:ext cx="566928" cy="384048"/>
          </a:xfrm>
          <a:prstGeom prst="rect">
            <a:avLst/>
          </a:prstGeom>
          <a:solidFill>
            <a:srgbClr val="93C5FD"/>
          </a:solidFill>
          <a:ln w="13970">
            <a:solidFill>
              <a:srgbClr val="11182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5806440"/>
            <a:ext cx="822960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577840" y="5623560"/>
            <a:ext cx="566928" cy="384048"/>
          </a:xfrm>
          <a:prstGeom prst="rect">
            <a:avLst/>
          </a:prstGeom>
          <a:solidFill>
            <a:srgbClr val="C4B5FD"/>
          </a:solidFill>
          <a:ln w="13970">
            <a:solidFill>
              <a:srgbClr val="11182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5806440"/>
            <a:ext cx="822960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7040880" y="5623560"/>
            <a:ext cx="566928" cy="384048"/>
          </a:xfrm>
          <a:prstGeom prst="rect">
            <a:avLst/>
          </a:prstGeom>
          <a:solidFill>
            <a:srgbClr val="FDA4AF"/>
          </a:solidFill>
          <a:ln w="13970">
            <a:solidFill>
              <a:srgbClr val="11182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55280" y="5596128"/>
            <a:ext cx="35661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흐름 핵심: 평범한 선의 → 재난 속 선의 → 제도화된 선의 → 괴물의 진실 → 강요된 희생의 선택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6928" y="64465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목적 흐름은 “무엇을 하게 만들 것인가”와 “왜 하게 되는가”를 동시에 보여주는 장표입니다.</a:t>
            </a:r>
            <a:endParaRPr lang="en-US" sz="8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RESOURCE BREAKDOWN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플레이 단계 및 리소스 산출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98448"/>
            <a:ext cx="914400" cy="393192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325880" y="1298448"/>
            <a:ext cx="2011680" cy="393192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목적 제시 리소스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337560" y="1298448"/>
            <a:ext cx="1828800" cy="393192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플레이 타입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166360" y="1298448"/>
            <a:ext cx="1828800" cy="393192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NPC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995160" y="1298448"/>
            <a:ext cx="1828800" cy="393192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오브젝트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823960" y="1298448"/>
            <a:ext cx="2926080" cy="393192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연출 / 사회 기능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691640"/>
            <a:ext cx="914400" cy="813816"/>
          </a:xfrm>
          <a:prstGeom prst="rect">
            <a:avLst/>
          </a:prstGeom>
          <a:solidFill>
            <a:srgbClr val="FEF3C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25880" y="1691640"/>
            <a:ext cx="201168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동생 메신저, 심부름 목록 UI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337560" y="1691640"/>
            <a:ext cx="182880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탐색·구매·추적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166360" y="1691640"/>
            <a:ext cx="182880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동생, 알바, 판매자, 군중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995160" y="1691640"/>
            <a:ext cx="182880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신상 과자, 앞머리롤, 치킨, 회색 후드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8823960" y="1691640"/>
            <a:ext cx="292608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일상 노동 튜토리얼, 동선 학습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11480" y="2505456"/>
            <a:ext cx="914400" cy="813816"/>
          </a:xfrm>
          <a:prstGeom prst="rect">
            <a:avLst/>
          </a:prstGeom>
          <a:solidFill>
            <a:srgbClr val="DCFCE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25880" y="2505456"/>
            <a:ext cx="201168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공원 관리 안내, 쓰레기 더미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337560" y="2505456"/>
            <a:ext cx="182880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수집·분류·반복 대응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166360" y="2505456"/>
            <a:ext cx="182880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투기 NPC, 구경 NPC, 청소 NPC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995160" y="2505456"/>
            <a:ext cx="182880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쓰레기, 분리수거함, 축제 잔해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8823960" y="2505456"/>
            <a:ext cx="292608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선의와 무심함 대비, 첫 균열 컷씬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11480" y="3319272"/>
            <a:ext cx="914400" cy="813816"/>
          </a:xfrm>
          <a:prstGeom prst="rect">
            <a:avLst/>
          </a:prstGeom>
          <a:solidFill>
            <a:srgbClr val="DBEAFE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25880" y="3319272"/>
            <a:ext cx="201168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뉴스/방송, 선의 측정소 UI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3337560" y="3319272"/>
            <a:ext cx="182880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구조·전투·증언 수집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166360" y="3319272"/>
            <a:ext cx="182880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할머니, 청년, 유튜버, 선의관리국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6995160" y="3319272"/>
            <a:ext cx="182880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균열, 측정기, 방송 카메라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8823960" y="3319272"/>
            <a:ext cx="292608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선의 수치 등급화, 한해 무한 공개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11480" y="4133088"/>
            <a:ext cx="914400" cy="813816"/>
          </a:xfrm>
          <a:prstGeom prst="rect">
            <a:avLst/>
          </a:prstGeom>
          <a:solidFill>
            <a:srgbClr val="EDE9FE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25880" y="4133088"/>
            <a:ext cx="201168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선의관리국 명령, 폐교 출입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3337560" y="4133088"/>
            <a:ext cx="182880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잠입·회피·전투·기억 체험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5166360" y="4133088"/>
            <a:ext cx="182880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환영체, 정예, 보스, 과거 학생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6995160" y="4133088"/>
            <a:ext cx="182880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우정 목걸이, 포스터, 강당 열쇠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8823960" y="4133088"/>
            <a:ext cx="292608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괴물=인간 공개, 사회 혼란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411480" y="4946904"/>
            <a:ext cx="914400" cy="813816"/>
          </a:xfrm>
          <a:prstGeom prst="rect">
            <a:avLst/>
          </a:prstGeom>
          <a:solidFill>
            <a:srgbClr val="FFE4E6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325880" y="4946904"/>
            <a:ext cx="201168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강요 여론, 균열 내부 진입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3337560" y="4946904"/>
            <a:ext cx="182880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미로·퍼즐·최종 선택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5166360" y="4946904"/>
            <a:ext cx="182880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껍데기 사람들, 한해의 잔상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6995160" y="4946904"/>
            <a:ext cx="182880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거울, 코어, 바다 위 껍데기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8823960" y="4946904"/>
            <a:ext cx="2926080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한해의 출생 진실, 엔딩 분기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640080" y="5806440"/>
            <a:ext cx="10927080" cy="438912"/>
          </a:xfrm>
          <a:prstGeom prst="rect">
            <a:avLst/>
          </a:prstGeom>
          <a:solidFill>
            <a:srgbClr val="F1F5F9"/>
          </a:solidFill>
          <a:ln w="1397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 포인트: 각 퀘스트마다 “플레이어가 직접 조작하는 리소스”와 “세계관을 읽게 하는 리소스”를 구분합니다.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66928" y="64465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선생님 자료의 전체 구성표를 Q1~Q5 연계 퀘스트 구조로 확장했습니다.</a:t>
            </a:r>
            <a:endParaRPr lang="en-US" sz="8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DETAILED SETTING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세부 설정 – Quest 1 〈동생 심부름〉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61872"/>
            <a:ext cx="10927080" cy="685800"/>
          </a:xfrm>
          <a:prstGeom prst="rect">
            <a:avLst/>
          </a:prstGeom>
          <a:solidFill>
            <a:srgbClr val="E0F2FE"/>
          </a:solidFill>
          <a:ln w="1397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주말 아침, 차한해는 동생의 잡다한 심부름을 떠맡는다. 편의점 품절, 다이소 구매, 치킨 주문, 중고거래까지 이어지는 동선은 플레이어에게 도시 맵과 기본 상호작용을 학습시키는 튜토리얼 역할을 한다.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121408"/>
            <a:ext cx="1143000" cy="347472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Play Flow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1874520" y="2139696"/>
            <a:ext cx="9555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집 → 편의점 품절 → 다이소 앞머리롤 구매 → 배송 트럭/재입고 암시 → 치킨 주문·배달 주소 전달 → 회색 후드 판매자 찾기 → 귀가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2816352"/>
            <a:ext cx="1554480" cy="384048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2212848" y="2816352"/>
            <a:ext cx="4023360" cy="384048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 게임 적용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6236208" y="2816352"/>
            <a:ext cx="5349240" cy="384048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플레이/연출 의도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658368" y="3200400"/>
            <a:ext cx="1554480" cy="493776"/>
          </a:xfrm>
          <a:prstGeom prst="rect">
            <a:avLst/>
          </a:prstGeom>
          <a:solidFill>
            <a:srgbClr val="FEF3C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부여조건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12848" y="3200400"/>
            <a:ext cx="402336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집에서 동생의 전화·메신저 요청 발생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6236208" y="3200400"/>
            <a:ext cx="534924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한해가 “거절하기 어려운 인물”임을 일상 상황으로 제시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658368" y="3694176"/>
            <a:ext cx="1554480" cy="493776"/>
          </a:xfrm>
          <a:prstGeom prst="rect">
            <a:avLst/>
          </a:prstGeom>
          <a:solidFill>
            <a:srgbClr val="DCFCE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발동조건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12848" y="3694176"/>
            <a:ext cx="402336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심부름 목록 UI 활성화, 첫 목적지 선택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6236208" y="3694176"/>
            <a:ext cx="534924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도심 맵 탐색과 목적지 마커를 자연스럽게 학습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658368" y="4187952"/>
            <a:ext cx="1554480" cy="493776"/>
          </a:xfrm>
          <a:prstGeom prst="rect">
            <a:avLst/>
          </a:prstGeom>
          <a:solidFill>
            <a:srgbClr val="DBEAFE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진행조건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12848" y="4187952"/>
            <a:ext cx="402336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물품별 미니 목표 달성: 품절 확인, 구매, 주문, 판매자 식별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6236208" y="4187952"/>
            <a:ext cx="534924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단순 이동이 아니라 관찰·대기·대화·판별을 섞어 지루함 감소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658368" y="4681728"/>
            <a:ext cx="1554480" cy="493776"/>
          </a:xfrm>
          <a:prstGeom prst="rect">
            <a:avLst/>
          </a:prstGeom>
          <a:solidFill>
            <a:srgbClr val="EDE9FE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완료조건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12848" y="4681728"/>
            <a:ext cx="402336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물품 확보 후 집으로 복귀해 전달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6236208" y="4681728"/>
            <a:ext cx="534924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퀘스트를 명확히 닫고 다음 일상 퀘스트로 연결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658368" y="5175504"/>
            <a:ext cx="1554480" cy="493776"/>
          </a:xfrm>
          <a:prstGeom prst="rect">
            <a:avLst/>
          </a:prstGeom>
          <a:solidFill>
            <a:srgbClr val="FFE4E6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보상조건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12848" y="5175504"/>
            <a:ext cx="402336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튜토리얼 완료, 자아 마모도 UI 최초 암시, Q2 공원 동선 해금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6236208" y="5175504"/>
            <a:ext cx="534924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보상은 아이템보다 세계관·시스템 학습 중심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685800" y="5806440"/>
            <a:ext cx="1005840" cy="237744"/>
          </a:xfrm>
          <a:prstGeom prst="rect">
            <a:avLst/>
          </a:prstGeom>
          <a:solidFill>
            <a:srgbClr val="C4B5FD"/>
          </a:solidFill>
          <a:ln w="10160">
            <a:solidFill>
              <a:srgbClr val="11182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리드 요소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810512" y="58064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알바 방송 · NPC 줄 형성 · 트럭 소리 · 판매자 복장 단서 · 동생의 재촉 전화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64465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Q1은 위험 이벤트 없이, 일상 속 압박과 도시 탐색을 학습시키는 구간입니다.</a:t>
            </a:r>
            <a:endParaRPr lang="en-US" sz="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DETAILED SETTING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세부 설정 – Quest 2 〈공원 청소〉 → 첫 균열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61872"/>
            <a:ext cx="10927080" cy="685800"/>
          </a:xfrm>
          <a:prstGeom prst="rect">
            <a:avLst/>
          </a:prstGeom>
          <a:solidFill>
            <a:srgbClr val="DCFCE7"/>
          </a:solidFill>
          <a:ln w="1397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축제 다음 날, 공원은 쓰레기로 가득하다. 한해가 치울수록 일부 NPC가 다시 버리는 장면이 반복되며, 선의와 무심함의 대비를 플레이로 체감시킨다. 일정 진행 후 공원에 첫 균열이 발생한다.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121408"/>
            <a:ext cx="1143000" cy="347472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Play Flow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1874520" y="2139696"/>
            <a:ext cx="9555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공원 진입 → 쓰레기 수거/분리수거 → NPC 추가 투기 → 시선·대사 변화 → 수거율 달성 → 밤의 균열 컷씬 → 새벽 괴물 출현 예고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2788920"/>
            <a:ext cx="1417320" cy="384048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75688" y="2788920"/>
            <a:ext cx="3429000" cy="384048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적용 내용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2788920"/>
            <a:ext cx="2971800" cy="384048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플레이어 행동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76488" y="2788920"/>
            <a:ext cx="3154680" cy="384048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퀘스트 연결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172968"/>
            <a:ext cx="1417320" cy="493776"/>
          </a:xfrm>
          <a:prstGeom prst="rect">
            <a:avLst/>
          </a:prstGeom>
          <a:solidFill>
            <a:srgbClr val="FEF3C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부여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2075688" y="3172968"/>
            <a:ext cx="342900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축제 후 공원 청소 요청 또는 자발적 개입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504688" y="3172968"/>
            <a:ext cx="297180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쓰레기 더미 조사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8476488" y="3172968"/>
            <a:ext cx="31546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선의가 선택이 아닌 부담으로 작동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58368" y="3666744"/>
            <a:ext cx="1417320" cy="493776"/>
          </a:xfrm>
          <a:prstGeom prst="rect">
            <a:avLst/>
          </a:prstGeom>
          <a:solidFill>
            <a:srgbClr val="DCFCE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발동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2075688" y="3666744"/>
            <a:ext cx="342900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쓰레기 오브젝트 상호작용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5504688" y="3666744"/>
            <a:ext cx="297180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줍기/분리수거 UI 확인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8476488" y="3666744"/>
            <a:ext cx="31546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수집·분류 규칙 학습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58368" y="4160520"/>
            <a:ext cx="1417320" cy="493776"/>
          </a:xfrm>
          <a:prstGeom prst="rect">
            <a:avLst/>
          </a:prstGeom>
          <a:solidFill>
            <a:srgbClr val="DBEAFE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2075688" y="4160520"/>
            <a:ext cx="342900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일정량 수거 후 NPC가 추가로 버림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5504688" y="4160520"/>
            <a:ext cx="297180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 수거, NPC 반응 관찰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8476488" y="4160520"/>
            <a:ext cx="31546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무심함이 한해의 노동을 늘림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58368" y="4654296"/>
            <a:ext cx="1417320" cy="493776"/>
          </a:xfrm>
          <a:prstGeom prst="rect">
            <a:avLst/>
          </a:prstGeom>
          <a:solidFill>
            <a:srgbClr val="EDE9FE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완료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2075688" y="4654296"/>
            <a:ext cx="342900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수거율 목표 달성, 공원 상태 변화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5504688" y="4654296"/>
            <a:ext cx="297180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쓰레기 처리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8476488" y="4654296"/>
            <a:ext cx="31546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평온한 밤의 균열 발생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658368" y="5148072"/>
            <a:ext cx="1417320" cy="493776"/>
          </a:xfrm>
          <a:prstGeom prst="rect">
            <a:avLst/>
          </a:prstGeom>
          <a:solidFill>
            <a:srgbClr val="FFE4E6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보상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2075688" y="5148072"/>
            <a:ext cx="342900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공원 변화, 시민 반응, 균열 컷씬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5504688" y="5148072"/>
            <a:ext cx="297180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상황 확인 후 귀가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8476488" y="5148072"/>
            <a:ext cx="31546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Q3 재난 대응의 세계 사건 시작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58368" y="5715000"/>
            <a:ext cx="10927080" cy="384048"/>
          </a:xfrm>
          <a:prstGeom prst="rect">
            <a:avLst/>
          </a:prstGeom>
          <a:solidFill>
            <a:srgbClr val="FEF3C7"/>
          </a:solidFill>
          <a:ln w="1397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리마커블 포인트: “치우면 끝”이 아니라, 치우는 동안 세계가 한해의 선의를 더 소비한다는 경험을 만듭니다.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6928" y="64465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Q2의 완료 이벤트는 Q3의 발동 조건이 되는 핵심 연계 트리거입니다.</a:t>
            </a:r>
            <a:endParaRPr lang="en-US" sz="8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MID TO LATE QUESTS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중반~후반 연계 설계 – Q3 / Q4 / Q5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25880"/>
            <a:ext cx="3063240" cy="411480"/>
          </a:xfrm>
          <a:prstGeom prst="rect">
            <a:avLst/>
          </a:prstGeom>
          <a:solidFill>
            <a:srgbClr val="93C5FD"/>
          </a:solidFill>
          <a:ln w="13970">
            <a:solidFill>
              <a:srgbClr val="11182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Q3 재난 대응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33088" y="1325880"/>
            <a:ext cx="3063240" cy="411480"/>
          </a:xfrm>
          <a:prstGeom prst="rect">
            <a:avLst/>
          </a:prstGeom>
          <a:solidFill>
            <a:srgbClr val="C4B5FD"/>
          </a:solidFill>
          <a:ln w="13970">
            <a:solidFill>
              <a:srgbClr val="11182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Q4 폐교 챕터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07808" y="1325880"/>
            <a:ext cx="3063240" cy="411480"/>
          </a:xfrm>
          <a:prstGeom prst="rect">
            <a:avLst/>
          </a:prstGeom>
          <a:solidFill>
            <a:srgbClr val="FDA4AF"/>
          </a:solidFill>
          <a:ln w="13970">
            <a:solidFill>
              <a:srgbClr val="11182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Q5 균열 탐색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874520"/>
            <a:ext cx="306324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목적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균열·괴물·선의 수치가 사회 시스템으로 바뀌는 과정을 보여준다.</a:t>
            </a:r>
            <a:endParaRPr lang="en-US" sz="1010" dirty="0"/>
          </a:p>
        </p:txBody>
      </p:sp>
      <p:sp>
        <p:nvSpPr>
          <p:cNvPr id="9" name="Text 7"/>
          <p:cNvSpPr/>
          <p:nvPr/>
        </p:nvSpPr>
        <p:spPr>
          <a:xfrm>
            <a:off x="658368" y="2953512"/>
            <a:ext cx="3063240" cy="1051560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플레이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구조, 전투, 증언 수집, 방송·측정소 확인.</a:t>
            </a:r>
            <a:endParaRPr lang="en-US" sz="1010" dirty="0"/>
          </a:p>
        </p:txBody>
      </p:sp>
      <p:sp>
        <p:nvSpPr>
          <p:cNvPr id="10" name="Text 8"/>
          <p:cNvSpPr/>
          <p:nvPr/>
        </p:nvSpPr>
        <p:spPr>
          <a:xfrm>
            <a:off x="658368" y="4032504"/>
            <a:ext cx="3063240" cy="1051560"/>
          </a:xfrm>
          <a:prstGeom prst="rect">
            <a:avLst/>
          </a:prstGeom>
          <a:solidFill>
            <a:srgbClr val="FEF3C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연계 트리거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한해의 선의 수치가 무한에 가깝게 공개되어 폐교 단독 명령으로 이어짐.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4133088" y="1874520"/>
            <a:ext cx="306324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목적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괴물이 사실은 변이한 인간이라는 첫 진실을 공개한다.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4133088" y="2953512"/>
            <a:ext cx="3063240" cy="1051560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플레이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1층→3층→2층→강당 탐색, 환영 회피, 기억 공간 체험, 2페이즈 보스전.</a:t>
            </a:r>
            <a:endParaRPr lang="en-US" sz="1010" dirty="0"/>
          </a:p>
        </p:txBody>
      </p:sp>
      <p:sp>
        <p:nvSpPr>
          <p:cNvPr id="13" name="Text 11"/>
          <p:cNvSpPr/>
          <p:nvPr/>
        </p:nvSpPr>
        <p:spPr>
          <a:xfrm>
            <a:off x="4133088" y="4032504"/>
            <a:ext cx="3063240" cy="1051560"/>
          </a:xfrm>
          <a:prstGeom prst="rect">
            <a:avLst/>
          </a:prstGeom>
          <a:solidFill>
            <a:srgbClr val="FEF3C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연계 트리거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보스가 인간으로 돌아오며 세상이 혼란에 빠지고, 균열 내부 조사 요구가 커짐.</a:t>
            </a:r>
            <a:endParaRPr lang="en-US" sz="1010" dirty="0"/>
          </a:p>
        </p:txBody>
      </p:sp>
      <p:sp>
        <p:nvSpPr>
          <p:cNvPr id="14" name="Text 12"/>
          <p:cNvSpPr/>
          <p:nvPr/>
        </p:nvSpPr>
        <p:spPr>
          <a:xfrm>
            <a:off x="7607808" y="1874520"/>
            <a:ext cx="306324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목적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한해가 균열에서 태어났고, 사라지면 균열도 사라진다는 진실을 제시한다.</a:t>
            </a:r>
            <a:endParaRPr lang="en-US" sz="1010" dirty="0"/>
          </a:p>
        </p:txBody>
      </p:sp>
      <p:sp>
        <p:nvSpPr>
          <p:cNvPr id="15" name="Text 13"/>
          <p:cNvSpPr/>
          <p:nvPr/>
        </p:nvSpPr>
        <p:spPr>
          <a:xfrm>
            <a:off x="7607808" y="2953512"/>
            <a:ext cx="3063240" cy="1051560"/>
          </a:xfrm>
          <a:prstGeom prst="rect">
            <a:avLst/>
          </a:prstGeom>
          <a:solidFill>
            <a:srgbClr val="F8FAFC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플레이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거울 미로 3단계, 방향 반전, 전신 거울 파괴, 바다 위 껍데기 사람들 발견.</a:t>
            </a:r>
            <a:endParaRPr lang="en-US" sz="1010" dirty="0"/>
          </a:p>
        </p:txBody>
      </p:sp>
      <p:sp>
        <p:nvSpPr>
          <p:cNvPr id="16" name="Text 14"/>
          <p:cNvSpPr/>
          <p:nvPr/>
        </p:nvSpPr>
        <p:spPr>
          <a:xfrm>
            <a:off x="7607808" y="4032504"/>
            <a:ext cx="3063240" cy="1051560"/>
          </a:xfrm>
          <a:prstGeom prst="rect">
            <a:avLst/>
          </a:prstGeom>
          <a:solidFill>
            <a:srgbClr val="FEF3C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연계 트리거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희생 수용/거부, 자아 마모도와 도움받은 NPC에 따른 엔딩 분기.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822960" y="5833872"/>
            <a:ext cx="10469880" cy="402336"/>
          </a:xfrm>
          <a:prstGeom prst="rect">
            <a:avLst/>
          </a:prstGeom>
          <a:solidFill>
            <a:srgbClr val="F1F5F9"/>
          </a:solidFill>
          <a:ln w="1397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중후반 설계 기준: 사건을 설명하는 것보다 “플레이어가 직접 보고, 피하고, 조사하고, 선택하는 순간”으로 진실을 전달합니다.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64465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Q3는 사회 시스템, Q4는 괴물의 정체, Q5는 주인공의 정체를 단계적으로 공개합니다.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SITUATION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퀘스트 주요 상황 설계 및 제작 리소스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25296"/>
            <a:ext cx="10927080" cy="502920"/>
          </a:xfrm>
          <a:prstGeom prst="rect">
            <a:avLst/>
          </a:prstGeom>
          <a:solidFill>
            <a:srgbClr val="E0F2FE"/>
          </a:solidFill>
          <a:ln w="1397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선생님 자료의 상황 설계 장표처럼, 실제 제작 시 필요한 툴샷·오브젝트·연출 리소스를 “플레이 전/후 변화” 중심으로 산출합니다.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901952"/>
            <a:ext cx="1554480" cy="384048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57400" y="1901952"/>
            <a:ext cx="2926080" cy="384048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 리소스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83480" y="1901952"/>
            <a:ext cx="3566160" cy="384048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 게임 적용 예시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49640" y="1901952"/>
            <a:ext cx="3520440" cy="384048"/>
          </a:xfrm>
          <a:prstGeom prst="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상황 변화/리드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1554480" cy="612648"/>
          </a:xfrm>
          <a:prstGeom prst="rect">
            <a:avLst/>
          </a:prstGeom>
          <a:solidFill>
            <a:srgbClr val="FEF3C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맵/레벨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057400" y="2286000"/>
            <a:ext cx="292608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도심, 공원, 폐교, 균열 내부 탑다운 맵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983480" y="2286000"/>
            <a:ext cx="356616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편의점·다이소·공원·폐교 층별 구조·거울 미로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549640" y="2286000"/>
            <a:ext cx="352044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잠김/해금, 군중 동선, 균열 이후 변질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02920" y="2898648"/>
            <a:ext cx="1554480" cy="612648"/>
          </a:xfrm>
          <a:prstGeom prst="rect">
            <a:avLst/>
          </a:prstGeom>
          <a:solidFill>
            <a:srgbClr val="DCFCE7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캐릭터/NPC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057400" y="2898648"/>
            <a:ext cx="292608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동생, 시민, 알바, 유튜버, 선의관리국, 과거 학생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983480" y="2898648"/>
            <a:ext cx="356616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NPC 시선 변화, 대사 단계, 도움받은 NPC 기록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8549640" y="2898648"/>
            <a:ext cx="352044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플레이어 행동에 따라 호의/방관/강요 반응 변화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3511296"/>
            <a:ext cx="1554480" cy="612648"/>
          </a:xfrm>
          <a:prstGeom prst="rect">
            <a:avLst/>
          </a:prstGeom>
          <a:solidFill>
            <a:srgbClr val="DBEAFE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몬스터/보스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2057400" y="3511296"/>
            <a:ext cx="292608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 변이체, 환영체, 정예, 폐교 보스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983480" y="3511296"/>
            <a:ext cx="356616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시야 즉사, 포스터 반응, 우정 목걸이 2페이즈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8549640" y="3511296"/>
            <a:ext cx="352044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공격 패턴보다 정체와 감정 단서 노출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502920" y="4123944"/>
            <a:ext cx="1554480" cy="612648"/>
          </a:xfrm>
          <a:prstGeom prst="rect">
            <a:avLst/>
          </a:prstGeom>
          <a:solidFill>
            <a:srgbClr val="EDE9FE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오브젝트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2057400" y="4123944"/>
            <a:ext cx="292608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쓰레기, 측정기, 목걸이, 거울, 코어, 껍데기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983480" y="4123944"/>
            <a:ext cx="356616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상호작용 가능 오브젝트와 읽기용 오브젝트 분리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8549640" y="4123944"/>
            <a:ext cx="352044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오브젝트 배치로 목적지와 진실을 읽게 함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02920" y="4736592"/>
            <a:ext cx="1554480" cy="612648"/>
          </a:xfrm>
          <a:prstGeom prst="rect">
            <a:avLst/>
          </a:prstGeom>
          <a:solidFill>
            <a:srgbClr val="FFE4E6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UI/FX/Sound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2057400" y="4736592"/>
            <a:ext cx="292608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자아 마모도, 선의 수치, 균열 지지직, 방송 자막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983480" y="4736592"/>
            <a:ext cx="356616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파랑→회색 아이콘, 보랏빛 균열, 생방 UI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8549640" y="4736592"/>
            <a:ext cx="3520440" cy="6126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수치화된 선의와 사회 압박을 시각/청각화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658368" y="5577840"/>
            <a:ext cx="1234440" cy="237744"/>
          </a:xfrm>
          <a:prstGeom prst="rect">
            <a:avLst/>
          </a:prstGeom>
          <a:solidFill>
            <a:srgbClr val="C4B5FD"/>
          </a:solidFill>
          <a:ln w="10160">
            <a:solidFill>
              <a:srgbClr val="11182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툴샷 권장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011680" y="557784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47556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Q1 편의점 줄 / Q2 쓰레기 재투기 / Q3 측정소 생방 / Q4 보건실 침대 밑 시야 / Q5 거울 미로 방향 반전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566928" y="64465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리소스 산출은 “보이는 것”만이 아니라 조건, UI, 사운드, 전후 변화까지 포함합니다.</a:t>
            </a:r>
            <a:endParaRPr lang="en-US" sz="8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SCENARIO SUMMARY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퀘스트 시나리오 요약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2194560" cy="530352"/>
          </a:xfrm>
          <a:prstGeom prst="rect">
            <a:avLst/>
          </a:prstGeom>
          <a:solidFill>
            <a:srgbClr val="FEF3C7"/>
          </a:solidFill>
          <a:ln w="12700">
            <a:solidFill>
              <a:srgbClr val="11182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Chapter 1. 동생 심부름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2971800" y="1325880"/>
            <a:ext cx="84582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주말 아침, 차한해는 집안일을 마치기도 전에 동생의 심부름을 떠맡는다. 플레이어는 편의점·다이소·치킨집·중고거래 장소를 돌며 도시 맵을 익히고, 한해가 거절보다 수행에 익숙한 인물임을 체감한다.</a:t>
            </a:r>
            <a:endParaRPr lang="en-US" sz="890" dirty="0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2194560" cy="530352"/>
          </a:xfrm>
          <a:prstGeom prst="rect">
            <a:avLst/>
          </a:prstGeom>
          <a:solidFill>
            <a:srgbClr val="DCFCE7"/>
          </a:solidFill>
          <a:ln w="12700">
            <a:solidFill>
              <a:srgbClr val="11182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Chapter 2. 공원 청소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2971800" y="1993392"/>
            <a:ext cx="84582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축제 뒤 공원은 쓰레기로 뒤덮여 있다. 한해가 치울수록 사람들은 구경하거나 다시 버리고, 플레이어는 선의가 쉽게 소비되는 상황을 반복 행동으로 경험한다. 청소가 끝난 밤, 공원에 첫 균열이 열린다.</a:t>
            </a:r>
            <a:endParaRPr lang="en-US" sz="890" dirty="0"/>
          </a:p>
        </p:txBody>
      </p:sp>
      <p:sp>
        <p:nvSpPr>
          <p:cNvPr id="9" name="Text 7"/>
          <p:cNvSpPr/>
          <p:nvPr/>
        </p:nvSpPr>
        <p:spPr>
          <a:xfrm>
            <a:off x="777240" y="2660904"/>
            <a:ext cx="2194560" cy="530352"/>
          </a:xfrm>
          <a:prstGeom prst="rect">
            <a:avLst/>
          </a:prstGeom>
          <a:solidFill>
            <a:srgbClr val="DBEAFE"/>
          </a:solidFill>
          <a:ln w="12700">
            <a:solidFill>
              <a:srgbClr val="11182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Chapter 3. 재난 대응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2971800" y="2660904"/>
            <a:ext cx="84582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새벽, 균열에서 괴물이 나타난다. 사람들은 선의로만 괴물을 물리칠 수 있다는 사실을 알게 되고, 선의 수치에 따라 등급과 역할을 나누기 시작한다. 한해의 수치가 무한에 가깝게 드러나자 기대는 점차 강요가 된다.</a:t>
            </a:r>
            <a:endParaRPr lang="en-US" sz="890" dirty="0"/>
          </a:p>
        </p:txBody>
      </p:sp>
      <p:sp>
        <p:nvSpPr>
          <p:cNvPr id="11" name="Text 9"/>
          <p:cNvSpPr/>
          <p:nvPr/>
        </p:nvSpPr>
        <p:spPr>
          <a:xfrm>
            <a:off x="777240" y="3328416"/>
            <a:ext cx="2194560" cy="530352"/>
          </a:xfrm>
          <a:prstGeom prst="rect">
            <a:avLst/>
          </a:prstGeom>
          <a:solidFill>
            <a:srgbClr val="EDE9FE"/>
          </a:solidFill>
          <a:ln w="12700">
            <a:solidFill>
              <a:srgbClr val="11182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Chapter 4. 폐교 챕터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2971800" y="3328416"/>
            <a:ext cx="84582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선의관리국의 명령으로 한해는 폐교 균열에 홀로 진입한다. 환영과 기억 공간을 지나 보스와 싸운 끝에, 괴물이 원래 인간이었다는 사실이 세상에 드러난다.</a:t>
            </a:r>
            <a:endParaRPr lang="en-US" sz="890" dirty="0"/>
          </a:p>
        </p:txBody>
      </p:sp>
      <p:sp>
        <p:nvSpPr>
          <p:cNvPr id="13" name="Text 11"/>
          <p:cNvSpPr/>
          <p:nvPr/>
        </p:nvSpPr>
        <p:spPr>
          <a:xfrm>
            <a:off x="777240" y="3995928"/>
            <a:ext cx="2194560" cy="530352"/>
          </a:xfrm>
          <a:prstGeom prst="rect">
            <a:avLst/>
          </a:prstGeom>
          <a:solidFill>
            <a:srgbClr val="FFE4E6"/>
          </a:solidFill>
          <a:ln w="12700">
            <a:solidFill>
              <a:srgbClr val="11182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Chapter 5. 균열 탐색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2971800" y="3995928"/>
            <a:ext cx="84582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사람들은 더 큰 해결을 요구하며 한해를 균열 내부로 밀어 넣는다. 거울 미로와 껍데기 사람들을 지나 한해는 자신이 균열에서 태어났고, 자신이 사라지면 균열도 사라질 수 있다는 진실에 도달한다.</a:t>
            </a:r>
            <a:endParaRPr lang="en-US" sz="890" dirty="0"/>
          </a:p>
        </p:txBody>
      </p:sp>
      <p:sp>
        <p:nvSpPr>
          <p:cNvPr id="15" name="Text 13"/>
          <p:cNvSpPr/>
          <p:nvPr/>
        </p:nvSpPr>
        <p:spPr>
          <a:xfrm>
            <a:off x="777240" y="5669280"/>
            <a:ext cx="10652760" cy="420624"/>
          </a:xfrm>
          <a:prstGeom prst="rect">
            <a:avLst/>
          </a:prstGeom>
          <a:solidFill>
            <a:srgbClr val="F1F5F9"/>
          </a:solidFill>
          <a:ln w="13970">
            <a:solidFill>
              <a:srgbClr val="11182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시나리오 작성 기준: 길게 줄거리를 읊기보다, 각 챕터에서 “플레이어가 어떤 목적을 가지고 무엇을 경험하는지”가 보이도록 정리합니다.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64465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해당 요약은 게임 기획서 본문에 들어갈 수 있도록 간결한 문장 중심으로 작성했습니다.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1479</Words>
  <Application>Microsoft Office PowerPoint</Application>
  <PresentationFormat>와이드스크린</PresentationFormat>
  <Paragraphs>218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Noto Sans CJK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2026-06-29T02:41:08Z</dcterms:created>
  <dcterms:modified xsi:type="dcterms:W3CDTF">2026-06-29T02:47:56Z</dcterms:modified>
</cp:coreProperties>
</file>